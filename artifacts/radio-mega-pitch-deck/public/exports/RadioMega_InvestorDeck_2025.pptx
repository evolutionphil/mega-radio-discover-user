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svg"/><Relationship Id="rId4" Type="http://schemas.openxmlformats.org/officeDocument/2006/relationships/image" Target="../media/image-1-4.png"/><Relationship Id="rId5" Type="http://schemas.openxmlformats.org/officeDocument/2006/relationships/image" Target="../media/image-1-5.svg"/><Relationship Id="rId6" Type="http://schemas.openxmlformats.org/officeDocument/2006/relationships/image" Target="../media/image-1-6.png"/><Relationship Id="rId7" Type="http://schemas.openxmlformats.org/officeDocument/2006/relationships/image" Target="../media/image-1-7.svg"/><Relationship Id="rId8" Type="http://schemas.openxmlformats.org/officeDocument/2006/relationships/image" Target="../media/image-1-8.png"/><Relationship Id="rId9" Type="http://schemas.openxmlformats.org/officeDocument/2006/relationships/image" Target="../media/image-1-9.svg"/><Relationship Id="rId10" Type="http://schemas.openxmlformats.org/officeDocument/2006/relationships/image" Target="../media/image-1-10.png"/><Relationship Id="rId11" Type="http://schemas.openxmlformats.org/officeDocument/2006/relationships/image" Target="../media/image-1-11.png"/><Relationship Id="rId12" Type="http://schemas.openxmlformats.org/officeDocument/2006/relationships/image" Target="../media/image-1-12.svg"/><Relationship Id="rId13" Type="http://schemas.openxmlformats.org/officeDocument/2006/relationships/slideLayout" Target="../slideLayouts/slideLayout1.xml"/><Relationship Id="rId1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svg"/><Relationship Id="rId3" Type="http://schemas.openxmlformats.org/officeDocument/2006/relationships/image" Target="../media/image-2-3.png"/><Relationship Id="rId4" Type="http://schemas.openxmlformats.org/officeDocument/2006/relationships/image" Target="../media/image-2-4.svg"/><Relationship Id="rId5" Type="http://schemas.openxmlformats.org/officeDocument/2006/relationships/image" Target="../media/image-2-5.png"/><Relationship Id="rId6" Type="http://schemas.openxmlformats.org/officeDocument/2006/relationships/image" Target="../media/image-2-6.svg"/><Relationship Id="rId7" Type="http://schemas.openxmlformats.org/officeDocument/2006/relationships/slideLayout" Target="../slideLayouts/slideLayout1.xml"/><Relationship Id="rId8"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svg"/><Relationship Id="rId3" Type="http://schemas.openxmlformats.org/officeDocument/2006/relationships/image" Target="../media/image-3-3.png"/><Relationship Id="rId4" Type="http://schemas.openxmlformats.org/officeDocument/2006/relationships/image" Target="../media/image-3-4.sv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image" Target="../media/image-3-7.png"/><Relationship Id="rId8" Type="http://schemas.openxmlformats.org/officeDocument/2006/relationships/image" Target="../media/image-3-8.png"/><Relationship Id="rId9" Type="http://schemas.openxmlformats.org/officeDocument/2006/relationships/image" Target="../media/image-3-9.svg"/><Relationship Id="rId10" Type="http://schemas.openxmlformats.org/officeDocument/2006/relationships/image" Target="../media/image-3-10.png"/><Relationship Id="rId11" Type="http://schemas.openxmlformats.org/officeDocument/2006/relationships/image" Target="../media/image-3-11.svg"/><Relationship Id="rId12" Type="http://schemas.openxmlformats.org/officeDocument/2006/relationships/image" Target="../media/image-3-12.png"/><Relationship Id="rId13" Type="http://schemas.openxmlformats.org/officeDocument/2006/relationships/image" Target="../media/image-3-13.svg"/><Relationship Id="rId14" Type="http://schemas.openxmlformats.org/officeDocument/2006/relationships/slideLayout" Target="../slideLayouts/slideLayout1.xml"/><Relationship Id="rId1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svg"/><Relationship Id="rId3" Type="http://schemas.openxmlformats.org/officeDocument/2006/relationships/image" Target="../media/image-4-3.png"/><Relationship Id="rId4" Type="http://schemas.openxmlformats.org/officeDocument/2006/relationships/image" Target="../media/image-4-4.sv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image" Target="../media/image-4-7.png"/><Relationship Id="rId8" Type="http://schemas.openxmlformats.org/officeDocument/2006/relationships/image" Target="../media/image-4-8.png"/><Relationship Id="rId9" Type="http://schemas.openxmlformats.org/officeDocument/2006/relationships/image" Target="../media/image-4-9.svg"/><Relationship Id="rId10" Type="http://schemas.openxmlformats.org/officeDocument/2006/relationships/slideLayout" Target="../slideLayouts/slideLayout1.xml"/><Relationship Id="rId11"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svg"/><Relationship Id="rId3" Type="http://schemas.openxmlformats.org/officeDocument/2006/relationships/image" Target="../media/image-5-3.png"/><Relationship Id="rId4" Type="http://schemas.openxmlformats.org/officeDocument/2006/relationships/image" Target="../media/image-5-4.svg"/><Relationship Id="rId5" Type="http://schemas.openxmlformats.org/officeDocument/2006/relationships/image" Target="../media/image-5-5.png"/><Relationship Id="rId6" Type="http://schemas.openxmlformats.org/officeDocument/2006/relationships/image" Target="../media/image-5-6.svg"/><Relationship Id="rId7" Type="http://schemas.openxmlformats.org/officeDocument/2006/relationships/slideLayout" Target="../slideLayouts/slideLayout1.xml"/><Relationship Id="rId8"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svg"/><Relationship Id="rId3" Type="http://schemas.openxmlformats.org/officeDocument/2006/relationships/image" Target="../media/image-6-3.png"/><Relationship Id="rId4" Type="http://schemas.openxmlformats.org/officeDocument/2006/relationships/image" Target="../media/image-6-4.svg"/><Relationship Id="rId5" Type="http://schemas.openxmlformats.org/officeDocument/2006/relationships/image" Target="../media/image-6-5.png"/><Relationship Id="rId6" Type="http://schemas.openxmlformats.org/officeDocument/2006/relationships/image" Target="../media/image-6-6.svg"/><Relationship Id="rId7" Type="http://schemas.openxmlformats.org/officeDocument/2006/relationships/slideLayout" Target="../slideLayouts/slideLayout1.xml"/><Relationship Id="rId8"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svg"/><Relationship Id="rId3" Type="http://schemas.openxmlformats.org/officeDocument/2006/relationships/image" Target="../media/image-7-3.png"/><Relationship Id="rId4" Type="http://schemas.openxmlformats.org/officeDocument/2006/relationships/image" Target="../media/image-7-4.svg"/><Relationship Id="rId5" Type="http://schemas.openxmlformats.org/officeDocument/2006/relationships/image" Target="../media/image-7-5.png"/><Relationship Id="rId6" Type="http://schemas.openxmlformats.org/officeDocument/2006/relationships/image" Target="../media/image-7-6.svg"/><Relationship Id="rId7" Type="http://schemas.openxmlformats.org/officeDocument/2006/relationships/image" Target="../media/image-7-7.png"/><Relationship Id="rId8" Type="http://schemas.openxmlformats.org/officeDocument/2006/relationships/image" Target="../media/image-7-8.svg"/><Relationship Id="rId9" Type="http://schemas.openxmlformats.org/officeDocument/2006/relationships/image" Target="../media/image-7-9.png"/><Relationship Id="rId10" Type="http://schemas.openxmlformats.org/officeDocument/2006/relationships/image" Target="../media/image-7-10.svg"/><Relationship Id="rId11" Type="http://schemas.openxmlformats.org/officeDocument/2006/relationships/image" Target="../media/image-7-11.png"/><Relationship Id="rId12" Type="http://schemas.openxmlformats.org/officeDocument/2006/relationships/image" Target="../media/image-7-12.svg"/><Relationship Id="rId13" Type="http://schemas.openxmlformats.org/officeDocument/2006/relationships/slideLayout" Target="../slideLayouts/slideLayout1.xml"/><Relationship Id="rId1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svg"/><Relationship Id="rId3" Type="http://schemas.openxmlformats.org/officeDocument/2006/relationships/image" Target="../media/image-8-3.png"/><Relationship Id="rId4" Type="http://schemas.openxmlformats.org/officeDocument/2006/relationships/image" Target="../media/image-8-4.svg"/><Relationship Id="rId5" Type="http://schemas.openxmlformats.org/officeDocument/2006/relationships/image" Target="../media/image-8-5.png"/><Relationship Id="rId6" Type="http://schemas.openxmlformats.org/officeDocument/2006/relationships/image" Target="../media/image-8-6.svg"/><Relationship Id="rId7" Type="http://schemas.openxmlformats.org/officeDocument/2006/relationships/slideLayout" Target="../slideLayouts/slideLayout1.xml"/><Relationship Id="rId8"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svg"/><Relationship Id="rId3" Type="http://schemas.openxmlformats.org/officeDocument/2006/relationships/image" Target="../media/image-9-3.png"/><Relationship Id="rId4" Type="http://schemas.openxmlformats.org/officeDocument/2006/relationships/image" Target="../media/image-9-4.svg"/><Relationship Id="rId5" Type="http://schemas.openxmlformats.org/officeDocument/2006/relationships/image" Target="../media/image-9-5.png"/><Relationship Id="rId6" Type="http://schemas.openxmlformats.org/officeDocument/2006/relationships/image" Target="../media/image-9-6.svg"/><Relationship Id="rId7" Type="http://schemas.openxmlformats.org/officeDocument/2006/relationships/image" Target="../media/image-9-7.png"/><Relationship Id="rId8" Type="http://schemas.openxmlformats.org/officeDocument/2006/relationships/image" Target="../media/image-9-8.png"/><Relationship Id="rId9" Type="http://schemas.openxmlformats.org/officeDocument/2006/relationships/image" Target="../media/image-9-9.png"/><Relationship Id="rId10" Type="http://schemas.openxmlformats.org/officeDocument/2006/relationships/image" Target="../media/image-9-10.png"/><Relationship Id="rId11" Type="http://schemas.openxmlformats.org/officeDocument/2006/relationships/image" Target="../media/image-9-11.png"/><Relationship Id="rId12" Type="http://schemas.openxmlformats.org/officeDocument/2006/relationships/image" Target="../media/image-9-12.png"/><Relationship Id="rId13" Type="http://schemas.openxmlformats.org/officeDocument/2006/relationships/image" Target="../media/image-9-13.svg"/><Relationship Id="rId14" Type="http://schemas.openxmlformats.org/officeDocument/2006/relationships/slideLayout" Target="../slideLayouts/slideLayout1.xml"/><Relationship Id="rId1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svg"/><Relationship Id="rId3" Type="http://schemas.openxmlformats.org/officeDocument/2006/relationships/image" Target="../media/image-10-3.png"/><Relationship Id="rId4" Type="http://schemas.openxmlformats.org/officeDocument/2006/relationships/image" Target="../media/image-10-4.svg"/><Relationship Id="rId5" Type="http://schemas.openxmlformats.org/officeDocument/2006/relationships/image" Target="../media/image-10-5.png"/><Relationship Id="rId6" Type="http://schemas.openxmlformats.org/officeDocument/2006/relationships/image" Target="../media/image-10-6.svg"/><Relationship Id="rId7" Type="http://schemas.openxmlformats.org/officeDocument/2006/relationships/image" Target="../media/image-10-7.png"/><Relationship Id="rId8" Type="http://schemas.openxmlformats.org/officeDocument/2006/relationships/image" Target="../media/image-10-8.svg"/><Relationship Id="rId9" Type="http://schemas.openxmlformats.org/officeDocument/2006/relationships/image" Target="../media/image-10-9.png"/><Relationship Id="rId10" Type="http://schemas.openxmlformats.org/officeDocument/2006/relationships/image" Target="../media/image-10-10.svg"/><Relationship Id="rId11" Type="http://schemas.openxmlformats.org/officeDocument/2006/relationships/image" Target="../media/image-10-11.png"/><Relationship Id="rId12" Type="http://schemas.openxmlformats.org/officeDocument/2006/relationships/image" Target="../media/image-10-12.svg"/><Relationship Id="rId13" Type="http://schemas.openxmlformats.org/officeDocument/2006/relationships/image" Target="../media/image-10-13.png"/><Relationship Id="rId14" Type="http://schemas.openxmlformats.org/officeDocument/2006/relationships/image" Target="../media/image-10-14.svg"/><Relationship Id="rId15" Type="http://schemas.openxmlformats.org/officeDocument/2006/relationships/image" Target="../media/image-10-15.png"/><Relationship Id="rId16" Type="http://schemas.openxmlformats.org/officeDocument/2006/relationships/image" Target="../media/image-10-16.svg"/><Relationship Id="rId17" Type="http://schemas.openxmlformats.org/officeDocument/2006/relationships/image" Target="../media/image-10-17.png"/><Relationship Id="rId18" Type="http://schemas.openxmlformats.org/officeDocument/2006/relationships/image" Target="../media/image-10-18.svg"/><Relationship Id="rId19" Type="http://schemas.openxmlformats.org/officeDocument/2006/relationships/image" Target="../media/image-10-19.png"/><Relationship Id="rId20" Type="http://schemas.openxmlformats.org/officeDocument/2006/relationships/image" Target="../media/image-10-20.svg"/><Relationship Id="rId21" Type="http://schemas.openxmlformats.org/officeDocument/2006/relationships/image" Target="../media/image-10-21.png"/><Relationship Id="rId22" Type="http://schemas.openxmlformats.org/officeDocument/2006/relationships/image" Target="../media/image-10-22.svg"/><Relationship Id="rId23" Type="http://schemas.openxmlformats.org/officeDocument/2006/relationships/image" Target="../media/image-10-23.png"/><Relationship Id="rId24" Type="http://schemas.openxmlformats.org/officeDocument/2006/relationships/image" Target="../media/image-10-24.svg"/><Relationship Id="rId25" Type="http://schemas.openxmlformats.org/officeDocument/2006/relationships/slideLayout" Target="../slideLayouts/slideLayout1.xml"/><Relationship Id="rId26"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svg"/><Relationship Id="rId3" Type="http://schemas.openxmlformats.org/officeDocument/2006/relationships/image" Target="../media/image-11-3.png"/><Relationship Id="rId4" Type="http://schemas.openxmlformats.org/officeDocument/2006/relationships/image" Target="../media/image-11-4.svg"/><Relationship Id="rId5" Type="http://schemas.openxmlformats.org/officeDocument/2006/relationships/image" Target="../media/image-11-5.png"/><Relationship Id="rId6" Type="http://schemas.openxmlformats.org/officeDocument/2006/relationships/image" Target="../media/image-11-6.svg"/><Relationship Id="rId7" Type="http://schemas.openxmlformats.org/officeDocument/2006/relationships/slideLayout" Target="../slideLayouts/slideLayout1.xml"/><Relationship Id="rId8"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svg"/><Relationship Id="rId3" Type="http://schemas.openxmlformats.org/officeDocument/2006/relationships/image" Target="../media/image-12-3.png"/><Relationship Id="rId4" Type="http://schemas.openxmlformats.org/officeDocument/2006/relationships/image" Target="../media/image-12-4.svg"/><Relationship Id="rId5" Type="http://schemas.openxmlformats.org/officeDocument/2006/relationships/image" Target="../media/image-12-5.png"/><Relationship Id="rId6" Type="http://schemas.openxmlformats.org/officeDocument/2006/relationships/image" Target="../media/image-12-6.svg"/><Relationship Id="rId7" Type="http://schemas.openxmlformats.org/officeDocument/2006/relationships/image" Target="../media/image-12-7.png"/><Relationship Id="rId8" Type="http://schemas.openxmlformats.org/officeDocument/2006/relationships/image" Target="../media/image-12-8.svg"/><Relationship Id="rId9" Type="http://schemas.openxmlformats.org/officeDocument/2006/relationships/image" Target="../media/image-12-9.png"/><Relationship Id="rId10" Type="http://schemas.openxmlformats.org/officeDocument/2006/relationships/image" Target="../media/image-12-10.svg"/><Relationship Id="rId11" Type="http://schemas.openxmlformats.org/officeDocument/2006/relationships/slideLayout" Target="../slideLayouts/slideLayout1.xml"/><Relationship Id="rId1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svg"/><Relationship Id="rId3" Type="http://schemas.openxmlformats.org/officeDocument/2006/relationships/image" Target="../media/image-13-3.png"/><Relationship Id="rId4" Type="http://schemas.openxmlformats.org/officeDocument/2006/relationships/image" Target="../media/image-13-4.svg"/><Relationship Id="rId5" Type="http://schemas.openxmlformats.org/officeDocument/2006/relationships/image" Target="../media/image-13-5.png"/><Relationship Id="rId6" Type="http://schemas.openxmlformats.org/officeDocument/2006/relationships/image" Target="../media/image-13-6.svg"/><Relationship Id="rId7" Type="http://schemas.openxmlformats.org/officeDocument/2006/relationships/image" Target="../media/image-13-7.png"/><Relationship Id="rId8" Type="http://schemas.openxmlformats.org/officeDocument/2006/relationships/image" Target="../media/image-13-8.png"/><Relationship Id="rId9" Type="http://schemas.openxmlformats.org/officeDocument/2006/relationships/image" Target="../media/image-13-9.png"/><Relationship Id="rId10" Type="http://schemas.openxmlformats.org/officeDocument/2006/relationships/image" Target="../media/image-13-10.png"/><Relationship Id="rId11" Type="http://schemas.openxmlformats.org/officeDocument/2006/relationships/image" Target="../media/image-13-11.svg"/><Relationship Id="rId12" Type="http://schemas.openxmlformats.org/officeDocument/2006/relationships/image" Target="../media/image-13-12.png"/><Relationship Id="rId13" Type="http://schemas.openxmlformats.org/officeDocument/2006/relationships/image" Target="../media/image-13-13.svg"/><Relationship Id="rId14" Type="http://schemas.openxmlformats.org/officeDocument/2006/relationships/slideLayout" Target="../slideLayouts/slideLayout1.xml"/><Relationship Id="rId15"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svg"/><Relationship Id="rId3" Type="http://schemas.openxmlformats.org/officeDocument/2006/relationships/image" Target="../media/image-14-3.png"/><Relationship Id="rId4" Type="http://schemas.openxmlformats.org/officeDocument/2006/relationships/image" Target="../media/image-14-4.svg"/><Relationship Id="rId5" Type="http://schemas.openxmlformats.org/officeDocument/2006/relationships/image" Target="../media/image-14-5.png"/><Relationship Id="rId6" Type="http://schemas.openxmlformats.org/officeDocument/2006/relationships/image" Target="../media/image-14-6.svg"/><Relationship Id="rId7" Type="http://schemas.openxmlformats.org/officeDocument/2006/relationships/image" Target="../media/image-14-7.png"/><Relationship Id="rId8" Type="http://schemas.openxmlformats.org/officeDocument/2006/relationships/image" Target="../media/image-14-8.png"/><Relationship Id="rId9" Type="http://schemas.openxmlformats.org/officeDocument/2006/relationships/image" Target="../media/image-14-9.svg"/><Relationship Id="rId10" Type="http://schemas.openxmlformats.org/officeDocument/2006/relationships/image" Target="../media/image-14-10.png"/><Relationship Id="rId11" Type="http://schemas.openxmlformats.org/officeDocument/2006/relationships/image" Target="../media/image-14-11.png"/><Relationship Id="rId12" Type="http://schemas.openxmlformats.org/officeDocument/2006/relationships/image" Target="../media/image-14-12.png"/><Relationship Id="rId13" Type="http://schemas.openxmlformats.org/officeDocument/2006/relationships/image" Target="../media/image-14-13.svg"/><Relationship Id="rId14" Type="http://schemas.openxmlformats.org/officeDocument/2006/relationships/slideLayout" Target="../slideLayouts/slideLayout1.xml"/><Relationship Id="rId15"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svg"/><Relationship Id="rId3" Type="http://schemas.openxmlformats.org/officeDocument/2006/relationships/image" Target="../media/image-15-3.png"/><Relationship Id="rId4" Type="http://schemas.openxmlformats.org/officeDocument/2006/relationships/image" Target="../media/image-15-4.svg"/><Relationship Id="rId5" Type="http://schemas.openxmlformats.org/officeDocument/2006/relationships/image" Target="../media/image-15-5.png"/><Relationship Id="rId6" Type="http://schemas.openxmlformats.org/officeDocument/2006/relationships/image" Target="../media/image-15-6.svg"/><Relationship Id="rId7" Type="http://schemas.openxmlformats.org/officeDocument/2006/relationships/image" Target="../media/image-15-7.png"/><Relationship Id="rId8" Type="http://schemas.openxmlformats.org/officeDocument/2006/relationships/image" Target="../media/image-15-8.svg"/><Relationship Id="rId9" Type="http://schemas.openxmlformats.org/officeDocument/2006/relationships/slideLayout" Target="../slideLayouts/slideLayout1.xml"/><Relationship Id="rId10"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svg"/><Relationship Id="rId3" Type="http://schemas.openxmlformats.org/officeDocument/2006/relationships/image" Target="../media/image-16-3.png"/><Relationship Id="rId4" Type="http://schemas.openxmlformats.org/officeDocument/2006/relationships/image" Target="../media/image-16-4.svg"/><Relationship Id="rId5" Type="http://schemas.openxmlformats.org/officeDocument/2006/relationships/image" Target="../media/image-16-5.png"/><Relationship Id="rId6" Type="http://schemas.openxmlformats.org/officeDocument/2006/relationships/image" Target="../media/image-16-6.svg"/><Relationship Id="rId7" Type="http://schemas.openxmlformats.org/officeDocument/2006/relationships/slideLayout" Target="../slideLayouts/slideLayout1.xml"/><Relationship Id="rId8"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svg"/><Relationship Id="rId3" Type="http://schemas.openxmlformats.org/officeDocument/2006/relationships/image" Target="../media/image-17-3.png"/><Relationship Id="rId4" Type="http://schemas.openxmlformats.org/officeDocument/2006/relationships/image" Target="../media/image-17-4.svg"/><Relationship Id="rId5" Type="http://schemas.openxmlformats.org/officeDocument/2006/relationships/image" Target="../media/image-17-5.png"/><Relationship Id="rId6" Type="http://schemas.openxmlformats.org/officeDocument/2006/relationships/image" Target="../media/image-17-6.svg"/><Relationship Id="rId7" Type="http://schemas.openxmlformats.org/officeDocument/2006/relationships/image" Target="../media/image-17-7.png"/><Relationship Id="rId8" Type="http://schemas.openxmlformats.org/officeDocument/2006/relationships/image" Target="../media/image-17-8.svg"/><Relationship Id="rId9" Type="http://schemas.openxmlformats.org/officeDocument/2006/relationships/image" Target="../media/image-17-9.png"/><Relationship Id="rId10" Type="http://schemas.openxmlformats.org/officeDocument/2006/relationships/image" Target="../media/image-17-10.svg"/><Relationship Id="rId11" Type="http://schemas.openxmlformats.org/officeDocument/2006/relationships/image" Target="../media/image-17-11.png"/><Relationship Id="rId12" Type="http://schemas.openxmlformats.org/officeDocument/2006/relationships/image" Target="../media/image-17-12.svg"/><Relationship Id="rId13" Type="http://schemas.openxmlformats.org/officeDocument/2006/relationships/image" Target="../media/image-17-13.png"/><Relationship Id="rId14" Type="http://schemas.openxmlformats.org/officeDocument/2006/relationships/image" Target="../media/image-17-14.svg"/><Relationship Id="rId15" Type="http://schemas.openxmlformats.org/officeDocument/2006/relationships/image" Target="../media/image-17-15.png"/><Relationship Id="rId16" Type="http://schemas.openxmlformats.org/officeDocument/2006/relationships/image" Target="../media/image-17-16.svg"/><Relationship Id="rId17" Type="http://schemas.openxmlformats.org/officeDocument/2006/relationships/image" Target="../media/image-17-17.png"/><Relationship Id="rId18" Type="http://schemas.openxmlformats.org/officeDocument/2006/relationships/image" Target="../media/image-17-18.svg"/><Relationship Id="rId19" Type="http://schemas.openxmlformats.org/officeDocument/2006/relationships/image" Target="../media/image-17-19.png"/><Relationship Id="rId20" Type="http://schemas.openxmlformats.org/officeDocument/2006/relationships/image" Target="../media/image-17-20.svg"/><Relationship Id="rId21" Type="http://schemas.openxmlformats.org/officeDocument/2006/relationships/image" Target="../media/image-17-21.png"/><Relationship Id="rId22" Type="http://schemas.openxmlformats.org/officeDocument/2006/relationships/image" Target="../media/image-17-22.svg"/><Relationship Id="rId23" Type="http://schemas.openxmlformats.org/officeDocument/2006/relationships/image" Target="../media/image-17-23.png"/><Relationship Id="rId24" Type="http://schemas.openxmlformats.org/officeDocument/2006/relationships/image" Target="../media/image-17-24.svg"/><Relationship Id="rId25" Type="http://schemas.openxmlformats.org/officeDocument/2006/relationships/slideLayout" Target="../slideLayouts/slideLayout1.xml"/><Relationship Id="rId26"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svg"/><Relationship Id="rId3" Type="http://schemas.openxmlformats.org/officeDocument/2006/relationships/image" Target="../media/image-18-3.png"/><Relationship Id="rId4" Type="http://schemas.openxmlformats.org/officeDocument/2006/relationships/image" Target="../media/image-18-4.svg"/><Relationship Id="rId5" Type="http://schemas.openxmlformats.org/officeDocument/2006/relationships/image" Target="../media/image-18-5.png"/><Relationship Id="rId6" Type="http://schemas.openxmlformats.org/officeDocument/2006/relationships/image" Target="../media/image-18-6.svg"/><Relationship Id="rId7" Type="http://schemas.openxmlformats.org/officeDocument/2006/relationships/image" Target="../media/image-18-7.png"/><Relationship Id="rId8" Type="http://schemas.openxmlformats.org/officeDocument/2006/relationships/image" Target="../media/image-18-8.png"/><Relationship Id="rId9" Type="http://schemas.openxmlformats.org/officeDocument/2006/relationships/image" Target="../media/image-18-9.png"/><Relationship Id="rId10" Type="http://schemas.openxmlformats.org/officeDocument/2006/relationships/image" Target="../media/image-18-10.svg"/><Relationship Id="rId11" Type="http://schemas.openxmlformats.org/officeDocument/2006/relationships/slideLayout" Target="../slideLayouts/slideLayout1.xml"/><Relationship Id="rId1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pic>
        <p:nvPicPr>
          <p:cNvPr id="3" name="Image 1" descr="preencoded.png">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0" y="0"/>
            <a:ext cx="9144000" cy="5143500"/>
          </a:xfrm>
          <a:prstGeom prst="rect">
            <a:avLst/>
          </a:prstGeom>
        </p:spPr>
      </p:pic>
      <p:pic>
        <p:nvPicPr>
          <p:cNvPr id="4" name="Image 2" descr="preencoded.png">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0" y="0"/>
            <a:ext cx="9144000" cy="5143500"/>
          </a:xfrm>
          <a:prstGeom prst="rect">
            <a:avLst/>
          </a:prstGeom>
        </p:spPr>
      </p:pic>
      <p:pic>
        <p:nvPicPr>
          <p:cNvPr id="5" name="Image 3" descr="preencoded.png">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5120640" y="-1337310"/>
            <a:ext cx="5303520" cy="5303520"/>
          </a:xfrm>
          <a:prstGeom prst="rect">
            <a:avLst/>
          </a:prstGeom>
        </p:spPr>
      </p:pic>
      <p:pic>
        <p:nvPicPr>
          <p:cNvPr id="6" name="Image 4" descr="preencoded.png">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1554450" y="1891665"/>
            <a:ext cx="4846320" cy="4846320"/>
          </a:xfrm>
          <a:prstGeom prst="rect">
            <a:avLst/>
          </a:prstGeom>
        </p:spPr>
      </p:pic>
      <p:pic>
        <p:nvPicPr>
          <p:cNvPr id="7" name="Image 5" descr="preencoded.png">    </p:cNvPr>
          <p:cNvPicPr>
            <a:picLocks noChangeAspect="1"/>
          </p:cNvPicPr>
          <p:nvPr/>
        </p:nvPicPr>
        <p:blipFill>
          <a:blip r:embed="rId10"/>
          <a:stretch>
            <a:fillRect/>
          </a:stretch>
        </p:blipFill>
        <p:spPr>
          <a:xfrm>
            <a:off x="3866555" y="1090389"/>
            <a:ext cx="319980" cy="319980"/>
          </a:xfrm>
          <a:prstGeom prst="rect">
            <a:avLst/>
          </a:prstGeom>
        </p:spPr>
      </p:pic>
      <p:sp>
        <p:nvSpPr>
          <p:cNvPr id="8" name="Text 0"/>
          <p:cNvSpPr/>
          <p:nvPr/>
        </p:nvSpPr>
        <p:spPr>
          <a:xfrm>
            <a:off x="4296296" y="1100361"/>
            <a:ext cx="981075" cy="300038"/>
          </a:xfrm>
          <a:prstGeom prst="rect">
            <a:avLst/>
          </a:prstGeom>
          <a:ln/>
        </p:spPr>
        <p:txBody>
          <a:bodyPr wrap="square" lIns="0" tIns="0" rIns="0" bIns="0" rtlCol="0" anchor="t"/>
          <a:lstStyle/>
          <a:p>
            <a:pPr algn="ctr" indent="0" marL="0">
              <a:lnSpc>
                <a:spcPts val="2376"/>
              </a:lnSpc>
              <a:buNone/>
            </a:pPr>
            <a:r>
              <a:rPr lang="en-US" sz="1500" b="1" dirty="0">
                <a:solidFill>
                  <a:srgbClr val="FF4199"/>
                </a:solidFill>
                <a:latin typeface="Ubuntu" pitchFamily="34" charset="0"/>
                <a:ea typeface="Ubuntu" pitchFamily="34" charset="-122"/>
                <a:cs typeface="Ubuntu" pitchFamily="34" charset="-120"/>
              </a:rPr>
              <a:t>mega</a:t>
            </a:r>
            <a:pPr algn="ctr" indent="0" marL="0">
              <a:lnSpc>
                <a:spcPts val="2376"/>
              </a:lnSpc>
              <a:buNone/>
            </a:pPr>
            <a:r>
              <a:rPr lang="en-US" sz="1500" b="1" dirty="0">
                <a:solidFill>
                  <a:srgbClr val="FFFFFF"/>
                </a:solidFill>
                <a:latin typeface="Ubuntu" pitchFamily="34" charset="0"/>
                <a:ea typeface="Ubuntu" pitchFamily="34" charset="-122"/>
                <a:cs typeface="Ubuntu" pitchFamily="34" charset="-120"/>
              </a:rPr>
              <a:t>radio</a:t>
            </a:r>
            <a:endParaRPr lang="en-US" sz="1500" dirty="0"/>
          </a:p>
        </p:txBody>
      </p:sp>
      <p:sp>
        <p:nvSpPr>
          <p:cNvPr id="9" name="Text 1"/>
          <p:cNvSpPr/>
          <p:nvPr/>
        </p:nvSpPr>
        <p:spPr>
          <a:xfrm>
            <a:off x="1445419" y="1616125"/>
            <a:ext cx="6253162" cy="623888"/>
          </a:xfrm>
          <a:prstGeom prst="rect">
            <a:avLst/>
          </a:prstGeom>
          <a:ln/>
        </p:spPr>
        <p:txBody>
          <a:bodyPr wrap="square" lIns="0" tIns="0" rIns="0" bIns="0" rtlCol="0" anchor="t"/>
          <a:lstStyle/>
          <a:p>
            <a:pPr algn="ctr" indent="0" marL="0">
              <a:lnSpc>
                <a:spcPts val="4914"/>
              </a:lnSpc>
              <a:buNone/>
            </a:pPr>
            <a:r>
              <a:rPr lang="en-US" sz="4600" b="1" dirty="0">
                <a:solidFill>
                  <a:srgbClr val="FFFFFF"/>
                </a:solidFill>
                <a:latin typeface="Ubuntu" pitchFamily="34" charset="0"/>
                <a:ea typeface="Ubuntu" pitchFamily="34" charset="-122"/>
                <a:cs typeface="Ubuntu" pitchFamily="34" charset="-120"/>
              </a:rPr>
              <a:t>Global Radio Streaming</a:t>
            </a:r>
            <a:endParaRPr lang="en-US" sz="4600" dirty="0"/>
          </a:p>
        </p:txBody>
      </p:sp>
      <p:sp>
        <p:nvSpPr>
          <p:cNvPr id="10" name="Text 2"/>
          <p:cNvSpPr/>
          <p:nvPr/>
        </p:nvSpPr>
        <p:spPr>
          <a:xfrm>
            <a:off x="2366963" y="2240161"/>
            <a:ext cx="4410075" cy="623888"/>
          </a:xfrm>
          <a:prstGeom prst="rect">
            <a:avLst/>
          </a:prstGeom>
          <a:ln/>
        </p:spPr>
        <p:txBody>
          <a:bodyPr wrap="square" lIns="0" tIns="0" rIns="0" bIns="0" rtlCol="0" anchor="t"/>
          <a:lstStyle/>
          <a:p>
            <a:pPr algn="ctr" indent="0" marL="0">
              <a:lnSpc>
                <a:spcPts val="4914"/>
              </a:lnSpc>
              <a:spcAft>
                <a:spcPts val="1215"/>
              </a:spcAft>
              <a:buNone/>
            </a:pPr>
            <a:r>
              <a:rPr lang="en-US" sz="4600" b="1" dirty="0">
                <a:solidFill>
                  <a:srgbClr val="FFFFFF"/>
                </a:solidFill>
                <a:latin typeface="Ubuntu" pitchFamily="34" charset="0"/>
                <a:ea typeface="Ubuntu" pitchFamily="34" charset="-122"/>
                <a:cs typeface="Ubuntu" pitchFamily="34" charset="-120"/>
              </a:rPr>
              <a:t>for Every Screen</a:t>
            </a:r>
            <a:endParaRPr lang="en-US" sz="4600" dirty="0"/>
          </a:p>
        </p:txBody>
      </p:sp>
      <p:sp>
        <p:nvSpPr>
          <p:cNvPr id="11" name="Text 3"/>
          <p:cNvSpPr/>
          <p:nvPr/>
        </p:nvSpPr>
        <p:spPr>
          <a:xfrm>
            <a:off x="2195475" y="3019425"/>
            <a:ext cx="4752975" cy="519112"/>
          </a:xfrm>
          <a:prstGeom prst="rect">
            <a:avLst/>
          </a:prstGeom>
          <a:ln/>
        </p:spPr>
        <p:txBody>
          <a:bodyPr wrap="square" lIns="0" tIns="0" rIns="0" bIns="0" rtlCol="0" anchor="t"/>
          <a:lstStyle/>
          <a:p>
            <a:pPr algn="ctr" indent="0" marL="0">
              <a:lnSpc>
                <a:spcPts val="2052"/>
              </a:lnSpc>
              <a:spcAft>
                <a:spcPts val="2025"/>
              </a:spcAft>
              <a:buNone/>
            </a:pPr>
            <a:r>
              <a:rPr lang="en-US" sz="1300" dirty="0">
                <a:solidFill>
                  <a:srgbClr val="FFFFFF"/>
                </a:solidFill>
                <a:latin typeface="Ubuntu" pitchFamily="34" charset="0"/>
                <a:ea typeface="Ubuntu" pitchFamily="34" charset="-122"/>
                <a:cs typeface="Ubuntu" pitchFamily="34" charset="-120"/>
              </a:rPr>
              <a:t>50,000+ stations · 238 countries · Samsung, LG, Apple TV, Android TV</a:t>
            </a:r>
            <a:endParaRPr lang="en-US" sz="1300" dirty="0"/>
          </a:p>
        </p:txBody>
      </p:sp>
      <p:sp>
        <p:nvSpPr>
          <p:cNvPr id="12" name="Text 4"/>
          <p:cNvSpPr/>
          <p:nvPr/>
        </p:nvSpPr>
        <p:spPr>
          <a:xfrm>
            <a:off x="3283334" y="3796308"/>
            <a:ext cx="1181100" cy="257175"/>
          </a:xfrm>
          <a:prstGeom prst="roundRect">
            <a:avLst>
              <a:gd name="adj" fmla="val 44444"/>
            </a:avLst>
          </a:prstGeom>
          <a:solidFill>
            <a:srgbClr val="FF4199">
              <a:alpha val="10000"/>
            </a:srgbClr>
          </a:solidFill>
          <a:ln w="4763">
            <a:solidFill>
              <a:srgbClr val="FF4199">
                <a:alpha val="30000"/>
              </a:srgbClr>
            </a:solidFill>
            <a:prstDash val="solid"/>
          </a:ln>
        </p:spPr>
        <p:txBody>
          <a:bodyPr wrap="square" lIns="0" tIns="0" rIns="0" bIns="0" rtlCol="0" anchor="ctr"/>
          <a:lstStyle/>
          <a:p>
            <a:pPr algn="ctr" indent="0" marL="0">
              <a:lnSpc>
                <a:spcPts val="1296"/>
              </a:lnSpc>
              <a:buNone/>
            </a:pPr>
            <a:r>
              <a:rPr lang="en-US" sz="800" dirty="0">
                <a:solidFill>
                  <a:srgbClr val="FF4199"/>
                </a:solidFill>
                <a:latin typeface="Ubuntu" pitchFamily="34" charset="0"/>
                <a:ea typeface="Ubuntu" pitchFamily="34" charset="-122"/>
                <a:cs typeface="Ubuntu" pitchFamily="34" charset="-120"/>
              </a:rPr>
              <a:t>Seed Round 2025</a:t>
            </a:r>
            <a:endParaRPr lang="en-US" sz="800" dirty="0"/>
          </a:p>
        </p:txBody>
      </p:sp>
      <p:sp>
        <p:nvSpPr>
          <p:cNvPr id="13" name="Text 5"/>
          <p:cNvSpPr/>
          <p:nvPr/>
        </p:nvSpPr>
        <p:spPr>
          <a:xfrm>
            <a:off x="4602733" y="3796308"/>
            <a:ext cx="1257300" cy="257175"/>
          </a:xfrm>
          <a:prstGeom prst="roundRect">
            <a:avLst>
              <a:gd name="adj" fmla="val 44444"/>
            </a:avLst>
          </a:prstGeom>
          <a:solidFill>
            <a:srgbClr val="01D7FB">
              <a:alpha val="8000"/>
            </a:srgbClr>
          </a:solidFill>
          <a:ln w="4763">
            <a:solidFill>
              <a:srgbClr val="01D7FB">
                <a:alpha val="25000"/>
              </a:srgbClr>
            </a:solidFill>
            <a:prstDash val="solid"/>
          </a:ln>
        </p:spPr>
        <p:txBody>
          <a:bodyPr wrap="square" lIns="0" tIns="0" rIns="0" bIns="0" rtlCol="0" anchor="ctr"/>
          <a:lstStyle/>
          <a:p>
            <a:pPr algn="ctr" indent="0" marL="0">
              <a:lnSpc>
                <a:spcPts val="1296"/>
              </a:lnSpc>
              <a:buNone/>
            </a:pPr>
            <a:r>
              <a:rPr lang="en-US" sz="800" dirty="0">
                <a:solidFill>
                  <a:srgbClr val="01D7FB"/>
                </a:solidFill>
                <a:latin typeface="Ubuntu" pitchFamily="34" charset="0"/>
                <a:ea typeface="Ubuntu" pitchFamily="34" charset="-122"/>
                <a:cs typeface="Ubuntu" pitchFamily="34" charset="-120"/>
              </a:rPr>
              <a:t>themegaradio.com</a:t>
            </a:r>
            <a:endParaRPr lang="en-US" sz="800" dirty="0"/>
          </a:p>
        </p:txBody>
      </p:sp>
      <p:sp>
        <p:nvSpPr>
          <p:cNvPr id="14" name="Text 6"/>
          <p:cNvSpPr/>
          <p:nvPr/>
        </p:nvSpPr>
        <p:spPr>
          <a:xfrm>
            <a:off x="0" y="4715917"/>
            <a:ext cx="9144000" cy="428625"/>
          </a:xfrm>
          <a:prstGeom prst="rect">
            <a:avLst/>
          </a:prstGeom>
          <a:ln/>
        </p:spPr>
        <p:txBody>
          <a:bodyPr wrap="square" lIns="0" tIns="0" rIns="0" bIns="0" rtlCol="0" anchor="ctr"/>
          <a:lstStyle/>
          <a:p>
            <a:pPr algn="l" indent="0" marL="0">
              <a:lnSpc>
                <a:spcPts val="1296"/>
              </a:lnSpc>
              <a:buNone/>
            </a:pPr>
            <a:r>
              <a:rPr lang="en-US" sz="800" dirty="0">
                <a:solidFill>
                  <a:srgbClr val="FFFFFF"/>
                </a:solidFill>
                <a:latin typeface="Ubuntu" pitchFamily="34" charset="0"/>
                <a:ea typeface="Ubuntu" pitchFamily="34" charset="-122"/>
                <a:cs typeface="Ubuntu" pitchFamily="34" charset="-120"/>
              </a:rPr>
              <a:t>CONFIDENTIAL — INVESTOR PRESENTATION 2025</a:t>
            </a:r>
            <a:pPr algn="l" indent="0" marL="0">
              <a:lnSpc>
                <a:spcPts val="1296"/>
              </a:lnSpc>
              <a:buNone/>
            </a:pPr>
            <a:r>
              <a:rPr lang="en-US" sz="800" dirty="0">
                <a:solidFill>
                  <a:srgbClr val="FFFFFF"/>
                </a:solidFill>
                <a:latin typeface="Ubuntu" pitchFamily="34" charset="0"/>
                <a:ea typeface="Ubuntu" pitchFamily="34" charset="-122"/>
                <a:cs typeface="Ubuntu" pitchFamily="34" charset="-120"/>
              </a:rPr>
              <a:t>1 / 18</a:t>
            </a:r>
            <a:endParaRPr lang="en-US" sz="800" dirty="0"/>
          </a:p>
        </p:txBody>
      </p:sp>
      <p:pic>
        <p:nvPicPr>
          <p:cNvPr id="15" name="Image 6" descr="preencoded.png">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0" y="4715917"/>
            <a:ext cx="9144000" cy="428625"/>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E0E0E"/>
          </a:solidFill>
          <a:ln/>
        </p:spPr>
      </p:sp>
      <p:pic>
        <p:nvPicPr>
          <p:cNvPr id="3"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0" y="0"/>
            <a:ext cx="9144000" cy="5143500"/>
          </a:xfrm>
          <a:prstGeom prst="rect">
            <a:avLst/>
          </a:prstGeom>
        </p:spPr>
      </p:pic>
      <p:pic>
        <p:nvPicPr>
          <p:cNvPr id="4"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023110" y="-977265"/>
            <a:ext cx="4183380" cy="4183380"/>
          </a:xfrm>
          <a:prstGeom prst="rect">
            <a:avLst/>
          </a:prstGeom>
        </p:spPr>
      </p:pic>
      <p:sp>
        <p:nvSpPr>
          <p:cNvPr id="5" name="Text 1"/>
          <p:cNvSpPr/>
          <p:nvPr/>
        </p:nvSpPr>
        <p:spPr>
          <a:xfrm>
            <a:off x="731490" y="1376549"/>
            <a:ext cx="3657600" cy="138113"/>
          </a:xfrm>
          <a:prstGeom prst="rect">
            <a:avLst/>
          </a:prstGeom>
          <a:ln/>
        </p:spPr>
        <p:txBody>
          <a:bodyPr wrap="square" lIns="0" tIns="0" rIns="0" bIns="0" rtlCol="0" anchor="t"/>
          <a:lstStyle/>
          <a:p>
            <a:pPr algn="l" indent="0" marL="0">
              <a:lnSpc>
                <a:spcPts val="1080"/>
              </a:lnSpc>
              <a:spcAft>
                <a:spcPts val="1013"/>
              </a:spcAft>
              <a:buNone/>
            </a:pPr>
            <a:r>
              <a:rPr lang="en-US" sz="700" b="1" dirty="0">
                <a:solidFill>
                  <a:srgbClr val="FF4199"/>
                </a:solidFill>
                <a:latin typeface="Ubuntu" pitchFamily="34" charset="0"/>
                <a:ea typeface="Ubuntu" pitchFamily="34" charset="-122"/>
                <a:cs typeface="Ubuntu" pitchFamily="34" charset="-120"/>
              </a:rPr>
              <a:t>THE PROBLEM</a:t>
            </a:r>
            <a:endParaRPr lang="en-US" sz="700" dirty="0"/>
          </a:p>
        </p:txBody>
      </p:sp>
      <p:sp>
        <p:nvSpPr>
          <p:cNvPr id="6" name="Text 2"/>
          <p:cNvSpPr/>
          <p:nvPr/>
        </p:nvSpPr>
        <p:spPr>
          <a:xfrm>
            <a:off x="731490" y="1643025"/>
            <a:ext cx="3657600" cy="1266825"/>
          </a:xfrm>
          <a:prstGeom prst="rect">
            <a:avLst/>
          </a:prstGeom>
          <a:ln/>
        </p:spPr>
        <p:txBody>
          <a:bodyPr wrap="square" lIns="0" tIns="0" rIns="0" bIns="0" rtlCol="0" anchor="t"/>
          <a:lstStyle/>
          <a:p>
            <a:pPr algn="l" indent="0" marL="0">
              <a:lnSpc>
                <a:spcPts val="3326"/>
              </a:lnSpc>
              <a:spcAft>
                <a:spcPts val="1215"/>
              </a:spcAft>
              <a:buNone/>
            </a:pPr>
            <a:r>
              <a:rPr lang="en-US" sz="3000" b="1" dirty="0">
                <a:solidFill>
                  <a:srgbClr val="FFFFFF"/>
                </a:solidFill>
                <a:latin typeface="Ubuntu" pitchFamily="34" charset="0"/>
                <a:ea typeface="Ubuntu" pitchFamily="34" charset="-122"/>
                <a:cs typeface="Ubuntu" pitchFamily="34" charset="-120"/>
              </a:rPr>
              <a:t>Radio listening on TV is a broken experience</a:t>
            </a:r>
            <a:endParaRPr lang="en-US" sz="3000" dirty="0"/>
          </a:p>
        </p:txBody>
      </p:sp>
      <p:sp>
        <p:nvSpPr>
          <p:cNvPr id="7" name="Text 3"/>
          <p:cNvSpPr/>
          <p:nvPr/>
        </p:nvSpPr>
        <p:spPr>
          <a:xfrm>
            <a:off x="731490" y="3065376"/>
            <a:ext cx="3657600" cy="700088"/>
          </a:xfrm>
          <a:prstGeom prst="rect">
            <a:avLst/>
          </a:prstGeom>
          <a:ln/>
        </p:spPr>
        <p:txBody>
          <a:bodyPr wrap="square" lIns="0" tIns="0" rIns="0" bIns="0" rtlCol="0" anchor="t"/>
          <a:lstStyle/>
          <a:p>
            <a:pPr algn="l" indent="0" marL="0">
              <a:lnSpc>
                <a:spcPts val="1843"/>
              </a:lnSpc>
              <a:buNone/>
            </a:pPr>
            <a:r>
              <a:rPr lang="en-US" sz="1100" dirty="0">
                <a:solidFill>
                  <a:srgbClr val="FFFFFF"/>
                </a:solidFill>
                <a:latin typeface="Ubuntu" pitchFamily="34" charset="0"/>
                <a:ea typeface="Ubuntu" pitchFamily="34" charset="-122"/>
                <a:cs typeface="Ubuntu" pitchFamily="34" charset="-120"/>
              </a:rPr>
              <a:t>85% of smart TVs ship with no dedicated radio app. Listeners are forced onto phones, laptops, or old-fashioned FM — while TV screens sit idle.</a:t>
            </a:r>
            <a:endParaRPr lang="en-US" sz="1100" dirty="0"/>
          </a:p>
        </p:txBody>
      </p:sp>
      <p:sp>
        <p:nvSpPr>
          <p:cNvPr id="8" name="Shape 4"/>
          <p:cNvSpPr/>
          <p:nvPr/>
        </p:nvSpPr>
        <p:spPr>
          <a:xfrm>
            <a:off x="4754873" y="685651"/>
            <a:ext cx="3657600" cy="1171575"/>
          </a:xfrm>
          <a:prstGeom prst="roundRect">
            <a:avLst>
              <a:gd name="adj" fmla="val 7310"/>
            </a:avLst>
          </a:prstGeom>
          <a:solidFill>
            <a:srgbClr val="FF4199">
              <a:alpha val="6000"/>
            </a:srgbClr>
          </a:solidFill>
          <a:ln w="4763">
            <a:solidFill>
              <a:srgbClr val="FF4199">
                <a:alpha val="20000"/>
              </a:srgbClr>
            </a:solidFill>
            <a:prstDash val="solid"/>
          </a:ln>
        </p:spPr>
      </p:sp>
      <p:sp>
        <p:nvSpPr>
          <p:cNvPr id="9" name="Text 5"/>
          <p:cNvSpPr/>
          <p:nvPr/>
        </p:nvSpPr>
        <p:spPr>
          <a:xfrm>
            <a:off x="4988235" y="818555"/>
            <a:ext cx="3190875" cy="247650"/>
          </a:xfrm>
          <a:prstGeom prst="rect">
            <a:avLst/>
          </a:prstGeom>
          <a:ln/>
        </p:spPr>
        <p:txBody>
          <a:bodyPr wrap="square" lIns="0" tIns="0" rIns="0" bIns="0" rtlCol="0" anchor="t"/>
          <a:lstStyle/>
          <a:p>
            <a:pPr algn="l" indent="0" marL="0">
              <a:lnSpc>
                <a:spcPts val="1944"/>
              </a:lnSpc>
              <a:spcAft>
                <a:spcPts val="324"/>
              </a:spcAft>
              <a:buNone/>
            </a:pPr>
            <a:r>
              <a:rPr lang="en-US" sz="1200" b="1" dirty="0">
                <a:solidFill>
                  <a:srgbClr val="FF4199"/>
                </a:solidFill>
                <a:latin typeface="Ubuntu" pitchFamily="34" charset="0"/>
                <a:ea typeface="Ubuntu" pitchFamily="34" charset="-122"/>
                <a:cs typeface="Ubuntu" pitchFamily="34" charset="-120"/>
              </a:rPr>
              <a:t>No native TV radio apps</a:t>
            </a:r>
            <a:endParaRPr lang="en-US" sz="1200" dirty="0"/>
          </a:p>
        </p:txBody>
      </p:sp>
      <p:sp>
        <p:nvSpPr>
          <p:cNvPr id="10" name="Text 6"/>
          <p:cNvSpPr/>
          <p:nvPr/>
        </p:nvSpPr>
        <p:spPr>
          <a:xfrm>
            <a:off x="4988235" y="1105867"/>
            <a:ext cx="3190875" cy="619125"/>
          </a:xfrm>
          <a:prstGeom prst="rect">
            <a:avLst/>
          </a:prstGeom>
          <a:ln/>
        </p:spPr>
        <p:txBody>
          <a:bodyPr wrap="square" lIns="0" tIns="0" rIns="0" bIns="0" rtlCol="0" anchor="t"/>
          <a:lstStyle/>
          <a:p>
            <a:pPr algn="l" indent="0" marL="0">
              <a:lnSpc>
                <a:spcPts val="1620"/>
              </a:lnSpc>
              <a:buNone/>
            </a:pPr>
            <a:r>
              <a:rPr lang="en-US" sz="1000" dirty="0">
                <a:solidFill>
                  <a:srgbClr val="FFFFFF"/>
                </a:solidFill>
                <a:latin typeface="Ubuntu" pitchFamily="34" charset="0"/>
                <a:ea typeface="Ubuntu" pitchFamily="34" charset="-122"/>
                <a:cs typeface="Ubuntu" pitchFamily="34" charset="-120"/>
              </a:rPr>
              <a:t>Samsung Smart Hub and LG Content Store offer fewer than 3 radio apps globally, none with full station catalogs.</a:t>
            </a:r>
            <a:endParaRPr lang="en-US" sz="1000" dirty="0"/>
          </a:p>
        </p:txBody>
      </p:sp>
      <p:sp>
        <p:nvSpPr>
          <p:cNvPr id="11" name="Shape 7"/>
          <p:cNvSpPr/>
          <p:nvPr/>
        </p:nvSpPr>
        <p:spPr>
          <a:xfrm>
            <a:off x="4754873" y="1985963"/>
            <a:ext cx="3657600" cy="1171575"/>
          </a:xfrm>
          <a:prstGeom prst="roundRect">
            <a:avLst>
              <a:gd name="adj" fmla="val 7310"/>
            </a:avLst>
          </a:prstGeom>
          <a:solidFill>
            <a:srgbClr val="FF4199">
              <a:alpha val="6000"/>
            </a:srgbClr>
          </a:solidFill>
          <a:ln w="4763">
            <a:solidFill>
              <a:srgbClr val="FF4199">
                <a:alpha val="20000"/>
              </a:srgbClr>
            </a:solidFill>
            <a:prstDash val="solid"/>
          </a:ln>
        </p:spPr>
      </p:sp>
      <p:sp>
        <p:nvSpPr>
          <p:cNvPr id="12" name="Text 8"/>
          <p:cNvSpPr/>
          <p:nvPr/>
        </p:nvSpPr>
        <p:spPr>
          <a:xfrm>
            <a:off x="4988235" y="2118866"/>
            <a:ext cx="3190875" cy="247650"/>
          </a:xfrm>
          <a:prstGeom prst="rect">
            <a:avLst/>
          </a:prstGeom>
          <a:ln/>
        </p:spPr>
        <p:txBody>
          <a:bodyPr wrap="square" lIns="0" tIns="0" rIns="0" bIns="0" rtlCol="0" anchor="t"/>
          <a:lstStyle/>
          <a:p>
            <a:pPr algn="l" indent="0" marL="0">
              <a:lnSpc>
                <a:spcPts val="1944"/>
              </a:lnSpc>
              <a:spcAft>
                <a:spcPts val="324"/>
              </a:spcAft>
              <a:buNone/>
            </a:pPr>
            <a:r>
              <a:rPr lang="en-US" sz="1200" b="1" dirty="0">
                <a:solidFill>
                  <a:srgbClr val="FF4199"/>
                </a:solidFill>
                <a:latin typeface="Ubuntu" pitchFamily="34" charset="0"/>
                <a:ea typeface="Ubuntu" pitchFamily="34" charset="-122"/>
                <a:cs typeface="Ubuntu" pitchFamily="34" charset="-120"/>
              </a:rPr>
              <a:t>Fragmented discovery</a:t>
            </a:r>
            <a:endParaRPr lang="en-US" sz="1200" dirty="0"/>
          </a:p>
        </p:txBody>
      </p:sp>
      <p:sp>
        <p:nvSpPr>
          <p:cNvPr id="13" name="Text 9"/>
          <p:cNvSpPr/>
          <p:nvPr/>
        </p:nvSpPr>
        <p:spPr>
          <a:xfrm>
            <a:off x="4988235" y="2406179"/>
            <a:ext cx="3190875" cy="619125"/>
          </a:xfrm>
          <a:prstGeom prst="rect">
            <a:avLst/>
          </a:prstGeom>
          <a:ln/>
        </p:spPr>
        <p:txBody>
          <a:bodyPr wrap="square" lIns="0" tIns="0" rIns="0" bIns="0" rtlCol="0" anchor="t"/>
          <a:lstStyle/>
          <a:p>
            <a:pPr algn="l" indent="0" marL="0">
              <a:lnSpc>
                <a:spcPts val="1620"/>
              </a:lnSpc>
              <a:buNone/>
            </a:pPr>
            <a:r>
              <a:rPr lang="en-US" sz="1000" dirty="0">
                <a:solidFill>
                  <a:srgbClr val="FFFFFF"/>
                </a:solidFill>
                <a:latin typeface="Ubuntu" pitchFamily="34" charset="0"/>
                <a:ea typeface="Ubuntu" pitchFamily="34" charset="-122"/>
                <a:cs typeface="Ubuntu" pitchFamily="34" charset="-120"/>
              </a:rPr>
              <a:t>Listeners cannot browse by genre, country, or language. Finding a station requires knowing its exact name or frequency.</a:t>
            </a:r>
            <a:endParaRPr lang="en-US" sz="1000" dirty="0"/>
          </a:p>
        </p:txBody>
      </p:sp>
      <p:sp>
        <p:nvSpPr>
          <p:cNvPr id="14" name="Shape 10"/>
          <p:cNvSpPr/>
          <p:nvPr/>
        </p:nvSpPr>
        <p:spPr>
          <a:xfrm>
            <a:off x="4754873" y="3286274"/>
            <a:ext cx="3657600" cy="1171575"/>
          </a:xfrm>
          <a:prstGeom prst="roundRect">
            <a:avLst>
              <a:gd name="adj" fmla="val 7310"/>
            </a:avLst>
          </a:prstGeom>
          <a:solidFill>
            <a:srgbClr val="FF4199">
              <a:alpha val="6000"/>
            </a:srgbClr>
          </a:solidFill>
          <a:ln w="4763">
            <a:solidFill>
              <a:srgbClr val="FF4199">
                <a:alpha val="20000"/>
              </a:srgbClr>
            </a:solidFill>
            <a:prstDash val="solid"/>
          </a:ln>
        </p:spPr>
      </p:sp>
      <p:sp>
        <p:nvSpPr>
          <p:cNvPr id="15" name="Text 11"/>
          <p:cNvSpPr/>
          <p:nvPr/>
        </p:nvSpPr>
        <p:spPr>
          <a:xfrm>
            <a:off x="4988235" y="3419177"/>
            <a:ext cx="3190875" cy="247650"/>
          </a:xfrm>
          <a:prstGeom prst="rect">
            <a:avLst/>
          </a:prstGeom>
          <a:ln/>
        </p:spPr>
        <p:txBody>
          <a:bodyPr wrap="square" lIns="0" tIns="0" rIns="0" bIns="0" rtlCol="0" anchor="t"/>
          <a:lstStyle/>
          <a:p>
            <a:pPr algn="l" indent="0" marL="0">
              <a:lnSpc>
                <a:spcPts val="1944"/>
              </a:lnSpc>
              <a:spcAft>
                <a:spcPts val="324"/>
              </a:spcAft>
              <a:buNone/>
            </a:pPr>
            <a:r>
              <a:rPr lang="en-US" sz="1200" b="1" dirty="0">
                <a:solidFill>
                  <a:srgbClr val="FF4199"/>
                </a:solidFill>
                <a:latin typeface="Ubuntu" pitchFamily="34" charset="0"/>
                <a:ea typeface="Ubuntu" pitchFamily="34" charset="-122"/>
                <a:cs typeface="Ubuntu" pitchFamily="34" charset="-120"/>
              </a:rPr>
              <a:t>No cross-device continuity</a:t>
            </a:r>
            <a:endParaRPr lang="en-US" sz="1200" dirty="0"/>
          </a:p>
        </p:txBody>
      </p:sp>
      <p:sp>
        <p:nvSpPr>
          <p:cNvPr id="16" name="Text 12"/>
          <p:cNvSpPr/>
          <p:nvPr/>
        </p:nvSpPr>
        <p:spPr>
          <a:xfrm>
            <a:off x="4988235" y="3706490"/>
            <a:ext cx="3190875" cy="619125"/>
          </a:xfrm>
          <a:prstGeom prst="rect">
            <a:avLst/>
          </a:prstGeom>
          <a:ln/>
        </p:spPr>
        <p:txBody>
          <a:bodyPr wrap="square" lIns="0" tIns="0" rIns="0" bIns="0" rtlCol="0" anchor="t"/>
          <a:lstStyle/>
          <a:p>
            <a:pPr algn="l" indent="0" marL="0">
              <a:lnSpc>
                <a:spcPts val="1620"/>
              </a:lnSpc>
              <a:buNone/>
            </a:pPr>
            <a:r>
              <a:rPr lang="en-US" sz="1000" dirty="0">
                <a:solidFill>
                  <a:srgbClr val="FFFFFF"/>
                </a:solidFill>
                <a:latin typeface="Ubuntu" pitchFamily="34" charset="0"/>
                <a:ea typeface="Ubuntu" pitchFamily="34" charset="-122"/>
                <a:cs typeface="Ubuntu" pitchFamily="34" charset="-120"/>
              </a:rPr>
              <a:t>Favorites, history, and preferences don't follow users from phone to TV — every session starts from scratch.</a:t>
            </a:r>
            <a:endParaRPr lang="en-US" sz="1000" dirty="0"/>
          </a:p>
        </p:txBody>
      </p:sp>
      <p:sp>
        <p:nvSpPr>
          <p:cNvPr id="17" name="Text 13"/>
          <p:cNvSpPr/>
          <p:nvPr/>
        </p:nvSpPr>
        <p:spPr>
          <a:xfrm>
            <a:off x="0" y="4781848"/>
            <a:ext cx="9144000" cy="361950"/>
          </a:xfrm>
          <a:prstGeom prst="rect">
            <a:avLst/>
          </a:prstGeom>
          <a:ln/>
        </p:spPr>
        <p:txBody>
          <a:bodyPr wrap="square" lIns="0" tIns="0" rIns="0" bIns="0" rtlCol="0" anchor="t"/>
          <a:lstStyle/>
          <a:p>
            <a:pPr algn="l" indent="0" marL="0">
              <a:lnSpc>
                <a:spcPts val="1188"/>
              </a:lnSpc>
              <a:buNone/>
            </a:pPr>
            <a:r>
              <a:rPr lang="en-US" sz="700" dirty="0">
                <a:solidFill>
                  <a:srgbClr val="FFFFFF"/>
                </a:solidFill>
                <a:latin typeface="Ubuntu" pitchFamily="34" charset="0"/>
                <a:ea typeface="Ubuntu" pitchFamily="34" charset="-122"/>
                <a:cs typeface="Ubuntu" pitchFamily="34" charset="-120"/>
              </a:rPr>
              <a:t>RADIO MEGA</a:t>
            </a:r>
            <a:pPr algn="l" indent="0" marL="0">
              <a:lnSpc>
                <a:spcPts val="1188"/>
              </a:lnSpc>
              <a:buNone/>
            </a:pPr>
            <a:r>
              <a:rPr lang="en-US" sz="700" dirty="0">
                <a:solidFill>
                  <a:srgbClr val="FFFFFF"/>
                </a:solidFill>
                <a:latin typeface="Ubuntu" pitchFamily="34" charset="0"/>
                <a:ea typeface="Ubuntu" pitchFamily="34" charset="-122"/>
                <a:cs typeface="Ubuntu" pitchFamily="34" charset="-120"/>
              </a:rPr>
              <a:t>2 / 18</a:t>
            </a:r>
            <a:endParaRPr lang="en-US" sz="700" dirty="0"/>
          </a:p>
        </p:txBody>
      </p:sp>
      <p:pic>
        <p:nvPicPr>
          <p:cNvPr id="18"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0" y="4781848"/>
            <a:ext cx="9144000" cy="36195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E0E0E"/>
          </a:solidFill>
          <a:ln/>
        </p:spPr>
      </p:sp>
      <p:pic>
        <p:nvPicPr>
          <p:cNvPr id="3"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0" y="0"/>
            <a:ext cx="9144000" cy="5143500"/>
          </a:xfrm>
          <a:prstGeom prst="rect">
            <a:avLst/>
          </a:prstGeom>
        </p:spPr>
      </p:pic>
      <p:pic>
        <p:nvPicPr>
          <p:cNvPr id="4"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577840" y="1634490"/>
            <a:ext cx="4846320" cy="4846320"/>
          </a:xfrm>
          <a:prstGeom prst="rect">
            <a:avLst/>
          </a:prstGeom>
        </p:spPr>
      </p:pic>
      <p:sp>
        <p:nvSpPr>
          <p:cNvPr id="5" name="Text 1"/>
          <p:cNvSpPr/>
          <p:nvPr/>
        </p:nvSpPr>
        <p:spPr>
          <a:xfrm>
            <a:off x="731044" y="359532"/>
            <a:ext cx="7681912" cy="138113"/>
          </a:xfrm>
          <a:prstGeom prst="rect">
            <a:avLst/>
          </a:prstGeom>
          <a:ln/>
        </p:spPr>
        <p:txBody>
          <a:bodyPr wrap="square" lIns="0" tIns="0" rIns="0" bIns="0" rtlCol="0" anchor="t"/>
          <a:lstStyle/>
          <a:p>
            <a:pPr algn="l" indent="0" marL="0">
              <a:lnSpc>
                <a:spcPts val="1080"/>
              </a:lnSpc>
              <a:spcAft>
                <a:spcPts val="810"/>
              </a:spcAft>
              <a:buNone/>
            </a:pPr>
            <a:r>
              <a:rPr lang="en-US" sz="700" b="1" dirty="0">
                <a:solidFill>
                  <a:srgbClr val="01D7FB"/>
                </a:solidFill>
                <a:latin typeface="Ubuntu" pitchFamily="34" charset="0"/>
                <a:ea typeface="Ubuntu" pitchFamily="34" charset="-122"/>
                <a:cs typeface="Ubuntu" pitchFamily="34" charset="-120"/>
              </a:rPr>
              <a:t>THE SOLUTION</a:t>
            </a:r>
            <a:endParaRPr lang="en-US" sz="700" dirty="0"/>
          </a:p>
        </p:txBody>
      </p:sp>
      <p:sp>
        <p:nvSpPr>
          <p:cNvPr id="6" name="Text 2"/>
          <p:cNvSpPr/>
          <p:nvPr/>
        </p:nvSpPr>
        <p:spPr>
          <a:xfrm>
            <a:off x="731044" y="599294"/>
            <a:ext cx="7681912" cy="423862"/>
          </a:xfrm>
          <a:prstGeom prst="rect">
            <a:avLst/>
          </a:prstGeom>
          <a:ln/>
        </p:spPr>
        <p:txBody>
          <a:bodyPr wrap="square" lIns="0" tIns="0" rIns="0" bIns="0" rtlCol="0" anchor="t"/>
          <a:lstStyle/>
          <a:p>
            <a:pPr algn="l" indent="0" marL="0">
              <a:lnSpc>
                <a:spcPts val="3326"/>
              </a:lnSpc>
              <a:buNone/>
            </a:pPr>
            <a:r>
              <a:rPr lang="en-US" sz="3000" b="1" dirty="0">
                <a:solidFill>
                  <a:srgbClr val="FFFFFF"/>
                </a:solidFill>
                <a:latin typeface="Ubuntu" pitchFamily="34" charset="0"/>
                <a:ea typeface="Ubuntu" pitchFamily="34" charset="-122"/>
                <a:cs typeface="Ubuntu" pitchFamily="34" charset="-120"/>
              </a:rPr>
              <a:t>One app. Every screen. Every station.</a:t>
            </a:r>
            <a:endParaRPr lang="en-US" sz="3000" dirty="0"/>
          </a:p>
        </p:txBody>
      </p:sp>
      <p:sp>
        <p:nvSpPr>
          <p:cNvPr id="7" name="Shape 3"/>
          <p:cNvSpPr/>
          <p:nvPr/>
        </p:nvSpPr>
        <p:spPr>
          <a:xfrm>
            <a:off x="730523" y="1279289"/>
            <a:ext cx="2409825" cy="1943100"/>
          </a:xfrm>
          <a:prstGeom prst="roundRect">
            <a:avLst>
              <a:gd name="adj" fmla="val 2657"/>
            </a:avLst>
          </a:prstGeom>
          <a:solidFill>
            <a:srgbClr val="FF4199">
              <a:alpha val="6000"/>
            </a:srgbClr>
          </a:solidFill>
          <a:ln w="4763">
            <a:solidFill>
              <a:srgbClr val="FF4199">
                <a:alpha val="18000"/>
              </a:srgbClr>
            </a:solidFill>
            <a:prstDash val="solid"/>
          </a:ln>
        </p:spPr>
      </p:sp>
      <p:sp>
        <p:nvSpPr>
          <p:cNvPr id="8" name="Shape 4"/>
          <p:cNvSpPr/>
          <p:nvPr/>
        </p:nvSpPr>
        <p:spPr>
          <a:xfrm>
            <a:off x="965299" y="1439094"/>
            <a:ext cx="319088" cy="319088"/>
          </a:xfrm>
          <a:prstGeom prst="roundRect">
            <a:avLst>
              <a:gd name="adj" fmla="val 16424"/>
            </a:avLst>
          </a:prstGeom>
          <a:solidFill>
            <a:srgbClr val="FF4199">
              <a:alpha val="15000"/>
            </a:srgbClr>
          </a:solidFill>
          <a:ln/>
        </p:spPr>
      </p:sp>
      <p:pic>
        <p:nvPicPr>
          <p:cNvPr id="9" name="Image 2" descr="preencoded.png">    </p:cNvPr>
          <p:cNvPicPr>
            <a:picLocks noChangeAspect="1"/>
          </p:cNvPicPr>
          <p:nvPr/>
        </p:nvPicPr>
        <p:blipFill>
          <a:blip r:embed="rId5"/>
          <a:stretch>
            <a:fillRect/>
          </a:stretch>
        </p:blipFill>
        <p:spPr>
          <a:xfrm>
            <a:off x="1042541" y="1516335"/>
            <a:ext cx="164529" cy="164529"/>
          </a:xfrm>
          <a:prstGeom prst="rect">
            <a:avLst/>
          </a:prstGeom>
        </p:spPr>
      </p:pic>
      <p:sp>
        <p:nvSpPr>
          <p:cNvPr id="10" name="Text 5"/>
          <p:cNvSpPr/>
          <p:nvPr/>
        </p:nvSpPr>
        <p:spPr>
          <a:xfrm>
            <a:off x="963885" y="1860538"/>
            <a:ext cx="1943100" cy="276225"/>
          </a:xfrm>
          <a:prstGeom prst="rect">
            <a:avLst/>
          </a:prstGeom>
          <a:ln/>
        </p:spPr>
        <p:txBody>
          <a:bodyPr wrap="square" lIns="0" tIns="0" rIns="0" bIns="0" rtlCol="0" anchor="t"/>
          <a:lstStyle/>
          <a:p>
            <a:pPr algn="l" indent="0" marL="0">
              <a:lnSpc>
                <a:spcPts val="2160"/>
              </a:lnSpc>
              <a:spcAft>
                <a:spcPts val="607"/>
              </a:spcAft>
              <a:buNone/>
            </a:pPr>
            <a:r>
              <a:rPr lang="en-US" sz="1400" b="1" dirty="0">
                <a:solidFill>
                  <a:srgbClr val="FFFFFF"/>
                </a:solidFill>
                <a:latin typeface="Ubuntu" pitchFamily="34" charset="0"/>
                <a:ea typeface="Ubuntu" pitchFamily="34" charset="-122"/>
                <a:cs typeface="Ubuntu" pitchFamily="34" charset="-120"/>
              </a:rPr>
              <a:t>Native TV Apps</a:t>
            </a:r>
            <a:endParaRPr lang="en-US" sz="1400" dirty="0"/>
          </a:p>
        </p:txBody>
      </p:sp>
      <p:sp>
        <p:nvSpPr>
          <p:cNvPr id="11" name="Text 6"/>
          <p:cNvSpPr/>
          <p:nvPr/>
        </p:nvSpPr>
        <p:spPr>
          <a:xfrm>
            <a:off x="963885" y="2211735"/>
            <a:ext cx="1943100" cy="852488"/>
          </a:xfrm>
          <a:prstGeom prst="rect">
            <a:avLst/>
          </a:prstGeom>
          <a:ln/>
        </p:spPr>
        <p:txBody>
          <a:bodyPr wrap="square" lIns="0" tIns="0" rIns="0" bIns="0" rtlCol="0" anchor="t"/>
          <a:lstStyle/>
          <a:p>
            <a:pPr algn="l" indent="0" marL="0">
              <a:lnSpc>
                <a:spcPts val="1674"/>
              </a:lnSpc>
              <a:buNone/>
            </a:pPr>
            <a:r>
              <a:rPr lang="en-US" sz="1000" dirty="0">
                <a:solidFill>
                  <a:srgbClr val="FFFFFF"/>
                </a:solidFill>
                <a:latin typeface="Ubuntu" pitchFamily="34" charset="0"/>
                <a:ea typeface="Ubuntu" pitchFamily="34" charset="-122"/>
                <a:cs typeface="Ubuntu" pitchFamily="34" charset="-120"/>
              </a:rPr>
              <a:t>Purpose-built for Samsung Tizen and LG webOS — remote-first navigation, 10-foot UI, ambient mode.</a:t>
            </a:r>
            <a:endParaRPr lang="en-US" sz="1000" dirty="0"/>
          </a:p>
        </p:txBody>
      </p:sp>
      <p:sp>
        <p:nvSpPr>
          <p:cNvPr id="12" name="Shape 7"/>
          <p:cNvSpPr/>
          <p:nvPr/>
        </p:nvSpPr>
        <p:spPr>
          <a:xfrm>
            <a:off x="3367050" y="1279289"/>
            <a:ext cx="2409825" cy="1943100"/>
          </a:xfrm>
          <a:prstGeom prst="roundRect">
            <a:avLst>
              <a:gd name="adj" fmla="val 2657"/>
            </a:avLst>
          </a:prstGeom>
          <a:solidFill>
            <a:srgbClr val="01D7FB">
              <a:alpha val="5000"/>
            </a:srgbClr>
          </a:solidFill>
          <a:ln w="4763">
            <a:solidFill>
              <a:srgbClr val="01D7FB">
                <a:alpha val="18000"/>
              </a:srgbClr>
            </a:solidFill>
            <a:prstDash val="solid"/>
          </a:ln>
        </p:spPr>
      </p:sp>
      <p:sp>
        <p:nvSpPr>
          <p:cNvPr id="13" name="Shape 8"/>
          <p:cNvSpPr/>
          <p:nvPr/>
        </p:nvSpPr>
        <p:spPr>
          <a:xfrm>
            <a:off x="3601789" y="1439094"/>
            <a:ext cx="319088" cy="319088"/>
          </a:xfrm>
          <a:prstGeom prst="roundRect">
            <a:avLst>
              <a:gd name="adj" fmla="val 16424"/>
            </a:avLst>
          </a:prstGeom>
          <a:solidFill>
            <a:srgbClr val="01D7FB">
              <a:alpha val="12000"/>
            </a:srgbClr>
          </a:solidFill>
          <a:ln/>
        </p:spPr>
      </p:sp>
      <p:pic>
        <p:nvPicPr>
          <p:cNvPr id="14" name="Image 3" descr="preencoded.png">    </p:cNvPr>
          <p:cNvPicPr>
            <a:picLocks noChangeAspect="1"/>
          </p:cNvPicPr>
          <p:nvPr/>
        </p:nvPicPr>
        <p:blipFill>
          <a:blip r:embed="rId6"/>
          <a:stretch>
            <a:fillRect/>
          </a:stretch>
        </p:blipFill>
        <p:spPr>
          <a:xfrm>
            <a:off x="3679031" y="1516335"/>
            <a:ext cx="164529" cy="164529"/>
          </a:xfrm>
          <a:prstGeom prst="rect">
            <a:avLst/>
          </a:prstGeom>
        </p:spPr>
      </p:pic>
      <p:sp>
        <p:nvSpPr>
          <p:cNvPr id="15" name="Text 9"/>
          <p:cNvSpPr/>
          <p:nvPr/>
        </p:nvSpPr>
        <p:spPr>
          <a:xfrm>
            <a:off x="3600413" y="1860538"/>
            <a:ext cx="1943100" cy="276225"/>
          </a:xfrm>
          <a:prstGeom prst="rect">
            <a:avLst/>
          </a:prstGeom>
          <a:ln/>
        </p:spPr>
        <p:txBody>
          <a:bodyPr wrap="square" lIns="0" tIns="0" rIns="0" bIns="0" rtlCol="0" anchor="t"/>
          <a:lstStyle/>
          <a:p>
            <a:pPr algn="l" indent="0" marL="0">
              <a:lnSpc>
                <a:spcPts val="2160"/>
              </a:lnSpc>
              <a:spcAft>
                <a:spcPts val="607"/>
              </a:spcAft>
              <a:buNone/>
            </a:pPr>
            <a:r>
              <a:rPr lang="en-US" sz="1400" b="1" dirty="0">
                <a:solidFill>
                  <a:srgbClr val="FFFFFF"/>
                </a:solidFill>
                <a:latin typeface="Ubuntu" pitchFamily="34" charset="0"/>
                <a:ea typeface="Ubuntu" pitchFamily="34" charset="-122"/>
                <a:cs typeface="Ubuntu" pitchFamily="34" charset="-120"/>
              </a:rPr>
              <a:t>50,000+ Stations</a:t>
            </a:r>
            <a:endParaRPr lang="en-US" sz="1400" dirty="0"/>
          </a:p>
        </p:txBody>
      </p:sp>
      <p:sp>
        <p:nvSpPr>
          <p:cNvPr id="16" name="Text 10"/>
          <p:cNvSpPr/>
          <p:nvPr/>
        </p:nvSpPr>
        <p:spPr>
          <a:xfrm>
            <a:off x="3600413" y="2211735"/>
            <a:ext cx="1943100" cy="852488"/>
          </a:xfrm>
          <a:prstGeom prst="rect">
            <a:avLst/>
          </a:prstGeom>
          <a:ln/>
        </p:spPr>
        <p:txBody>
          <a:bodyPr wrap="square" lIns="0" tIns="0" rIns="0" bIns="0" rtlCol="0" anchor="t"/>
          <a:lstStyle/>
          <a:p>
            <a:pPr algn="l" indent="0" marL="0">
              <a:lnSpc>
                <a:spcPts val="1674"/>
              </a:lnSpc>
              <a:buNone/>
            </a:pPr>
            <a:r>
              <a:rPr lang="en-US" sz="1000" dirty="0">
                <a:solidFill>
                  <a:srgbClr val="FFFFFF"/>
                </a:solidFill>
                <a:latin typeface="Ubuntu" pitchFamily="34" charset="0"/>
                <a:ea typeface="Ubuntu" pitchFamily="34" charset="-122"/>
                <a:cs typeface="Ubuntu" pitchFamily="34" charset="-120"/>
              </a:rPr>
              <a:t>Curated catalog across 238 countries, 50 languages, organized by genre, mood, and location.</a:t>
            </a:r>
            <a:endParaRPr lang="en-US" sz="1000" dirty="0"/>
          </a:p>
        </p:txBody>
      </p:sp>
      <p:sp>
        <p:nvSpPr>
          <p:cNvPr id="17" name="Shape 11"/>
          <p:cNvSpPr/>
          <p:nvPr/>
        </p:nvSpPr>
        <p:spPr>
          <a:xfrm>
            <a:off x="6003578" y="1279289"/>
            <a:ext cx="2409825" cy="1943100"/>
          </a:xfrm>
          <a:prstGeom prst="roundRect">
            <a:avLst>
              <a:gd name="adj" fmla="val 2657"/>
            </a:avLst>
          </a:prstGeom>
          <a:solidFill>
            <a:srgbClr val="FFFFFF">
              <a:alpha val="3000"/>
            </a:srgbClr>
          </a:solidFill>
          <a:ln w="4763">
            <a:solidFill>
              <a:srgbClr val="FFFFFF">
                <a:alpha val="10000"/>
              </a:srgbClr>
            </a:solidFill>
            <a:prstDash val="solid"/>
          </a:ln>
        </p:spPr>
      </p:sp>
      <p:sp>
        <p:nvSpPr>
          <p:cNvPr id="18" name="Shape 12"/>
          <p:cNvSpPr/>
          <p:nvPr/>
        </p:nvSpPr>
        <p:spPr>
          <a:xfrm>
            <a:off x="6238354" y="1439094"/>
            <a:ext cx="319088" cy="319088"/>
          </a:xfrm>
          <a:prstGeom prst="roundRect">
            <a:avLst>
              <a:gd name="adj" fmla="val 16424"/>
            </a:avLst>
          </a:prstGeom>
          <a:solidFill>
            <a:srgbClr val="FFFFFF">
              <a:alpha val="6000"/>
            </a:srgbClr>
          </a:solidFill>
          <a:ln/>
        </p:spPr>
      </p:sp>
      <p:pic>
        <p:nvPicPr>
          <p:cNvPr id="19" name="Image 4" descr="preencoded.png">    </p:cNvPr>
          <p:cNvPicPr>
            <a:picLocks noChangeAspect="1"/>
          </p:cNvPicPr>
          <p:nvPr/>
        </p:nvPicPr>
        <p:blipFill>
          <a:blip r:embed="rId7"/>
          <a:stretch>
            <a:fillRect/>
          </a:stretch>
        </p:blipFill>
        <p:spPr>
          <a:xfrm>
            <a:off x="6315596" y="1516335"/>
            <a:ext cx="164529" cy="164529"/>
          </a:xfrm>
          <a:prstGeom prst="rect">
            <a:avLst/>
          </a:prstGeom>
        </p:spPr>
      </p:pic>
      <p:sp>
        <p:nvSpPr>
          <p:cNvPr id="20" name="Text 13"/>
          <p:cNvSpPr/>
          <p:nvPr/>
        </p:nvSpPr>
        <p:spPr>
          <a:xfrm>
            <a:off x="6236940" y="1860538"/>
            <a:ext cx="1943100" cy="276225"/>
          </a:xfrm>
          <a:prstGeom prst="rect">
            <a:avLst/>
          </a:prstGeom>
          <a:ln/>
        </p:spPr>
        <p:txBody>
          <a:bodyPr wrap="square" lIns="0" tIns="0" rIns="0" bIns="0" rtlCol="0" anchor="t"/>
          <a:lstStyle/>
          <a:p>
            <a:pPr algn="l" indent="0" marL="0">
              <a:lnSpc>
                <a:spcPts val="2160"/>
              </a:lnSpc>
              <a:spcAft>
                <a:spcPts val="607"/>
              </a:spcAft>
              <a:buNone/>
            </a:pPr>
            <a:r>
              <a:rPr lang="en-US" sz="1400" b="1" dirty="0">
                <a:solidFill>
                  <a:srgbClr val="FFFFFF"/>
                </a:solidFill>
                <a:latin typeface="Ubuntu" pitchFamily="34" charset="0"/>
                <a:ea typeface="Ubuntu" pitchFamily="34" charset="-122"/>
                <a:cs typeface="Ubuntu" pitchFamily="34" charset="-120"/>
              </a:rPr>
              <a:t>Cross-Device Sync</a:t>
            </a:r>
            <a:endParaRPr lang="en-US" sz="1400" dirty="0"/>
          </a:p>
        </p:txBody>
      </p:sp>
      <p:sp>
        <p:nvSpPr>
          <p:cNvPr id="21" name="Text 14"/>
          <p:cNvSpPr/>
          <p:nvPr/>
        </p:nvSpPr>
        <p:spPr>
          <a:xfrm>
            <a:off x="6236940" y="2211735"/>
            <a:ext cx="1943100" cy="852488"/>
          </a:xfrm>
          <a:prstGeom prst="rect">
            <a:avLst/>
          </a:prstGeom>
          <a:ln/>
        </p:spPr>
        <p:txBody>
          <a:bodyPr wrap="square" lIns="0" tIns="0" rIns="0" bIns="0" rtlCol="0" anchor="t"/>
          <a:lstStyle/>
          <a:p>
            <a:pPr algn="l" indent="0" marL="0">
              <a:lnSpc>
                <a:spcPts val="1674"/>
              </a:lnSpc>
              <a:buNone/>
            </a:pPr>
            <a:r>
              <a:rPr lang="en-US" sz="1000" dirty="0">
                <a:solidFill>
                  <a:srgbClr val="FFFFFF"/>
                </a:solidFill>
                <a:latin typeface="Ubuntu" pitchFamily="34" charset="0"/>
                <a:ea typeface="Ubuntu" pitchFamily="34" charset="-122"/>
                <a:cs typeface="Ubuntu" pitchFamily="34" charset="-120"/>
              </a:rPr>
              <a:t>Favorites, history, and preferences follow users from TV to mobile to web — one account, every device.</a:t>
            </a:r>
            <a:endParaRPr lang="en-US" sz="1000" dirty="0"/>
          </a:p>
        </p:txBody>
      </p:sp>
      <p:pic>
        <p:nvPicPr>
          <p:cNvPr id="22" name="Image 5" descr="preencoded.png">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731044" y="4155877"/>
            <a:ext cx="7681912" cy="628650"/>
          </a:xfrm>
          <a:prstGeom prst="rect">
            <a:avLst/>
          </a:prstGeom>
        </p:spPr>
      </p:pic>
      <p:pic>
        <p:nvPicPr>
          <p:cNvPr id="23" name="Image 6" descr="preencoded.png">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1009948" y="4367808"/>
            <a:ext cx="28575" cy="204787"/>
          </a:xfrm>
          <a:prstGeom prst="rect">
            <a:avLst/>
          </a:prstGeom>
        </p:spPr>
      </p:pic>
      <p:sp>
        <p:nvSpPr>
          <p:cNvPr id="24" name="Text 15"/>
          <p:cNvSpPr/>
          <p:nvPr/>
        </p:nvSpPr>
        <p:spPr>
          <a:xfrm>
            <a:off x="1175258" y="4265414"/>
            <a:ext cx="6958013" cy="409575"/>
          </a:xfrm>
          <a:prstGeom prst="rect">
            <a:avLst/>
          </a:prstGeom>
          <a:ln/>
        </p:spPr>
        <p:txBody>
          <a:bodyPr wrap="square" lIns="0" tIns="0" rIns="0" bIns="0" rtlCol="0" anchor="t"/>
          <a:lstStyle/>
          <a:p>
            <a:pPr algn="l" indent="0" marL="0">
              <a:lnSpc>
                <a:spcPts val="1620"/>
              </a:lnSpc>
              <a:buNone/>
            </a:pPr>
            <a:r>
              <a:rPr lang="en-US" sz="1000" dirty="0">
                <a:solidFill>
                  <a:srgbClr val="FFFFFF"/>
                </a:solidFill>
                <a:latin typeface="Ubuntu" pitchFamily="34" charset="0"/>
                <a:ea typeface="Ubuntu" pitchFamily="34" charset="-122"/>
                <a:cs typeface="Ubuntu" pitchFamily="34" charset="-120"/>
              </a:rPr>
              <a:t>Radio Mega is the first multi-platform streaming app built exclusively for the living room — designed from the ground up for TV remote navigation and large-screen consumption.</a:t>
            </a:r>
            <a:endParaRPr lang="en-US" sz="1000" dirty="0"/>
          </a:p>
        </p:txBody>
      </p:sp>
      <p:sp>
        <p:nvSpPr>
          <p:cNvPr id="25" name="Text 16"/>
          <p:cNvSpPr/>
          <p:nvPr/>
        </p:nvSpPr>
        <p:spPr>
          <a:xfrm>
            <a:off x="0" y="4781848"/>
            <a:ext cx="9144000" cy="361950"/>
          </a:xfrm>
          <a:prstGeom prst="rect">
            <a:avLst/>
          </a:prstGeom>
          <a:ln/>
        </p:spPr>
        <p:txBody>
          <a:bodyPr wrap="square" lIns="0" tIns="0" rIns="0" bIns="0" rtlCol="0" anchor="t"/>
          <a:lstStyle/>
          <a:p>
            <a:pPr algn="l" indent="0" marL="0">
              <a:lnSpc>
                <a:spcPts val="1188"/>
              </a:lnSpc>
              <a:buNone/>
            </a:pPr>
            <a:r>
              <a:rPr lang="en-US" sz="700" dirty="0">
                <a:solidFill>
                  <a:srgbClr val="FFFFFF"/>
                </a:solidFill>
                <a:latin typeface="Ubuntu" pitchFamily="34" charset="0"/>
                <a:ea typeface="Ubuntu" pitchFamily="34" charset="-122"/>
                <a:cs typeface="Ubuntu" pitchFamily="34" charset="-120"/>
              </a:rPr>
              <a:t>RADIO MEGA</a:t>
            </a:r>
            <a:pPr algn="l" indent="0" marL="0">
              <a:lnSpc>
                <a:spcPts val="1188"/>
              </a:lnSpc>
              <a:buNone/>
            </a:pPr>
            <a:r>
              <a:rPr lang="en-US" sz="700" dirty="0">
                <a:solidFill>
                  <a:srgbClr val="FFFFFF"/>
                </a:solidFill>
                <a:latin typeface="Ubuntu" pitchFamily="34" charset="0"/>
                <a:ea typeface="Ubuntu" pitchFamily="34" charset="-122"/>
                <a:cs typeface="Ubuntu" pitchFamily="34" charset="-120"/>
              </a:rPr>
              <a:t>3 / 18</a:t>
            </a:r>
            <a:endParaRPr lang="en-US" sz="700" dirty="0"/>
          </a:p>
        </p:txBody>
      </p:sp>
      <p:pic>
        <p:nvPicPr>
          <p:cNvPr id="26" name="Image 7" descr="preencoded.png">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0" y="4781848"/>
            <a:ext cx="9144000" cy="36195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E0E0E"/>
          </a:solidFill>
          <a:ln/>
        </p:spPr>
      </p:sp>
      <p:pic>
        <p:nvPicPr>
          <p:cNvPr id="3"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0" y="0"/>
            <a:ext cx="9144000" cy="5143500"/>
          </a:xfrm>
          <a:prstGeom prst="rect">
            <a:avLst/>
          </a:prstGeom>
        </p:spPr>
      </p:pic>
      <p:pic>
        <p:nvPicPr>
          <p:cNvPr id="4"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137910" y="-205740"/>
            <a:ext cx="4183380" cy="4183380"/>
          </a:xfrm>
          <a:prstGeom prst="rect">
            <a:avLst/>
          </a:prstGeom>
        </p:spPr>
      </p:pic>
      <p:sp>
        <p:nvSpPr>
          <p:cNvPr id="5" name="Text 1"/>
          <p:cNvSpPr/>
          <p:nvPr/>
        </p:nvSpPr>
        <p:spPr>
          <a:xfrm>
            <a:off x="639552" y="572505"/>
            <a:ext cx="3109913" cy="138113"/>
          </a:xfrm>
          <a:prstGeom prst="rect">
            <a:avLst/>
          </a:prstGeom>
          <a:ln/>
        </p:spPr>
        <p:txBody>
          <a:bodyPr wrap="square" lIns="0" tIns="0" rIns="0" bIns="0" rtlCol="0" anchor="t"/>
          <a:lstStyle/>
          <a:p>
            <a:pPr algn="l" indent="0" marL="0">
              <a:lnSpc>
                <a:spcPts val="1080"/>
              </a:lnSpc>
              <a:spcAft>
                <a:spcPts val="810"/>
              </a:spcAft>
              <a:buNone/>
            </a:pPr>
            <a:r>
              <a:rPr lang="en-US" sz="700" b="1" dirty="0">
                <a:solidFill>
                  <a:srgbClr val="FF4199"/>
                </a:solidFill>
                <a:latin typeface="Ubuntu" pitchFamily="34" charset="0"/>
                <a:ea typeface="Ubuntu" pitchFamily="34" charset="-122"/>
                <a:cs typeface="Ubuntu" pitchFamily="34" charset="-120"/>
              </a:rPr>
              <a:t>PRODUCT</a:t>
            </a:r>
            <a:endParaRPr lang="en-US" sz="700" dirty="0"/>
          </a:p>
        </p:txBody>
      </p:sp>
      <p:sp>
        <p:nvSpPr>
          <p:cNvPr id="6" name="Text 2"/>
          <p:cNvSpPr/>
          <p:nvPr/>
        </p:nvSpPr>
        <p:spPr>
          <a:xfrm>
            <a:off x="639552" y="814090"/>
            <a:ext cx="3109913" cy="762000"/>
          </a:xfrm>
          <a:prstGeom prst="rect">
            <a:avLst/>
          </a:prstGeom>
          <a:ln/>
        </p:spPr>
        <p:txBody>
          <a:bodyPr wrap="square" lIns="0" tIns="0" rIns="0" bIns="0" rtlCol="0" anchor="t"/>
          <a:lstStyle/>
          <a:p>
            <a:pPr algn="l" indent="0" marL="0">
              <a:lnSpc>
                <a:spcPts val="3010"/>
              </a:lnSpc>
              <a:spcAft>
                <a:spcPts val="1215"/>
              </a:spcAft>
              <a:buNone/>
            </a:pPr>
            <a:r>
              <a:rPr lang="en-US" sz="2700" b="1" dirty="0">
                <a:solidFill>
                  <a:srgbClr val="FFFFFF"/>
                </a:solidFill>
                <a:latin typeface="Ubuntu" pitchFamily="34" charset="0"/>
                <a:ea typeface="Ubuntu" pitchFamily="34" charset="-122"/>
                <a:cs typeface="Ubuntu" pitchFamily="34" charset="-120"/>
              </a:rPr>
              <a:t>Designed for the living room</a:t>
            </a:r>
            <a:endParaRPr lang="en-US" sz="2700" dirty="0"/>
          </a:p>
        </p:txBody>
      </p:sp>
      <p:sp>
        <p:nvSpPr>
          <p:cNvPr id="7" name="Shape 3"/>
          <p:cNvSpPr/>
          <p:nvPr/>
        </p:nvSpPr>
        <p:spPr>
          <a:xfrm>
            <a:off x="639366" y="1758069"/>
            <a:ext cx="33337" cy="152400"/>
          </a:xfrm>
          <a:prstGeom prst="roundRect">
            <a:avLst>
              <a:gd name="adj" fmla="val 342862"/>
            </a:avLst>
          </a:prstGeom>
          <a:solidFill>
            <a:srgbClr val="FF4199"/>
          </a:solidFill>
          <a:ln/>
        </p:spPr>
      </p:sp>
      <p:sp>
        <p:nvSpPr>
          <p:cNvPr id="8" name="Text 4"/>
          <p:cNvSpPr/>
          <p:nvPr/>
        </p:nvSpPr>
        <p:spPr>
          <a:xfrm>
            <a:off x="781831" y="1730350"/>
            <a:ext cx="2967038" cy="228600"/>
          </a:xfrm>
          <a:prstGeom prst="rect">
            <a:avLst/>
          </a:prstGeom>
          <a:ln/>
        </p:spPr>
        <p:txBody>
          <a:bodyPr wrap="square" lIns="0" tIns="0" rIns="0" bIns="0" rtlCol="0" anchor="t"/>
          <a:lstStyle/>
          <a:p>
            <a:pPr algn="l" indent="0" marL="0">
              <a:lnSpc>
                <a:spcPts val="1782"/>
              </a:lnSpc>
              <a:spcAft>
                <a:spcPts val="203"/>
              </a:spcAft>
              <a:buNone/>
            </a:pPr>
            <a:r>
              <a:rPr lang="en-US" sz="1100" b="1" dirty="0">
                <a:solidFill>
                  <a:srgbClr val="FFFFFF"/>
                </a:solidFill>
                <a:latin typeface="Ubuntu" pitchFamily="34" charset="0"/>
                <a:ea typeface="Ubuntu" pitchFamily="34" charset="-122"/>
                <a:cs typeface="Ubuntu" pitchFamily="34" charset="-120"/>
              </a:rPr>
              <a:t>Remote-first navigation</a:t>
            </a:r>
            <a:endParaRPr lang="en-US" sz="1100" dirty="0"/>
          </a:p>
        </p:txBody>
      </p:sp>
      <p:sp>
        <p:nvSpPr>
          <p:cNvPr id="9" name="Text 5"/>
          <p:cNvSpPr/>
          <p:nvPr/>
        </p:nvSpPr>
        <p:spPr>
          <a:xfrm>
            <a:off x="781831" y="1982912"/>
            <a:ext cx="2967038" cy="371475"/>
          </a:xfrm>
          <a:prstGeom prst="rect">
            <a:avLst/>
          </a:prstGeom>
          <a:ln/>
        </p:spPr>
        <p:txBody>
          <a:bodyPr wrap="square" lIns="0" tIns="0" rIns="0" bIns="0" rtlCol="0" anchor="t"/>
          <a:lstStyle/>
          <a:p>
            <a:pPr algn="l" indent="0" marL="0">
              <a:lnSpc>
                <a:spcPts val="1458"/>
              </a:lnSpc>
              <a:buNone/>
            </a:pPr>
            <a:r>
              <a:rPr lang="en-US" sz="900" dirty="0">
                <a:solidFill>
                  <a:srgbClr val="FFFFFF"/>
                </a:solidFill>
                <a:latin typeface="Ubuntu" pitchFamily="34" charset="0"/>
                <a:ea typeface="Ubuntu" pitchFamily="34" charset="-122"/>
                <a:cs typeface="Ubuntu" pitchFamily="34" charset="-120"/>
              </a:rPr>
              <a:t>D-pad focus system built for every major Smart TV platform.</a:t>
            </a:r>
            <a:endParaRPr lang="en-US" sz="900" dirty="0"/>
          </a:p>
        </p:txBody>
      </p:sp>
      <p:sp>
        <p:nvSpPr>
          <p:cNvPr id="10" name="Shape 6"/>
          <p:cNvSpPr/>
          <p:nvPr/>
        </p:nvSpPr>
        <p:spPr>
          <a:xfrm>
            <a:off x="639366" y="2483234"/>
            <a:ext cx="33337" cy="152400"/>
          </a:xfrm>
          <a:prstGeom prst="roundRect">
            <a:avLst>
              <a:gd name="adj" fmla="val 342862"/>
            </a:avLst>
          </a:prstGeom>
          <a:solidFill>
            <a:srgbClr val="01D7FB"/>
          </a:solidFill>
          <a:ln/>
        </p:spPr>
      </p:sp>
      <p:sp>
        <p:nvSpPr>
          <p:cNvPr id="11" name="Text 7"/>
          <p:cNvSpPr/>
          <p:nvPr/>
        </p:nvSpPr>
        <p:spPr>
          <a:xfrm>
            <a:off x="781831" y="2456780"/>
            <a:ext cx="2967038" cy="452437"/>
          </a:xfrm>
          <a:prstGeom prst="rect">
            <a:avLst/>
          </a:prstGeom>
          <a:ln/>
        </p:spPr>
        <p:txBody>
          <a:bodyPr wrap="square" lIns="0" tIns="0" rIns="0" bIns="0" rtlCol="0" anchor="t"/>
          <a:lstStyle/>
          <a:p>
            <a:pPr algn="l" indent="0" marL="0">
              <a:lnSpc>
                <a:spcPts val="1782"/>
              </a:lnSpc>
              <a:spcAft>
                <a:spcPts val="203"/>
              </a:spcAft>
              <a:buNone/>
            </a:pPr>
            <a:r>
              <a:rPr lang="en-US" sz="1100" b="1" dirty="0">
                <a:solidFill>
                  <a:srgbClr val="FFFFFF"/>
                </a:solidFill>
                <a:latin typeface="Ubuntu" pitchFamily="34" charset="0"/>
                <a:ea typeface="Ubuntu" pitchFamily="34" charset="-122"/>
                <a:cs typeface="Ubuntu" pitchFamily="34" charset="-120"/>
              </a:rPr>
              <a:t>Smart discovery by country, genre &amp; language</a:t>
            </a:r>
            <a:endParaRPr lang="en-US" sz="1100" dirty="0"/>
          </a:p>
        </p:txBody>
      </p:sp>
      <p:sp>
        <p:nvSpPr>
          <p:cNvPr id="12" name="Text 8"/>
          <p:cNvSpPr/>
          <p:nvPr/>
        </p:nvSpPr>
        <p:spPr>
          <a:xfrm>
            <a:off x="781831" y="2934444"/>
            <a:ext cx="2967038" cy="371475"/>
          </a:xfrm>
          <a:prstGeom prst="rect">
            <a:avLst/>
          </a:prstGeom>
          <a:ln/>
        </p:spPr>
        <p:txBody>
          <a:bodyPr wrap="square" lIns="0" tIns="0" rIns="0" bIns="0" rtlCol="0" anchor="t"/>
          <a:lstStyle/>
          <a:p>
            <a:pPr algn="l" indent="0" marL="0">
              <a:lnSpc>
                <a:spcPts val="1458"/>
              </a:lnSpc>
              <a:buNone/>
            </a:pPr>
            <a:r>
              <a:rPr lang="en-US" sz="900" dirty="0">
                <a:solidFill>
                  <a:srgbClr val="FFFFFF"/>
                </a:solidFill>
                <a:latin typeface="Ubuntu" pitchFamily="34" charset="0"/>
                <a:ea typeface="Ubuntu" pitchFamily="34" charset="-122"/>
                <a:cs typeface="Ubuntu" pitchFamily="34" charset="-120"/>
              </a:rPr>
              <a:t>Curated browsing across 50K+ stations from 238 countries.</a:t>
            </a:r>
            <a:endParaRPr lang="en-US" sz="900" dirty="0"/>
          </a:p>
        </p:txBody>
      </p:sp>
      <p:sp>
        <p:nvSpPr>
          <p:cNvPr id="13" name="Shape 9"/>
          <p:cNvSpPr/>
          <p:nvPr/>
        </p:nvSpPr>
        <p:spPr>
          <a:xfrm>
            <a:off x="639366" y="3434767"/>
            <a:ext cx="33337" cy="152400"/>
          </a:xfrm>
          <a:prstGeom prst="roundRect">
            <a:avLst>
              <a:gd name="adj" fmla="val 342862"/>
            </a:avLst>
          </a:prstGeom>
          <a:solidFill>
            <a:srgbClr val="FFFFFF">
              <a:alpha val="40000"/>
            </a:srgbClr>
          </a:solidFill>
          <a:ln/>
        </p:spPr>
      </p:sp>
      <p:sp>
        <p:nvSpPr>
          <p:cNvPr id="14" name="Text 10"/>
          <p:cNvSpPr/>
          <p:nvPr/>
        </p:nvSpPr>
        <p:spPr>
          <a:xfrm>
            <a:off x="780715" y="3407048"/>
            <a:ext cx="2771775" cy="228600"/>
          </a:xfrm>
          <a:prstGeom prst="rect">
            <a:avLst/>
          </a:prstGeom>
          <a:ln/>
        </p:spPr>
        <p:txBody>
          <a:bodyPr wrap="square" lIns="0" tIns="0" rIns="0" bIns="0" rtlCol="0" anchor="t"/>
          <a:lstStyle/>
          <a:p>
            <a:pPr algn="l" indent="0" marL="0">
              <a:lnSpc>
                <a:spcPts val="1782"/>
              </a:lnSpc>
              <a:spcAft>
                <a:spcPts val="203"/>
              </a:spcAft>
              <a:buNone/>
            </a:pPr>
            <a:r>
              <a:rPr lang="en-US" sz="1100" b="1" dirty="0">
                <a:solidFill>
                  <a:srgbClr val="FFFFFF"/>
                </a:solidFill>
                <a:latin typeface="Ubuntu" pitchFamily="34" charset="0"/>
                <a:ea typeface="Ubuntu" pitchFamily="34" charset="-122"/>
                <a:cs typeface="Ubuntu" pitchFamily="34" charset="-120"/>
              </a:rPr>
              <a:t>Ambient screensaver mode</a:t>
            </a:r>
            <a:endParaRPr lang="en-US" sz="1100" dirty="0"/>
          </a:p>
        </p:txBody>
      </p:sp>
      <p:sp>
        <p:nvSpPr>
          <p:cNvPr id="15" name="Text 11"/>
          <p:cNvSpPr/>
          <p:nvPr/>
        </p:nvSpPr>
        <p:spPr>
          <a:xfrm>
            <a:off x="780715" y="3659907"/>
            <a:ext cx="2771775" cy="185738"/>
          </a:xfrm>
          <a:prstGeom prst="rect">
            <a:avLst/>
          </a:prstGeom>
          <a:ln/>
        </p:spPr>
        <p:txBody>
          <a:bodyPr wrap="square" lIns="0" tIns="0" rIns="0" bIns="0" rtlCol="0" anchor="t"/>
          <a:lstStyle/>
          <a:p>
            <a:pPr algn="l" indent="0" marL="0">
              <a:lnSpc>
                <a:spcPts val="1458"/>
              </a:lnSpc>
              <a:buNone/>
            </a:pPr>
            <a:r>
              <a:rPr lang="en-US" sz="900" dirty="0">
                <a:solidFill>
                  <a:srgbClr val="FFFFFF"/>
                </a:solidFill>
                <a:latin typeface="Ubuntu" pitchFamily="34" charset="0"/>
                <a:ea typeface="Ubuntu" pitchFamily="34" charset="-122"/>
                <a:cs typeface="Ubuntu" pitchFamily="34" charset="-120"/>
              </a:rPr>
              <a:t>Station art and visualizer fill the screen when idle.</a:t>
            </a:r>
            <a:endParaRPr lang="en-US" sz="900" dirty="0"/>
          </a:p>
        </p:txBody>
      </p:sp>
      <p:sp>
        <p:nvSpPr>
          <p:cNvPr id="16" name="Shape 12"/>
          <p:cNvSpPr/>
          <p:nvPr/>
        </p:nvSpPr>
        <p:spPr>
          <a:xfrm>
            <a:off x="639366" y="3974790"/>
            <a:ext cx="33337" cy="152400"/>
          </a:xfrm>
          <a:prstGeom prst="roundRect">
            <a:avLst>
              <a:gd name="adj" fmla="val 342862"/>
            </a:avLst>
          </a:prstGeom>
          <a:solidFill>
            <a:srgbClr val="FF4199"/>
          </a:solidFill>
          <a:ln/>
        </p:spPr>
      </p:sp>
      <p:sp>
        <p:nvSpPr>
          <p:cNvPr id="17" name="Text 13"/>
          <p:cNvSpPr/>
          <p:nvPr/>
        </p:nvSpPr>
        <p:spPr>
          <a:xfrm>
            <a:off x="781831" y="3947071"/>
            <a:ext cx="2967038" cy="228600"/>
          </a:xfrm>
          <a:prstGeom prst="rect">
            <a:avLst/>
          </a:prstGeom>
          <a:ln/>
        </p:spPr>
        <p:txBody>
          <a:bodyPr wrap="square" lIns="0" tIns="0" rIns="0" bIns="0" rtlCol="0" anchor="t"/>
          <a:lstStyle/>
          <a:p>
            <a:pPr algn="l" indent="0" marL="0">
              <a:lnSpc>
                <a:spcPts val="1782"/>
              </a:lnSpc>
              <a:spcAft>
                <a:spcPts val="203"/>
              </a:spcAft>
              <a:buNone/>
            </a:pPr>
            <a:r>
              <a:rPr lang="en-US" sz="1100" b="1" dirty="0">
                <a:solidFill>
                  <a:srgbClr val="FFFFFF"/>
                </a:solidFill>
                <a:latin typeface="Ubuntu" pitchFamily="34" charset="0"/>
                <a:ea typeface="Ubuntu" pitchFamily="34" charset="-122"/>
                <a:cs typeface="Ubuntu" pitchFamily="34" charset="-120"/>
              </a:rPr>
              <a:t>Device-code login &amp; cross-device sync</a:t>
            </a:r>
            <a:endParaRPr lang="en-US" sz="1100" dirty="0"/>
          </a:p>
        </p:txBody>
      </p:sp>
      <p:sp>
        <p:nvSpPr>
          <p:cNvPr id="18" name="Text 14"/>
          <p:cNvSpPr/>
          <p:nvPr/>
        </p:nvSpPr>
        <p:spPr>
          <a:xfrm>
            <a:off x="781831" y="4199632"/>
            <a:ext cx="2967038" cy="371475"/>
          </a:xfrm>
          <a:prstGeom prst="rect">
            <a:avLst/>
          </a:prstGeom>
          <a:ln/>
        </p:spPr>
        <p:txBody>
          <a:bodyPr wrap="square" lIns="0" tIns="0" rIns="0" bIns="0" rtlCol="0" anchor="t"/>
          <a:lstStyle/>
          <a:p>
            <a:pPr algn="l" indent="0" marL="0">
              <a:lnSpc>
                <a:spcPts val="1458"/>
              </a:lnSpc>
              <a:buNone/>
            </a:pPr>
            <a:r>
              <a:rPr lang="en-US" sz="900" dirty="0">
                <a:solidFill>
                  <a:srgbClr val="FFFFFF"/>
                </a:solidFill>
                <a:latin typeface="Ubuntu" pitchFamily="34" charset="0"/>
                <a:ea typeface="Ubuntu" pitchFamily="34" charset="-122"/>
                <a:cs typeface="Ubuntu" pitchFamily="34" charset="-120"/>
              </a:rPr>
              <a:t>Scan a QR on your phone to log in — no TV keyboard needed.</a:t>
            </a:r>
            <a:endParaRPr lang="en-US" sz="900" dirty="0"/>
          </a:p>
        </p:txBody>
      </p:sp>
      <p:sp>
        <p:nvSpPr>
          <p:cNvPr id="19" name="Shape 15"/>
          <p:cNvSpPr/>
          <p:nvPr/>
        </p:nvSpPr>
        <p:spPr>
          <a:xfrm>
            <a:off x="4206367" y="1788244"/>
            <a:ext cx="2776537" cy="1566862"/>
          </a:xfrm>
          <a:prstGeom prst="roundRect">
            <a:avLst>
              <a:gd name="adj" fmla="val 3406"/>
            </a:avLst>
          </a:prstGeom>
          <a:ln w="4763">
            <a:solidFill>
              <a:srgbClr val="FF4199">
                <a:alpha val="20000"/>
              </a:srgbClr>
            </a:solidFill>
            <a:prstDash val="solid"/>
          </a:ln>
          <a:effectLst>
            <a:outerShdw sx="100000" sy="100000" kx="0" ky="0" algn="bl" rotWithShape="0" blurRad="365760" dist="50800" dir="16200000">
              <a:srgbClr val="FF4199">
                <a:alpha val="20000"/>
              </a:srgbClr>
            </a:outerShdw>
          </a:effectLst>
        </p:spPr>
      </p:sp>
      <p:pic>
        <p:nvPicPr>
          <p:cNvPr id="20" name="Image 2" descr="preencoded.png">    </p:cNvPr>
          <p:cNvPicPr>
            <a:picLocks noChangeAspect="1"/>
          </p:cNvPicPr>
          <p:nvPr/>
        </p:nvPicPr>
        <p:blipFill>
          <a:blip r:embed="rId5"/>
          <a:stretch>
            <a:fillRect/>
          </a:stretch>
        </p:blipFill>
        <p:spPr>
          <a:xfrm>
            <a:off x="4211129" y="1793007"/>
            <a:ext cx="2767013" cy="1557338"/>
          </a:xfrm>
          <a:prstGeom prst="rect">
            <a:avLst/>
          </a:prstGeom>
        </p:spPr>
      </p:pic>
      <p:sp>
        <p:nvSpPr>
          <p:cNvPr id="21" name="Shape 16"/>
          <p:cNvSpPr/>
          <p:nvPr/>
        </p:nvSpPr>
        <p:spPr>
          <a:xfrm>
            <a:off x="7119156" y="1721383"/>
            <a:ext cx="1385888" cy="781050"/>
          </a:xfrm>
          <a:prstGeom prst="roundRect">
            <a:avLst>
              <a:gd name="adj" fmla="val 10965"/>
            </a:avLst>
          </a:prstGeom>
          <a:ln w="4763">
            <a:solidFill>
              <a:srgbClr val="01D7FB">
                <a:alpha val="15000"/>
              </a:srgbClr>
            </a:solidFill>
            <a:prstDash val="solid"/>
          </a:ln>
          <a:effectLst>
            <a:outerShdw sx="100000" sy="100000" kx="0" ky="0" algn="bl" rotWithShape="0" blurRad="182880" dist="50800" dir="16200000">
              <a:srgbClr val="01D7FB">
                <a:alpha val="15000"/>
              </a:srgbClr>
            </a:outerShdw>
          </a:effectLst>
        </p:spPr>
      </p:sp>
      <p:pic>
        <p:nvPicPr>
          <p:cNvPr id="22" name="Image 3" descr="preencoded.png">    </p:cNvPr>
          <p:cNvPicPr>
            <a:picLocks noChangeAspect="1"/>
          </p:cNvPicPr>
          <p:nvPr/>
        </p:nvPicPr>
        <p:blipFill>
          <a:blip r:embed="rId6"/>
          <a:stretch>
            <a:fillRect/>
          </a:stretch>
        </p:blipFill>
        <p:spPr>
          <a:xfrm>
            <a:off x="7123919" y="1726146"/>
            <a:ext cx="1376363" cy="771525"/>
          </a:xfrm>
          <a:prstGeom prst="rect">
            <a:avLst/>
          </a:prstGeom>
        </p:spPr>
      </p:pic>
      <p:sp>
        <p:nvSpPr>
          <p:cNvPr id="23" name="Shape 17"/>
          <p:cNvSpPr/>
          <p:nvPr/>
        </p:nvSpPr>
        <p:spPr>
          <a:xfrm>
            <a:off x="7119156" y="2640992"/>
            <a:ext cx="1385888" cy="781050"/>
          </a:xfrm>
          <a:prstGeom prst="roundRect">
            <a:avLst>
              <a:gd name="adj" fmla="val 10965"/>
            </a:avLst>
          </a:prstGeom>
          <a:ln w="4763">
            <a:solidFill>
              <a:srgbClr val="FFFFFF">
                <a:alpha val="8000"/>
              </a:srgbClr>
            </a:solidFill>
            <a:prstDash val="solid"/>
          </a:ln>
        </p:spPr>
      </p:sp>
      <p:pic>
        <p:nvPicPr>
          <p:cNvPr id="24" name="Image 4" descr="preencoded.png">    </p:cNvPr>
          <p:cNvPicPr>
            <a:picLocks noChangeAspect="1"/>
          </p:cNvPicPr>
          <p:nvPr/>
        </p:nvPicPr>
        <p:blipFill>
          <a:blip r:embed="rId7"/>
          <a:stretch>
            <a:fillRect/>
          </a:stretch>
        </p:blipFill>
        <p:spPr>
          <a:xfrm>
            <a:off x="7123919" y="2645755"/>
            <a:ext cx="1376363" cy="771525"/>
          </a:xfrm>
          <a:prstGeom prst="rect">
            <a:avLst/>
          </a:prstGeom>
        </p:spPr>
      </p:pic>
      <p:sp>
        <p:nvSpPr>
          <p:cNvPr id="25" name="Text 18"/>
          <p:cNvSpPr/>
          <p:nvPr/>
        </p:nvSpPr>
        <p:spPr>
          <a:xfrm>
            <a:off x="0" y="4781848"/>
            <a:ext cx="9144000" cy="361950"/>
          </a:xfrm>
          <a:prstGeom prst="rect">
            <a:avLst/>
          </a:prstGeom>
          <a:ln/>
        </p:spPr>
        <p:txBody>
          <a:bodyPr wrap="square" lIns="0" tIns="0" rIns="0" bIns="0" rtlCol="0" anchor="t"/>
          <a:lstStyle/>
          <a:p>
            <a:pPr algn="l" indent="0" marL="0">
              <a:lnSpc>
                <a:spcPts val="1188"/>
              </a:lnSpc>
              <a:buNone/>
            </a:pPr>
            <a:r>
              <a:rPr lang="en-US" sz="700" dirty="0">
                <a:solidFill>
                  <a:srgbClr val="FFFFFF"/>
                </a:solidFill>
                <a:latin typeface="Ubuntu" pitchFamily="34" charset="0"/>
                <a:ea typeface="Ubuntu" pitchFamily="34" charset="-122"/>
                <a:cs typeface="Ubuntu" pitchFamily="34" charset="-120"/>
              </a:rPr>
              <a:t>RADIO MEGA</a:t>
            </a:r>
            <a:pPr algn="l" indent="0" marL="0">
              <a:lnSpc>
                <a:spcPts val="1188"/>
              </a:lnSpc>
              <a:buNone/>
            </a:pPr>
            <a:r>
              <a:rPr lang="en-US" sz="700" dirty="0">
                <a:solidFill>
                  <a:srgbClr val="FFFFFF"/>
                </a:solidFill>
                <a:latin typeface="Ubuntu" pitchFamily="34" charset="0"/>
                <a:ea typeface="Ubuntu" pitchFamily="34" charset="-122"/>
                <a:cs typeface="Ubuntu" pitchFamily="34" charset="-120"/>
              </a:rPr>
              <a:t>4 / 18</a:t>
            </a:r>
            <a:endParaRPr lang="en-US" sz="700" dirty="0"/>
          </a:p>
        </p:txBody>
      </p:sp>
      <p:pic>
        <p:nvPicPr>
          <p:cNvPr id="26" name="Image 5" descr="preencoded.png">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0" y="4781848"/>
            <a:ext cx="9144000" cy="36195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E0E0E"/>
          </a:solidFill>
          <a:ln/>
        </p:spPr>
      </p:sp>
      <p:pic>
        <p:nvPicPr>
          <p:cNvPr id="3"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0" y="0"/>
            <a:ext cx="9144000" cy="5143500"/>
          </a:xfrm>
          <a:prstGeom prst="rect">
            <a:avLst/>
          </a:prstGeom>
        </p:spPr>
      </p:pic>
      <p:pic>
        <p:nvPicPr>
          <p:cNvPr id="4"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948252" y="2119327"/>
            <a:ext cx="4002405" cy="4002405"/>
          </a:xfrm>
          <a:prstGeom prst="rect">
            <a:avLst/>
          </a:prstGeom>
        </p:spPr>
      </p:pic>
      <p:sp>
        <p:nvSpPr>
          <p:cNvPr id="5" name="Text 1"/>
          <p:cNvSpPr/>
          <p:nvPr/>
        </p:nvSpPr>
        <p:spPr>
          <a:xfrm>
            <a:off x="731044" y="359532"/>
            <a:ext cx="7681912" cy="138113"/>
          </a:xfrm>
          <a:prstGeom prst="rect">
            <a:avLst/>
          </a:prstGeom>
          <a:ln/>
        </p:spPr>
        <p:txBody>
          <a:bodyPr wrap="square" lIns="0" tIns="0" rIns="0" bIns="0" rtlCol="0" anchor="t"/>
          <a:lstStyle/>
          <a:p>
            <a:pPr algn="l" indent="0" marL="0">
              <a:lnSpc>
                <a:spcPts val="1080"/>
              </a:lnSpc>
              <a:spcAft>
                <a:spcPts val="810"/>
              </a:spcAft>
              <a:buNone/>
            </a:pPr>
            <a:r>
              <a:rPr lang="en-US" sz="700" b="1" dirty="0">
                <a:solidFill>
                  <a:srgbClr val="01D7FB"/>
                </a:solidFill>
                <a:latin typeface="Ubuntu" pitchFamily="34" charset="0"/>
                <a:ea typeface="Ubuntu" pitchFamily="34" charset="-122"/>
                <a:cs typeface="Ubuntu" pitchFamily="34" charset="-120"/>
              </a:rPr>
              <a:t>MARKET SIZE</a:t>
            </a:r>
            <a:endParaRPr lang="en-US" sz="700" dirty="0"/>
          </a:p>
        </p:txBody>
      </p:sp>
      <p:sp>
        <p:nvSpPr>
          <p:cNvPr id="6" name="Text 2"/>
          <p:cNvSpPr/>
          <p:nvPr/>
        </p:nvSpPr>
        <p:spPr>
          <a:xfrm>
            <a:off x="731044" y="599852"/>
            <a:ext cx="7681912" cy="804862"/>
          </a:xfrm>
          <a:prstGeom prst="rect">
            <a:avLst/>
          </a:prstGeom>
          <a:ln/>
        </p:spPr>
        <p:txBody>
          <a:bodyPr wrap="square" lIns="0" tIns="0" rIns="0" bIns="0" rtlCol="0" anchor="t"/>
          <a:lstStyle/>
          <a:p>
            <a:pPr algn="l" indent="0" marL="0">
              <a:lnSpc>
                <a:spcPts val="3168"/>
              </a:lnSpc>
              <a:buNone/>
            </a:pPr>
            <a:r>
              <a:rPr lang="en-US" sz="2800" b="1" dirty="0">
                <a:solidFill>
                  <a:srgbClr val="FFFFFF"/>
                </a:solidFill>
                <a:latin typeface="Ubuntu" pitchFamily="34" charset="0"/>
                <a:ea typeface="Ubuntu" pitchFamily="34" charset="-122"/>
                <a:cs typeface="Ubuntu" pitchFamily="34" charset="-120"/>
              </a:rPr>
              <a:t>A $50B+ addressable market growing at 15% per year</a:t>
            </a:r>
            <a:endParaRPr lang="en-US" sz="2800" dirty="0"/>
          </a:p>
        </p:txBody>
      </p:sp>
      <p:sp>
        <p:nvSpPr>
          <p:cNvPr id="7" name="Shape 3"/>
          <p:cNvSpPr/>
          <p:nvPr/>
        </p:nvSpPr>
        <p:spPr>
          <a:xfrm>
            <a:off x="730523" y="2012677"/>
            <a:ext cx="2409825" cy="1747838"/>
          </a:xfrm>
          <a:prstGeom prst="roundRect">
            <a:avLst>
              <a:gd name="adj" fmla="val 3284"/>
            </a:avLst>
          </a:prstGeom>
          <a:solidFill>
            <a:srgbClr val="FF4199">
              <a:alpha val="4000"/>
            </a:srgbClr>
          </a:solidFill>
          <a:ln w="4763">
            <a:solidFill>
              <a:srgbClr val="FF4199">
                <a:alpha val="12000"/>
              </a:srgbClr>
            </a:solidFill>
            <a:prstDash val="solid"/>
          </a:ln>
        </p:spPr>
      </p:sp>
      <p:sp>
        <p:nvSpPr>
          <p:cNvPr id="8" name="Text 4"/>
          <p:cNvSpPr/>
          <p:nvPr/>
        </p:nvSpPr>
        <p:spPr>
          <a:xfrm>
            <a:off x="918642" y="2172184"/>
            <a:ext cx="2033587" cy="138113"/>
          </a:xfrm>
          <a:prstGeom prst="rect">
            <a:avLst/>
          </a:prstGeom>
          <a:ln/>
        </p:spPr>
        <p:txBody>
          <a:bodyPr wrap="square" lIns="0" tIns="0" rIns="0" bIns="0" rtlCol="0" anchor="t"/>
          <a:lstStyle/>
          <a:p>
            <a:pPr algn="ctr" indent="0" marL="0">
              <a:lnSpc>
                <a:spcPts val="1080"/>
              </a:lnSpc>
              <a:spcAft>
                <a:spcPts val="607"/>
              </a:spcAft>
              <a:buNone/>
            </a:pPr>
            <a:r>
              <a:rPr lang="en-US" sz="700" b="1" dirty="0">
                <a:solidFill>
                  <a:srgbClr val="FFFFFF"/>
                </a:solidFill>
                <a:latin typeface="Ubuntu" pitchFamily="34" charset="0"/>
                <a:ea typeface="Ubuntu" pitchFamily="34" charset="-122"/>
                <a:cs typeface="Ubuntu" pitchFamily="34" charset="-120"/>
              </a:rPr>
              <a:t>TAM</a:t>
            </a:r>
            <a:endParaRPr lang="en-US" sz="700" dirty="0"/>
          </a:p>
        </p:txBody>
      </p:sp>
      <p:sp>
        <p:nvSpPr>
          <p:cNvPr id="9" name="Text 5"/>
          <p:cNvSpPr/>
          <p:nvPr/>
        </p:nvSpPr>
        <p:spPr>
          <a:xfrm>
            <a:off x="918642" y="2387389"/>
            <a:ext cx="2033587" cy="547687"/>
          </a:xfrm>
          <a:prstGeom prst="rect">
            <a:avLst/>
          </a:prstGeom>
          <a:ln/>
        </p:spPr>
        <p:txBody>
          <a:bodyPr wrap="square" lIns="0" tIns="0" rIns="0" bIns="0" rtlCol="0" anchor="t"/>
          <a:lstStyle/>
          <a:p>
            <a:pPr algn="ctr" indent="0" marL="0">
              <a:lnSpc>
                <a:spcPts val="4320"/>
              </a:lnSpc>
              <a:spcAft>
                <a:spcPts val="405"/>
              </a:spcAft>
              <a:buNone/>
            </a:pPr>
            <a:r>
              <a:rPr lang="en-US" sz="4300" b="1" dirty="0">
                <a:solidFill>
                  <a:srgbClr val="FF4199"/>
                </a:solidFill>
                <a:latin typeface="Ubuntu" pitchFamily="34" charset="0"/>
                <a:ea typeface="Ubuntu" pitchFamily="34" charset="-122"/>
                <a:cs typeface="Ubuntu" pitchFamily="34" charset="-120"/>
              </a:rPr>
              <a:t>$52B</a:t>
            </a:r>
            <a:endParaRPr lang="en-US" sz="4300" dirty="0"/>
          </a:p>
        </p:txBody>
      </p:sp>
      <p:sp>
        <p:nvSpPr>
          <p:cNvPr id="10" name="Text 6"/>
          <p:cNvSpPr/>
          <p:nvPr/>
        </p:nvSpPr>
        <p:spPr>
          <a:xfrm>
            <a:off x="918642" y="2987427"/>
            <a:ext cx="2033587" cy="204787"/>
          </a:xfrm>
          <a:prstGeom prst="rect">
            <a:avLst/>
          </a:prstGeom>
          <a:ln/>
        </p:spPr>
        <p:txBody>
          <a:bodyPr wrap="square" lIns="0" tIns="0" rIns="0" bIns="0" rtlCol="0" anchor="t"/>
          <a:lstStyle/>
          <a:p>
            <a:pPr algn="ctr" indent="0" marL="0">
              <a:lnSpc>
                <a:spcPts val="1620"/>
              </a:lnSpc>
              <a:spcAft>
                <a:spcPts val="405"/>
              </a:spcAft>
              <a:buNone/>
            </a:pPr>
            <a:r>
              <a:rPr lang="en-US" sz="1000" b="1" dirty="0">
                <a:solidFill>
                  <a:srgbClr val="FFFFFF"/>
                </a:solidFill>
                <a:latin typeface="Ubuntu" pitchFamily="34" charset="0"/>
                <a:ea typeface="Ubuntu" pitchFamily="34" charset="-122"/>
                <a:cs typeface="Ubuntu" pitchFamily="34" charset="-120"/>
              </a:rPr>
              <a:t>Global online audio</a:t>
            </a:r>
            <a:endParaRPr lang="en-US" sz="1000" dirty="0"/>
          </a:p>
        </p:txBody>
      </p:sp>
      <p:sp>
        <p:nvSpPr>
          <p:cNvPr id="11" name="Text 7"/>
          <p:cNvSpPr/>
          <p:nvPr/>
        </p:nvSpPr>
        <p:spPr>
          <a:xfrm>
            <a:off x="918642" y="3243709"/>
            <a:ext cx="2033587" cy="357188"/>
          </a:xfrm>
          <a:prstGeom prst="rect">
            <a:avLst/>
          </a:prstGeom>
          <a:ln/>
        </p:spPr>
        <p:txBody>
          <a:bodyPr wrap="square" lIns="0" tIns="0" rIns="0" bIns="0" rtlCol="0" anchor="t"/>
          <a:lstStyle/>
          <a:p>
            <a:pPr algn="ctr" indent="0" marL="0">
              <a:lnSpc>
                <a:spcPts val="1404"/>
              </a:lnSpc>
              <a:buNone/>
            </a:pPr>
            <a:r>
              <a:rPr lang="en-US" sz="900" dirty="0">
                <a:solidFill>
                  <a:srgbClr val="FFFFFF"/>
                </a:solidFill>
                <a:latin typeface="Ubuntu" pitchFamily="34" charset="0"/>
                <a:ea typeface="Ubuntu" pitchFamily="34" charset="-122"/>
                <a:cs typeface="Ubuntu" pitchFamily="34" charset="-120"/>
              </a:rPr>
              <a:t>Streaming radio, podcasts, and live audio worldwide (2025 estimate)</a:t>
            </a:r>
            <a:endParaRPr lang="en-US" sz="900" dirty="0"/>
          </a:p>
        </p:txBody>
      </p:sp>
      <p:sp>
        <p:nvSpPr>
          <p:cNvPr id="12" name="Shape 8"/>
          <p:cNvSpPr/>
          <p:nvPr/>
        </p:nvSpPr>
        <p:spPr>
          <a:xfrm>
            <a:off x="3367050" y="1924534"/>
            <a:ext cx="2409825" cy="1924050"/>
          </a:xfrm>
          <a:prstGeom prst="roundRect">
            <a:avLst>
              <a:gd name="adj" fmla="val 2710"/>
            </a:avLst>
          </a:prstGeom>
          <a:solidFill>
            <a:srgbClr val="01D7FB">
              <a:alpha val="4000"/>
            </a:srgbClr>
          </a:solidFill>
          <a:ln w="4763">
            <a:solidFill>
              <a:srgbClr val="01D7FB">
                <a:alpha val="15000"/>
              </a:srgbClr>
            </a:solidFill>
            <a:prstDash val="solid"/>
          </a:ln>
        </p:spPr>
      </p:sp>
      <p:sp>
        <p:nvSpPr>
          <p:cNvPr id="13" name="Text 9"/>
          <p:cNvSpPr/>
          <p:nvPr/>
        </p:nvSpPr>
        <p:spPr>
          <a:xfrm>
            <a:off x="3555169" y="2083036"/>
            <a:ext cx="2033587" cy="138113"/>
          </a:xfrm>
          <a:prstGeom prst="rect">
            <a:avLst/>
          </a:prstGeom>
          <a:ln/>
        </p:spPr>
        <p:txBody>
          <a:bodyPr wrap="square" lIns="0" tIns="0" rIns="0" bIns="0" rtlCol="0" anchor="t"/>
          <a:lstStyle/>
          <a:p>
            <a:pPr algn="ctr" indent="0" marL="0">
              <a:lnSpc>
                <a:spcPts val="1080"/>
              </a:lnSpc>
              <a:spcAft>
                <a:spcPts val="607"/>
              </a:spcAft>
              <a:buNone/>
            </a:pPr>
            <a:r>
              <a:rPr lang="en-US" sz="700" b="1" dirty="0">
                <a:solidFill>
                  <a:srgbClr val="FFFFFF"/>
                </a:solidFill>
                <a:latin typeface="Ubuntu" pitchFamily="34" charset="0"/>
                <a:ea typeface="Ubuntu" pitchFamily="34" charset="-122"/>
                <a:cs typeface="Ubuntu" pitchFamily="34" charset="-120"/>
              </a:rPr>
              <a:t>SAM</a:t>
            </a:r>
            <a:endParaRPr lang="en-US" sz="700" dirty="0"/>
          </a:p>
        </p:txBody>
      </p:sp>
      <p:sp>
        <p:nvSpPr>
          <p:cNvPr id="14" name="Text 10"/>
          <p:cNvSpPr/>
          <p:nvPr/>
        </p:nvSpPr>
        <p:spPr>
          <a:xfrm>
            <a:off x="3555169" y="2298241"/>
            <a:ext cx="2033587" cy="547687"/>
          </a:xfrm>
          <a:prstGeom prst="rect">
            <a:avLst/>
          </a:prstGeom>
          <a:ln/>
        </p:spPr>
        <p:txBody>
          <a:bodyPr wrap="square" lIns="0" tIns="0" rIns="0" bIns="0" rtlCol="0" anchor="t"/>
          <a:lstStyle/>
          <a:p>
            <a:pPr algn="ctr" indent="0" marL="0">
              <a:lnSpc>
                <a:spcPts val="4320"/>
              </a:lnSpc>
              <a:spcAft>
                <a:spcPts val="405"/>
              </a:spcAft>
              <a:buNone/>
            </a:pPr>
            <a:r>
              <a:rPr lang="en-US" sz="4300" b="1" dirty="0">
                <a:solidFill>
                  <a:srgbClr val="01D7FB"/>
                </a:solidFill>
                <a:latin typeface="Ubuntu" pitchFamily="34" charset="0"/>
                <a:ea typeface="Ubuntu" pitchFamily="34" charset="-122"/>
                <a:cs typeface="Ubuntu" pitchFamily="34" charset="-120"/>
              </a:rPr>
              <a:t>$14B</a:t>
            </a:r>
            <a:endParaRPr lang="en-US" sz="4300" dirty="0"/>
          </a:p>
        </p:txBody>
      </p:sp>
      <p:sp>
        <p:nvSpPr>
          <p:cNvPr id="15" name="Text 11"/>
          <p:cNvSpPr/>
          <p:nvPr/>
        </p:nvSpPr>
        <p:spPr>
          <a:xfrm>
            <a:off x="3555169" y="2898279"/>
            <a:ext cx="2033587" cy="204787"/>
          </a:xfrm>
          <a:prstGeom prst="rect">
            <a:avLst/>
          </a:prstGeom>
          <a:ln/>
        </p:spPr>
        <p:txBody>
          <a:bodyPr wrap="square" lIns="0" tIns="0" rIns="0" bIns="0" rtlCol="0" anchor="t"/>
          <a:lstStyle/>
          <a:p>
            <a:pPr algn="ctr" indent="0" marL="0">
              <a:lnSpc>
                <a:spcPts val="1620"/>
              </a:lnSpc>
              <a:spcAft>
                <a:spcPts val="405"/>
              </a:spcAft>
              <a:buNone/>
            </a:pPr>
            <a:r>
              <a:rPr lang="en-US" sz="1000" b="1" dirty="0">
                <a:solidFill>
                  <a:srgbClr val="FFFFFF"/>
                </a:solidFill>
                <a:latin typeface="Ubuntu" pitchFamily="34" charset="0"/>
                <a:ea typeface="Ubuntu" pitchFamily="34" charset="-122"/>
                <a:cs typeface="Ubuntu" pitchFamily="34" charset="-120"/>
              </a:rPr>
              <a:t>Smart TV audio</a:t>
            </a:r>
            <a:endParaRPr lang="en-US" sz="1000" dirty="0"/>
          </a:p>
        </p:txBody>
      </p:sp>
      <p:sp>
        <p:nvSpPr>
          <p:cNvPr id="16" name="Text 12"/>
          <p:cNvSpPr/>
          <p:nvPr/>
        </p:nvSpPr>
        <p:spPr>
          <a:xfrm>
            <a:off x="3555169" y="3155566"/>
            <a:ext cx="2033587" cy="533400"/>
          </a:xfrm>
          <a:prstGeom prst="rect">
            <a:avLst/>
          </a:prstGeom>
          <a:ln/>
        </p:spPr>
        <p:txBody>
          <a:bodyPr wrap="square" lIns="0" tIns="0" rIns="0" bIns="0" rtlCol="0" anchor="t"/>
          <a:lstStyle/>
          <a:p>
            <a:pPr algn="ctr" indent="0" marL="0">
              <a:lnSpc>
                <a:spcPts val="1404"/>
              </a:lnSpc>
              <a:buNone/>
            </a:pPr>
            <a:r>
              <a:rPr lang="en-US" sz="900" dirty="0">
                <a:solidFill>
                  <a:srgbClr val="FFFFFF"/>
                </a:solidFill>
                <a:latin typeface="Ubuntu" pitchFamily="34" charset="0"/>
                <a:ea typeface="Ubuntu" pitchFamily="34" charset="-122"/>
                <a:cs typeface="Ubuntu" pitchFamily="34" charset="-120"/>
              </a:rPr>
              <a:t>Radio and audio consumed via connected TV and OTT devices globally</a:t>
            </a:r>
            <a:endParaRPr lang="en-US" sz="900" dirty="0"/>
          </a:p>
        </p:txBody>
      </p:sp>
      <p:sp>
        <p:nvSpPr>
          <p:cNvPr id="17" name="Shape 13"/>
          <p:cNvSpPr/>
          <p:nvPr/>
        </p:nvSpPr>
        <p:spPr>
          <a:xfrm>
            <a:off x="6003578" y="2012677"/>
            <a:ext cx="2409825" cy="1747838"/>
          </a:xfrm>
          <a:prstGeom prst="roundRect">
            <a:avLst>
              <a:gd name="adj" fmla="val 3284"/>
            </a:avLst>
          </a:prstGeom>
          <a:solidFill>
            <a:srgbClr val="FFFFFF">
              <a:alpha val="3000"/>
            </a:srgbClr>
          </a:solidFill>
          <a:ln w="4763">
            <a:solidFill>
              <a:srgbClr val="FFFFFF">
                <a:alpha val="10000"/>
              </a:srgbClr>
            </a:solidFill>
            <a:prstDash val="solid"/>
          </a:ln>
        </p:spPr>
      </p:sp>
      <p:sp>
        <p:nvSpPr>
          <p:cNvPr id="18" name="Text 14"/>
          <p:cNvSpPr/>
          <p:nvPr/>
        </p:nvSpPr>
        <p:spPr>
          <a:xfrm>
            <a:off x="6191696" y="2172184"/>
            <a:ext cx="2033587" cy="138113"/>
          </a:xfrm>
          <a:prstGeom prst="rect">
            <a:avLst/>
          </a:prstGeom>
          <a:ln/>
        </p:spPr>
        <p:txBody>
          <a:bodyPr wrap="square" lIns="0" tIns="0" rIns="0" bIns="0" rtlCol="0" anchor="t"/>
          <a:lstStyle/>
          <a:p>
            <a:pPr algn="ctr" indent="0" marL="0">
              <a:lnSpc>
                <a:spcPts val="1080"/>
              </a:lnSpc>
              <a:spcAft>
                <a:spcPts val="607"/>
              </a:spcAft>
              <a:buNone/>
            </a:pPr>
            <a:r>
              <a:rPr lang="en-US" sz="700" b="1" dirty="0">
                <a:solidFill>
                  <a:srgbClr val="FFFFFF"/>
                </a:solidFill>
                <a:latin typeface="Ubuntu" pitchFamily="34" charset="0"/>
                <a:ea typeface="Ubuntu" pitchFamily="34" charset="-122"/>
                <a:cs typeface="Ubuntu" pitchFamily="34" charset="-120"/>
              </a:rPr>
              <a:t>SOM</a:t>
            </a:r>
            <a:endParaRPr lang="en-US" sz="700" dirty="0"/>
          </a:p>
        </p:txBody>
      </p:sp>
      <p:sp>
        <p:nvSpPr>
          <p:cNvPr id="19" name="Text 15"/>
          <p:cNvSpPr/>
          <p:nvPr/>
        </p:nvSpPr>
        <p:spPr>
          <a:xfrm>
            <a:off x="6191696" y="2387389"/>
            <a:ext cx="2033587" cy="547687"/>
          </a:xfrm>
          <a:prstGeom prst="rect">
            <a:avLst/>
          </a:prstGeom>
          <a:ln/>
        </p:spPr>
        <p:txBody>
          <a:bodyPr wrap="square" lIns="0" tIns="0" rIns="0" bIns="0" rtlCol="0" anchor="t"/>
          <a:lstStyle/>
          <a:p>
            <a:pPr algn="ctr" indent="0" marL="0">
              <a:lnSpc>
                <a:spcPts val="4320"/>
              </a:lnSpc>
              <a:spcAft>
                <a:spcPts val="405"/>
              </a:spcAft>
              <a:buNone/>
            </a:pPr>
            <a:r>
              <a:rPr lang="en-US" sz="4300" b="1" dirty="0">
                <a:solidFill>
                  <a:srgbClr val="FFFFFF"/>
                </a:solidFill>
                <a:latin typeface="Ubuntu" pitchFamily="34" charset="0"/>
                <a:ea typeface="Ubuntu" pitchFamily="34" charset="-122"/>
                <a:cs typeface="Ubuntu" pitchFamily="34" charset="-120"/>
              </a:rPr>
              <a:t>$800M</a:t>
            </a:r>
            <a:endParaRPr lang="en-US" sz="4300" dirty="0"/>
          </a:p>
        </p:txBody>
      </p:sp>
      <p:sp>
        <p:nvSpPr>
          <p:cNvPr id="20" name="Text 16"/>
          <p:cNvSpPr/>
          <p:nvPr/>
        </p:nvSpPr>
        <p:spPr>
          <a:xfrm>
            <a:off x="6191696" y="2987427"/>
            <a:ext cx="2033587" cy="204787"/>
          </a:xfrm>
          <a:prstGeom prst="rect">
            <a:avLst/>
          </a:prstGeom>
          <a:ln/>
        </p:spPr>
        <p:txBody>
          <a:bodyPr wrap="square" lIns="0" tIns="0" rIns="0" bIns="0" rtlCol="0" anchor="t"/>
          <a:lstStyle/>
          <a:p>
            <a:pPr algn="ctr" indent="0" marL="0">
              <a:lnSpc>
                <a:spcPts val="1620"/>
              </a:lnSpc>
              <a:spcAft>
                <a:spcPts val="405"/>
              </a:spcAft>
              <a:buNone/>
            </a:pPr>
            <a:r>
              <a:rPr lang="en-US" sz="1000" b="1" dirty="0">
                <a:solidFill>
                  <a:srgbClr val="FFFFFF"/>
                </a:solidFill>
                <a:latin typeface="Ubuntu" pitchFamily="34" charset="0"/>
                <a:ea typeface="Ubuntu" pitchFamily="34" charset="-122"/>
                <a:cs typeface="Ubuntu" pitchFamily="34" charset="-120"/>
              </a:rPr>
              <a:t>5-year target</a:t>
            </a:r>
            <a:endParaRPr lang="en-US" sz="1000" dirty="0"/>
          </a:p>
        </p:txBody>
      </p:sp>
      <p:sp>
        <p:nvSpPr>
          <p:cNvPr id="21" name="Text 17"/>
          <p:cNvSpPr/>
          <p:nvPr/>
        </p:nvSpPr>
        <p:spPr>
          <a:xfrm>
            <a:off x="6191696" y="3243709"/>
            <a:ext cx="2033587" cy="357188"/>
          </a:xfrm>
          <a:prstGeom prst="rect">
            <a:avLst/>
          </a:prstGeom>
          <a:ln/>
        </p:spPr>
        <p:txBody>
          <a:bodyPr wrap="square" lIns="0" tIns="0" rIns="0" bIns="0" rtlCol="0" anchor="t"/>
          <a:lstStyle/>
          <a:p>
            <a:pPr algn="ctr" indent="0" marL="0">
              <a:lnSpc>
                <a:spcPts val="1404"/>
              </a:lnSpc>
              <a:buNone/>
            </a:pPr>
            <a:r>
              <a:rPr lang="en-US" sz="900" dirty="0">
                <a:solidFill>
                  <a:srgbClr val="FFFFFF"/>
                </a:solidFill>
                <a:latin typeface="Ubuntu" pitchFamily="34" charset="0"/>
                <a:ea typeface="Ubuntu" pitchFamily="34" charset="-122"/>
                <a:cs typeface="Ubuntu" pitchFamily="34" charset="-120"/>
              </a:rPr>
              <a:t>1% capture of SAM through premium + B2B channels by 2030</a:t>
            </a:r>
            <a:endParaRPr lang="en-US" sz="900" dirty="0"/>
          </a:p>
        </p:txBody>
      </p:sp>
      <p:sp>
        <p:nvSpPr>
          <p:cNvPr id="22" name="Text 18"/>
          <p:cNvSpPr/>
          <p:nvPr/>
        </p:nvSpPr>
        <p:spPr>
          <a:xfrm>
            <a:off x="731788" y="4316946"/>
            <a:ext cx="2157413" cy="466725"/>
          </a:xfrm>
          <a:prstGeom prst="rect">
            <a:avLst/>
          </a:prstGeom>
          <a:ln/>
        </p:spPr>
        <p:txBody>
          <a:bodyPr wrap="square" lIns="0" tIns="0" rIns="0" bIns="0" rtlCol="0" anchor="t"/>
          <a:lstStyle/>
          <a:p>
            <a:pPr algn="l" indent="0" marL="0">
              <a:lnSpc>
                <a:spcPts val="2160"/>
              </a:lnSpc>
              <a:buNone/>
            </a:pPr>
            <a:r>
              <a:rPr lang="en-US" sz="1400" b="1" dirty="0">
                <a:solidFill>
                  <a:srgbClr val="FF4199"/>
                </a:solidFill>
                <a:latin typeface="Ubuntu" pitchFamily="34" charset="0"/>
                <a:ea typeface="Ubuntu" pitchFamily="34" charset="-122"/>
                <a:cs typeface="Ubuntu" pitchFamily="34" charset="-120"/>
              </a:rPr>
              <a:t>1.2B</a:t>
            </a:r>
            <a:pPr algn="l" indent="0" marL="0">
              <a:lnSpc>
                <a:spcPts val="1512"/>
              </a:lnSpc>
              <a:buNone/>
            </a:pPr>
            <a:r>
              <a:rPr lang="en-US" sz="1000" dirty="0">
                <a:solidFill>
                  <a:srgbClr val="FFFFFF"/>
                </a:solidFill>
                <a:latin typeface="Ubuntu" pitchFamily="34" charset="0"/>
                <a:ea typeface="Ubuntu" pitchFamily="34" charset="-122"/>
                <a:cs typeface="Ubuntu" pitchFamily="34" charset="-120"/>
              </a:rPr>
              <a:t>smart TVs in active use globally (2025)</a:t>
            </a:r>
            <a:endParaRPr lang="en-US" sz="1400" dirty="0"/>
          </a:p>
        </p:txBody>
      </p:sp>
      <p:sp>
        <p:nvSpPr>
          <p:cNvPr id="23" name="Shape 19"/>
          <p:cNvSpPr/>
          <p:nvPr/>
        </p:nvSpPr>
        <p:spPr>
          <a:xfrm>
            <a:off x="3254797" y="4316946"/>
            <a:ext cx="4763" cy="466725"/>
          </a:xfrm>
          <a:prstGeom prst="rect">
            <a:avLst/>
          </a:prstGeom>
          <a:solidFill>
            <a:srgbClr val="FFFFFF">
              <a:alpha val="8000"/>
            </a:srgbClr>
          </a:solidFill>
          <a:ln/>
        </p:spPr>
      </p:sp>
      <p:sp>
        <p:nvSpPr>
          <p:cNvPr id="24" name="Text 20"/>
          <p:cNvSpPr/>
          <p:nvPr/>
        </p:nvSpPr>
        <p:spPr>
          <a:xfrm>
            <a:off x="3625900" y="4316946"/>
            <a:ext cx="1738312" cy="466725"/>
          </a:xfrm>
          <a:prstGeom prst="rect">
            <a:avLst/>
          </a:prstGeom>
          <a:ln/>
        </p:spPr>
        <p:txBody>
          <a:bodyPr wrap="square" lIns="0" tIns="0" rIns="0" bIns="0" rtlCol="0" anchor="t"/>
          <a:lstStyle/>
          <a:p>
            <a:pPr algn="l" indent="0" marL="0">
              <a:lnSpc>
                <a:spcPts val="2160"/>
              </a:lnSpc>
              <a:buNone/>
            </a:pPr>
            <a:r>
              <a:rPr lang="en-US" sz="1400" b="1" dirty="0">
                <a:solidFill>
                  <a:srgbClr val="01D7FB"/>
                </a:solidFill>
                <a:latin typeface="Ubuntu" pitchFamily="34" charset="0"/>
                <a:ea typeface="Ubuntu" pitchFamily="34" charset="-122"/>
                <a:cs typeface="Ubuntu" pitchFamily="34" charset="-120"/>
              </a:rPr>
              <a:t>15%</a:t>
            </a:r>
            <a:pPr algn="l" indent="0" marL="0">
              <a:lnSpc>
                <a:spcPts val="1512"/>
              </a:lnSpc>
              <a:buNone/>
            </a:pPr>
            <a:r>
              <a:rPr lang="en-US" sz="1000" dirty="0">
                <a:solidFill>
                  <a:srgbClr val="FFFFFF"/>
                </a:solidFill>
                <a:latin typeface="Ubuntu" pitchFamily="34" charset="0"/>
                <a:ea typeface="Ubuntu" pitchFamily="34" charset="-122"/>
                <a:cs typeface="Ubuntu" pitchFamily="34" charset="-120"/>
              </a:rPr>
              <a:t>CAGR online radio 2023-2028</a:t>
            </a:r>
            <a:endParaRPr lang="en-US" sz="1400" dirty="0"/>
          </a:p>
        </p:txBody>
      </p:sp>
      <p:sp>
        <p:nvSpPr>
          <p:cNvPr id="25" name="Shape 21"/>
          <p:cNvSpPr/>
          <p:nvPr/>
        </p:nvSpPr>
        <p:spPr>
          <a:xfrm>
            <a:off x="5730553" y="4316946"/>
            <a:ext cx="4763" cy="466725"/>
          </a:xfrm>
          <a:prstGeom prst="rect">
            <a:avLst/>
          </a:prstGeom>
          <a:solidFill>
            <a:srgbClr val="FFFFFF">
              <a:alpha val="8000"/>
            </a:srgbClr>
          </a:solidFill>
          <a:ln/>
        </p:spPr>
      </p:sp>
      <p:sp>
        <p:nvSpPr>
          <p:cNvPr id="26" name="Text 22"/>
          <p:cNvSpPr/>
          <p:nvPr/>
        </p:nvSpPr>
        <p:spPr>
          <a:xfrm>
            <a:off x="6101655" y="4316946"/>
            <a:ext cx="2309813" cy="466725"/>
          </a:xfrm>
          <a:prstGeom prst="rect">
            <a:avLst/>
          </a:prstGeom>
          <a:ln/>
        </p:spPr>
        <p:txBody>
          <a:bodyPr wrap="square" lIns="0" tIns="0" rIns="0" bIns="0" rtlCol="0" anchor="t"/>
          <a:lstStyle/>
          <a:p>
            <a:pPr algn="l" indent="0" marL="0">
              <a:lnSpc>
                <a:spcPts val="2160"/>
              </a:lnSpc>
              <a:buNone/>
            </a:pPr>
            <a:r>
              <a:rPr lang="en-US" sz="1400" b="1" dirty="0">
                <a:solidFill>
                  <a:srgbClr val="FFFFFF"/>
                </a:solidFill>
                <a:latin typeface="Ubuntu" pitchFamily="34" charset="0"/>
                <a:ea typeface="Ubuntu" pitchFamily="34" charset="-122"/>
                <a:cs typeface="Ubuntu" pitchFamily="34" charset="-120"/>
              </a:rPr>
              <a:t>500M+</a:t>
            </a:r>
            <a:pPr algn="l" indent="0" marL="0">
              <a:lnSpc>
                <a:spcPts val="1512"/>
              </a:lnSpc>
              <a:buNone/>
            </a:pPr>
            <a:r>
              <a:rPr lang="en-US" sz="1000" dirty="0">
                <a:solidFill>
                  <a:srgbClr val="FFFFFF"/>
                </a:solidFill>
                <a:latin typeface="Ubuntu" pitchFamily="34" charset="0"/>
                <a:ea typeface="Ubuntu" pitchFamily="34" charset="-122"/>
                <a:cs typeface="Ubuntu" pitchFamily="34" charset="-120"/>
              </a:rPr>
              <a:t>weekly radio listeners in Europe alone</a:t>
            </a:r>
            <a:endParaRPr lang="en-US" sz="1400" dirty="0"/>
          </a:p>
        </p:txBody>
      </p:sp>
      <p:sp>
        <p:nvSpPr>
          <p:cNvPr id="27" name="Text 23"/>
          <p:cNvSpPr/>
          <p:nvPr/>
        </p:nvSpPr>
        <p:spPr>
          <a:xfrm>
            <a:off x="0" y="4781848"/>
            <a:ext cx="9144000" cy="361950"/>
          </a:xfrm>
          <a:prstGeom prst="rect">
            <a:avLst/>
          </a:prstGeom>
          <a:ln/>
        </p:spPr>
        <p:txBody>
          <a:bodyPr wrap="square" lIns="0" tIns="0" rIns="0" bIns="0" rtlCol="0" anchor="t"/>
          <a:lstStyle/>
          <a:p>
            <a:pPr algn="l" indent="0" marL="0">
              <a:lnSpc>
                <a:spcPts val="1188"/>
              </a:lnSpc>
              <a:buNone/>
            </a:pPr>
            <a:r>
              <a:rPr lang="en-US" sz="700" dirty="0">
                <a:solidFill>
                  <a:srgbClr val="FFFFFF"/>
                </a:solidFill>
                <a:latin typeface="Ubuntu" pitchFamily="34" charset="0"/>
                <a:ea typeface="Ubuntu" pitchFamily="34" charset="-122"/>
                <a:cs typeface="Ubuntu" pitchFamily="34" charset="-120"/>
              </a:rPr>
              <a:t>RADIO MEGA</a:t>
            </a:r>
            <a:pPr algn="l" indent="0" marL="0">
              <a:lnSpc>
                <a:spcPts val="1188"/>
              </a:lnSpc>
              <a:buNone/>
            </a:pPr>
            <a:r>
              <a:rPr lang="en-US" sz="700" dirty="0">
                <a:solidFill>
                  <a:srgbClr val="FFFFFF"/>
                </a:solidFill>
                <a:latin typeface="Ubuntu" pitchFamily="34" charset="0"/>
                <a:ea typeface="Ubuntu" pitchFamily="34" charset="-122"/>
                <a:cs typeface="Ubuntu" pitchFamily="34" charset="-120"/>
              </a:rPr>
              <a:t>5 / 18</a:t>
            </a:r>
            <a:endParaRPr lang="en-US" sz="700" dirty="0"/>
          </a:p>
        </p:txBody>
      </p:sp>
      <p:pic>
        <p:nvPicPr>
          <p:cNvPr id="28"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0" y="4781848"/>
            <a:ext cx="9144000" cy="36195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E0E0E"/>
          </a:solidFill>
          <a:ln/>
        </p:spPr>
      </p:sp>
      <p:pic>
        <p:nvPicPr>
          <p:cNvPr id="3"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0" y="0"/>
            <a:ext cx="9144000" cy="5143500"/>
          </a:xfrm>
          <a:prstGeom prst="rect">
            <a:avLst/>
          </a:prstGeom>
        </p:spPr>
      </p:pic>
      <p:pic>
        <p:nvPicPr>
          <p:cNvPr id="4"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005840" y="-1080135"/>
            <a:ext cx="4389120" cy="4389120"/>
          </a:xfrm>
          <a:prstGeom prst="rect">
            <a:avLst/>
          </a:prstGeom>
        </p:spPr>
      </p:pic>
      <p:sp>
        <p:nvSpPr>
          <p:cNvPr id="5" name="Text 1"/>
          <p:cNvSpPr/>
          <p:nvPr/>
        </p:nvSpPr>
        <p:spPr>
          <a:xfrm>
            <a:off x="731044" y="359532"/>
            <a:ext cx="7681912" cy="138113"/>
          </a:xfrm>
          <a:prstGeom prst="rect">
            <a:avLst/>
          </a:prstGeom>
          <a:ln/>
        </p:spPr>
        <p:txBody>
          <a:bodyPr wrap="square" lIns="0" tIns="0" rIns="0" bIns="0" rtlCol="0" anchor="t"/>
          <a:lstStyle/>
          <a:p>
            <a:pPr algn="l" indent="0" marL="0">
              <a:lnSpc>
                <a:spcPts val="1080"/>
              </a:lnSpc>
              <a:spcAft>
                <a:spcPts val="810"/>
              </a:spcAft>
              <a:buNone/>
            </a:pPr>
            <a:r>
              <a:rPr lang="en-US" sz="700" b="1" dirty="0">
                <a:solidFill>
                  <a:srgbClr val="FF4199"/>
                </a:solidFill>
                <a:latin typeface="Ubuntu" pitchFamily="34" charset="0"/>
                <a:ea typeface="Ubuntu" pitchFamily="34" charset="-122"/>
                <a:cs typeface="Ubuntu" pitchFamily="34" charset="-120"/>
              </a:rPr>
              <a:t>BUSINESS MODEL</a:t>
            </a:r>
            <a:endParaRPr lang="en-US" sz="700" dirty="0"/>
          </a:p>
        </p:txBody>
      </p:sp>
      <p:sp>
        <p:nvSpPr>
          <p:cNvPr id="6" name="Text 2"/>
          <p:cNvSpPr/>
          <p:nvPr/>
        </p:nvSpPr>
        <p:spPr>
          <a:xfrm>
            <a:off x="731044" y="601117"/>
            <a:ext cx="7681912" cy="400050"/>
          </a:xfrm>
          <a:prstGeom prst="rect">
            <a:avLst/>
          </a:prstGeom>
          <a:ln/>
        </p:spPr>
        <p:txBody>
          <a:bodyPr wrap="square" lIns="0" tIns="0" rIns="0" bIns="0" rtlCol="0" anchor="t"/>
          <a:lstStyle/>
          <a:p>
            <a:pPr algn="l" indent="0" marL="0">
              <a:lnSpc>
                <a:spcPts val="3168"/>
              </a:lnSpc>
              <a:buNone/>
            </a:pPr>
            <a:r>
              <a:rPr lang="en-US" sz="2800" b="1" dirty="0">
                <a:solidFill>
                  <a:srgbClr val="FFFFFF"/>
                </a:solidFill>
                <a:latin typeface="Ubuntu" pitchFamily="34" charset="0"/>
                <a:ea typeface="Ubuntu" pitchFamily="34" charset="-122"/>
                <a:cs typeface="Ubuntu" pitchFamily="34" charset="-120"/>
              </a:rPr>
              <a:t>Four revenue streams, one platform</a:t>
            </a:r>
            <a:endParaRPr lang="en-US" sz="2800" dirty="0"/>
          </a:p>
        </p:txBody>
      </p:sp>
      <p:sp>
        <p:nvSpPr>
          <p:cNvPr id="7" name="Shape 3"/>
          <p:cNvSpPr/>
          <p:nvPr/>
        </p:nvSpPr>
        <p:spPr>
          <a:xfrm>
            <a:off x="731974" y="1258937"/>
            <a:ext cx="3748087" cy="1671638"/>
          </a:xfrm>
          <a:prstGeom prst="roundRect">
            <a:avLst>
              <a:gd name="adj" fmla="val 3591"/>
            </a:avLst>
          </a:prstGeom>
          <a:solidFill>
            <a:srgbClr val="FF4199">
              <a:alpha val="6000"/>
            </a:srgbClr>
          </a:solidFill>
          <a:ln w="4763">
            <a:solidFill>
              <a:srgbClr val="FF4199">
                <a:alpha val="20000"/>
              </a:srgbClr>
            </a:solidFill>
            <a:prstDash val="solid"/>
          </a:ln>
        </p:spPr>
      </p:sp>
      <p:sp>
        <p:nvSpPr>
          <p:cNvPr id="8" name="Text 4"/>
          <p:cNvSpPr/>
          <p:nvPr/>
        </p:nvSpPr>
        <p:spPr>
          <a:xfrm>
            <a:off x="966006" y="1418667"/>
            <a:ext cx="1914525" cy="219075"/>
          </a:xfrm>
          <a:prstGeom prst="rect">
            <a:avLst/>
          </a:prstGeom>
          <a:ln/>
        </p:spPr>
        <p:txBody>
          <a:bodyPr wrap="square" lIns="0" tIns="0" rIns="0" bIns="0" rtlCol="0" anchor="t"/>
          <a:lstStyle/>
          <a:p>
            <a:pPr algn="l" indent="0" marL="0">
              <a:lnSpc>
                <a:spcPts val="1728"/>
              </a:lnSpc>
              <a:buNone/>
            </a:pPr>
            <a:r>
              <a:rPr lang="en-US" sz="1100" b="1" dirty="0">
                <a:solidFill>
                  <a:srgbClr val="FF4199"/>
                </a:solidFill>
                <a:latin typeface="Ubuntu" pitchFamily="34" charset="0"/>
                <a:ea typeface="Ubuntu" pitchFamily="34" charset="-122"/>
                <a:cs typeface="Ubuntu" pitchFamily="34" charset="-120"/>
              </a:rPr>
              <a:t>01 — Premium Subscription</a:t>
            </a:r>
            <a:endParaRPr lang="en-US" sz="1100" dirty="0"/>
          </a:p>
        </p:txBody>
      </p:sp>
      <p:sp>
        <p:nvSpPr>
          <p:cNvPr id="9" name="Text 5"/>
          <p:cNvSpPr/>
          <p:nvPr/>
        </p:nvSpPr>
        <p:spPr>
          <a:xfrm>
            <a:off x="965336" y="1714128"/>
            <a:ext cx="3281363" cy="385763"/>
          </a:xfrm>
          <a:prstGeom prst="rect">
            <a:avLst/>
          </a:prstGeom>
          <a:ln/>
        </p:spPr>
        <p:txBody>
          <a:bodyPr wrap="square" lIns="0" tIns="0" rIns="0" bIns="0" rtlCol="0" anchor="t"/>
          <a:lstStyle/>
          <a:p>
            <a:pPr algn="l" indent="0" marL="0">
              <a:lnSpc>
                <a:spcPts val="1512"/>
              </a:lnSpc>
              <a:buNone/>
            </a:pPr>
            <a:r>
              <a:rPr lang="en-US" sz="1000" dirty="0">
                <a:solidFill>
                  <a:srgbClr val="FFFFFF"/>
                </a:solidFill>
                <a:latin typeface="Ubuntu" pitchFamily="34" charset="0"/>
                <a:ea typeface="Ubuntu" pitchFamily="34" charset="-122"/>
                <a:cs typeface="Ubuntu" pitchFamily="34" charset="-120"/>
              </a:rPr>
              <a:t>Ad-free listening, offline favorites, early platform access. Individual and family plans.</a:t>
            </a:r>
            <a:endParaRPr lang="en-US" sz="1000" dirty="0"/>
          </a:p>
        </p:txBody>
      </p:sp>
      <p:sp>
        <p:nvSpPr>
          <p:cNvPr id="10" name="Text 6"/>
          <p:cNvSpPr/>
          <p:nvPr/>
        </p:nvSpPr>
        <p:spPr>
          <a:xfrm>
            <a:off x="965336" y="2495736"/>
            <a:ext cx="3281363" cy="276225"/>
          </a:xfrm>
          <a:prstGeom prst="rect">
            <a:avLst/>
          </a:prstGeom>
          <a:ln/>
        </p:spPr>
        <p:txBody>
          <a:bodyPr wrap="square" lIns="0" tIns="0" rIns="0" bIns="0" rtlCol="0" anchor="t"/>
          <a:lstStyle/>
          <a:p>
            <a:pPr algn="l" indent="0" marL="0">
              <a:lnSpc>
                <a:spcPts val="2160"/>
              </a:lnSpc>
              <a:spcBef>
                <a:spcPts val="607"/>
              </a:spcBef>
              <a:buNone/>
            </a:pPr>
            <a:r>
              <a:rPr lang="en-US" sz="1400" b="1" dirty="0">
                <a:solidFill>
                  <a:srgbClr val="FFFFFF"/>
                </a:solidFill>
                <a:latin typeface="Ubuntu" pitchFamily="34" charset="0"/>
                <a:ea typeface="Ubuntu" pitchFamily="34" charset="-122"/>
                <a:cs typeface="Ubuntu" pitchFamily="34" charset="-120"/>
              </a:rPr>
              <a:t>$4.99 / mo </a:t>
            </a:r>
            <a:pPr algn="l" indent="0" marL="0">
              <a:lnSpc>
                <a:spcPts val="1404"/>
              </a:lnSpc>
              <a:buNone/>
            </a:pPr>
            <a:r>
              <a:rPr lang="en-US" sz="900" dirty="0">
                <a:solidFill>
                  <a:srgbClr val="FFFFFF"/>
                </a:solidFill>
                <a:latin typeface="Ubuntu" pitchFamily="34" charset="0"/>
                <a:ea typeface="Ubuntu" pitchFamily="34" charset="-122"/>
                <a:cs typeface="Ubuntu" pitchFamily="34" charset="-120"/>
              </a:rPr>
              <a:t>· $39.99 / yr</a:t>
            </a:r>
            <a:endParaRPr lang="en-US" sz="1400" dirty="0"/>
          </a:p>
        </p:txBody>
      </p:sp>
      <p:sp>
        <p:nvSpPr>
          <p:cNvPr id="11" name="Shape 7"/>
          <p:cNvSpPr/>
          <p:nvPr/>
        </p:nvSpPr>
        <p:spPr>
          <a:xfrm>
            <a:off x="4663901" y="1258937"/>
            <a:ext cx="3748087" cy="1671638"/>
          </a:xfrm>
          <a:prstGeom prst="roundRect">
            <a:avLst>
              <a:gd name="adj" fmla="val 3591"/>
            </a:avLst>
          </a:prstGeom>
          <a:solidFill>
            <a:srgbClr val="01D7FB">
              <a:alpha val="4000"/>
            </a:srgbClr>
          </a:solidFill>
          <a:ln w="4763">
            <a:solidFill>
              <a:srgbClr val="01D7FB">
                <a:alpha val="15000"/>
              </a:srgbClr>
            </a:solidFill>
            <a:prstDash val="solid"/>
          </a:ln>
        </p:spPr>
      </p:sp>
      <p:sp>
        <p:nvSpPr>
          <p:cNvPr id="12" name="Text 8"/>
          <p:cNvSpPr/>
          <p:nvPr/>
        </p:nvSpPr>
        <p:spPr>
          <a:xfrm>
            <a:off x="4897264" y="1418667"/>
            <a:ext cx="3281363" cy="219075"/>
          </a:xfrm>
          <a:prstGeom prst="rect">
            <a:avLst/>
          </a:prstGeom>
          <a:ln/>
        </p:spPr>
        <p:txBody>
          <a:bodyPr wrap="square" lIns="0" tIns="0" rIns="0" bIns="0" rtlCol="0" anchor="t"/>
          <a:lstStyle/>
          <a:p>
            <a:pPr algn="l" indent="0" marL="0">
              <a:lnSpc>
                <a:spcPts val="1728"/>
              </a:lnSpc>
              <a:spcAft>
                <a:spcPts val="607"/>
              </a:spcAft>
              <a:buNone/>
            </a:pPr>
            <a:r>
              <a:rPr lang="en-US" sz="1100" b="1" dirty="0">
                <a:solidFill>
                  <a:srgbClr val="01D7FB"/>
                </a:solidFill>
                <a:latin typeface="Ubuntu" pitchFamily="34" charset="0"/>
                <a:ea typeface="Ubuntu" pitchFamily="34" charset="-122"/>
                <a:cs typeface="Ubuntu" pitchFamily="34" charset="-120"/>
              </a:rPr>
              <a:t>02 — Programmatic Advertising</a:t>
            </a:r>
            <a:endParaRPr lang="en-US" sz="1100" dirty="0"/>
          </a:p>
        </p:txBody>
      </p:sp>
      <p:sp>
        <p:nvSpPr>
          <p:cNvPr id="13" name="Text 9"/>
          <p:cNvSpPr/>
          <p:nvPr/>
        </p:nvSpPr>
        <p:spPr>
          <a:xfrm>
            <a:off x="4897264" y="1714128"/>
            <a:ext cx="3281363" cy="385763"/>
          </a:xfrm>
          <a:prstGeom prst="rect">
            <a:avLst/>
          </a:prstGeom>
          <a:ln/>
        </p:spPr>
        <p:txBody>
          <a:bodyPr wrap="square" lIns="0" tIns="0" rIns="0" bIns="0" rtlCol="0" anchor="t"/>
          <a:lstStyle/>
          <a:p>
            <a:pPr algn="l" indent="0" marL="0">
              <a:lnSpc>
                <a:spcPts val="1512"/>
              </a:lnSpc>
              <a:buNone/>
            </a:pPr>
            <a:r>
              <a:rPr lang="en-US" sz="1000" dirty="0">
                <a:solidFill>
                  <a:srgbClr val="FFFFFF"/>
                </a:solidFill>
                <a:latin typeface="Ubuntu" pitchFamily="34" charset="0"/>
                <a:ea typeface="Ubuntu" pitchFamily="34" charset="-122"/>
                <a:cs typeface="Ubuntu" pitchFamily="34" charset="-120"/>
              </a:rPr>
              <a:t>Audio + display ads served to free-tier users. CPM-based, geo-targeted, brand-safe inventory.</a:t>
            </a:r>
            <a:endParaRPr lang="en-US" sz="1000" dirty="0"/>
          </a:p>
        </p:txBody>
      </p:sp>
      <p:sp>
        <p:nvSpPr>
          <p:cNvPr id="14" name="Text 10"/>
          <p:cNvSpPr/>
          <p:nvPr/>
        </p:nvSpPr>
        <p:spPr>
          <a:xfrm>
            <a:off x="4897264" y="2495736"/>
            <a:ext cx="3281363" cy="276225"/>
          </a:xfrm>
          <a:prstGeom prst="rect">
            <a:avLst/>
          </a:prstGeom>
          <a:ln/>
        </p:spPr>
        <p:txBody>
          <a:bodyPr wrap="square" lIns="0" tIns="0" rIns="0" bIns="0" rtlCol="0" anchor="t"/>
          <a:lstStyle/>
          <a:p>
            <a:pPr algn="l" indent="0" marL="0">
              <a:lnSpc>
                <a:spcPts val="2160"/>
              </a:lnSpc>
              <a:spcBef>
                <a:spcPts val="607"/>
              </a:spcBef>
              <a:buNone/>
            </a:pPr>
            <a:r>
              <a:rPr lang="en-US" sz="1400" b="1" dirty="0">
                <a:solidFill>
                  <a:srgbClr val="FFFFFF"/>
                </a:solidFill>
                <a:latin typeface="Ubuntu" pitchFamily="34" charset="0"/>
                <a:ea typeface="Ubuntu" pitchFamily="34" charset="-122"/>
                <a:cs typeface="Ubuntu" pitchFamily="34" charset="-120"/>
              </a:rPr>
              <a:t>$8–12 CPM </a:t>
            </a:r>
            <a:pPr algn="l" indent="0" marL="0">
              <a:lnSpc>
                <a:spcPts val="1404"/>
              </a:lnSpc>
              <a:buNone/>
            </a:pPr>
            <a:r>
              <a:rPr lang="en-US" sz="900" dirty="0">
                <a:solidFill>
                  <a:srgbClr val="FFFFFF"/>
                </a:solidFill>
                <a:latin typeface="Ubuntu" pitchFamily="34" charset="0"/>
                <a:ea typeface="Ubuntu" pitchFamily="34" charset="-122"/>
                <a:cs typeface="Ubuntu" pitchFamily="34" charset="-120"/>
              </a:rPr>
              <a:t>· Revenue share with stations</a:t>
            </a:r>
            <a:endParaRPr lang="en-US" sz="1400" dirty="0"/>
          </a:p>
        </p:txBody>
      </p:sp>
      <p:sp>
        <p:nvSpPr>
          <p:cNvPr id="15" name="Shape 11"/>
          <p:cNvSpPr/>
          <p:nvPr/>
        </p:nvSpPr>
        <p:spPr>
          <a:xfrm>
            <a:off x="731974" y="3112368"/>
            <a:ext cx="3748087" cy="1671638"/>
          </a:xfrm>
          <a:prstGeom prst="roundRect">
            <a:avLst>
              <a:gd name="adj" fmla="val 3591"/>
            </a:avLst>
          </a:prstGeom>
          <a:solidFill>
            <a:srgbClr val="FFFFFF">
              <a:alpha val="3000"/>
            </a:srgbClr>
          </a:solidFill>
          <a:ln w="4763">
            <a:solidFill>
              <a:srgbClr val="FFFFFF">
                <a:alpha val="10000"/>
              </a:srgbClr>
            </a:solidFill>
            <a:prstDash val="solid"/>
          </a:ln>
        </p:spPr>
      </p:sp>
      <p:sp>
        <p:nvSpPr>
          <p:cNvPr id="16" name="Text 12"/>
          <p:cNvSpPr/>
          <p:nvPr/>
        </p:nvSpPr>
        <p:spPr>
          <a:xfrm>
            <a:off x="965336" y="3272098"/>
            <a:ext cx="3281363" cy="219075"/>
          </a:xfrm>
          <a:prstGeom prst="rect">
            <a:avLst/>
          </a:prstGeom>
          <a:ln/>
        </p:spPr>
        <p:txBody>
          <a:bodyPr wrap="square" lIns="0" tIns="0" rIns="0" bIns="0" rtlCol="0" anchor="t"/>
          <a:lstStyle/>
          <a:p>
            <a:pPr algn="l" indent="0" marL="0">
              <a:lnSpc>
                <a:spcPts val="1728"/>
              </a:lnSpc>
              <a:spcAft>
                <a:spcPts val="607"/>
              </a:spcAft>
              <a:buNone/>
            </a:pPr>
            <a:r>
              <a:rPr lang="en-US" sz="1100" b="1" dirty="0">
                <a:solidFill>
                  <a:srgbClr val="FFFFFF"/>
                </a:solidFill>
                <a:latin typeface="Ubuntu" pitchFamily="34" charset="0"/>
                <a:ea typeface="Ubuntu" pitchFamily="34" charset="-122"/>
                <a:cs typeface="Ubuntu" pitchFamily="34" charset="-120"/>
              </a:rPr>
              <a:t>03 — B2B Licensing</a:t>
            </a:r>
            <a:endParaRPr lang="en-US" sz="1100" dirty="0"/>
          </a:p>
        </p:txBody>
      </p:sp>
      <p:sp>
        <p:nvSpPr>
          <p:cNvPr id="17" name="Text 13"/>
          <p:cNvSpPr/>
          <p:nvPr/>
        </p:nvSpPr>
        <p:spPr>
          <a:xfrm>
            <a:off x="965336" y="3567559"/>
            <a:ext cx="3281363" cy="385763"/>
          </a:xfrm>
          <a:prstGeom prst="rect">
            <a:avLst/>
          </a:prstGeom>
          <a:ln/>
        </p:spPr>
        <p:txBody>
          <a:bodyPr wrap="square" lIns="0" tIns="0" rIns="0" bIns="0" rtlCol="0" anchor="t"/>
          <a:lstStyle/>
          <a:p>
            <a:pPr algn="l" indent="0" marL="0">
              <a:lnSpc>
                <a:spcPts val="1512"/>
              </a:lnSpc>
              <a:buNone/>
            </a:pPr>
            <a:r>
              <a:rPr lang="en-US" sz="1000" dirty="0">
                <a:solidFill>
                  <a:srgbClr val="FFFFFF"/>
                </a:solidFill>
                <a:latin typeface="Ubuntu" pitchFamily="34" charset="0"/>
                <a:ea typeface="Ubuntu" pitchFamily="34" charset="-122"/>
                <a:cs typeface="Ubuntu" pitchFamily="34" charset="-120"/>
              </a:rPr>
              <a:t>White-label platform for hotels, airlines, and hospitality chains. Branded apps on their TV estate.</a:t>
            </a:r>
            <a:endParaRPr lang="en-US" sz="1000" dirty="0"/>
          </a:p>
        </p:txBody>
      </p:sp>
      <p:sp>
        <p:nvSpPr>
          <p:cNvPr id="18" name="Text 14"/>
          <p:cNvSpPr/>
          <p:nvPr/>
        </p:nvSpPr>
        <p:spPr>
          <a:xfrm>
            <a:off x="965336" y="4349167"/>
            <a:ext cx="3281363" cy="276225"/>
          </a:xfrm>
          <a:prstGeom prst="rect">
            <a:avLst/>
          </a:prstGeom>
          <a:ln/>
        </p:spPr>
        <p:txBody>
          <a:bodyPr wrap="square" lIns="0" tIns="0" rIns="0" bIns="0" rtlCol="0" anchor="t"/>
          <a:lstStyle/>
          <a:p>
            <a:pPr algn="l" indent="0" marL="0">
              <a:lnSpc>
                <a:spcPts val="2160"/>
              </a:lnSpc>
              <a:spcBef>
                <a:spcPts val="607"/>
              </a:spcBef>
              <a:buNone/>
            </a:pPr>
            <a:r>
              <a:rPr lang="en-US" sz="1400" b="1" dirty="0">
                <a:solidFill>
                  <a:srgbClr val="FFFFFF"/>
                </a:solidFill>
                <a:latin typeface="Ubuntu" pitchFamily="34" charset="0"/>
                <a:ea typeface="Ubuntu" pitchFamily="34" charset="-122"/>
                <a:cs typeface="Ubuntu" pitchFamily="34" charset="-120"/>
              </a:rPr>
              <a:t>$2K–15K / mo </a:t>
            </a:r>
            <a:pPr algn="l" indent="0" marL="0">
              <a:lnSpc>
                <a:spcPts val="1404"/>
              </a:lnSpc>
              <a:buNone/>
            </a:pPr>
            <a:r>
              <a:rPr lang="en-US" sz="900" dirty="0">
                <a:solidFill>
                  <a:srgbClr val="FFFFFF"/>
                </a:solidFill>
                <a:latin typeface="Ubuntu" pitchFamily="34" charset="0"/>
                <a:ea typeface="Ubuntu" pitchFamily="34" charset="-122"/>
                <a:cs typeface="Ubuntu" pitchFamily="34" charset="-120"/>
              </a:rPr>
              <a:t>· Per property</a:t>
            </a:r>
            <a:endParaRPr lang="en-US" sz="1400" dirty="0"/>
          </a:p>
        </p:txBody>
      </p:sp>
      <p:sp>
        <p:nvSpPr>
          <p:cNvPr id="19" name="Shape 15"/>
          <p:cNvSpPr/>
          <p:nvPr/>
        </p:nvSpPr>
        <p:spPr>
          <a:xfrm>
            <a:off x="4663901" y="3112368"/>
            <a:ext cx="3748087" cy="1671638"/>
          </a:xfrm>
          <a:prstGeom prst="roundRect">
            <a:avLst>
              <a:gd name="adj" fmla="val 3591"/>
            </a:avLst>
          </a:prstGeom>
          <a:solidFill>
            <a:srgbClr val="FFFFFF">
              <a:alpha val="3000"/>
            </a:srgbClr>
          </a:solidFill>
          <a:ln w="4763">
            <a:solidFill>
              <a:srgbClr val="FFFFFF">
                <a:alpha val="10000"/>
              </a:srgbClr>
            </a:solidFill>
            <a:prstDash val="solid"/>
          </a:ln>
        </p:spPr>
      </p:sp>
      <p:sp>
        <p:nvSpPr>
          <p:cNvPr id="20" name="Text 16"/>
          <p:cNvSpPr/>
          <p:nvPr/>
        </p:nvSpPr>
        <p:spPr>
          <a:xfrm>
            <a:off x="4897264" y="3272098"/>
            <a:ext cx="3281363" cy="219075"/>
          </a:xfrm>
          <a:prstGeom prst="rect">
            <a:avLst/>
          </a:prstGeom>
          <a:ln/>
        </p:spPr>
        <p:txBody>
          <a:bodyPr wrap="square" lIns="0" tIns="0" rIns="0" bIns="0" rtlCol="0" anchor="t"/>
          <a:lstStyle/>
          <a:p>
            <a:pPr algn="l" indent="0" marL="0">
              <a:lnSpc>
                <a:spcPts val="1728"/>
              </a:lnSpc>
              <a:spcAft>
                <a:spcPts val="607"/>
              </a:spcAft>
              <a:buNone/>
            </a:pPr>
            <a:r>
              <a:rPr lang="en-US" sz="1100" b="1" dirty="0">
                <a:solidFill>
                  <a:srgbClr val="FFFFFF"/>
                </a:solidFill>
                <a:latin typeface="Ubuntu" pitchFamily="34" charset="0"/>
                <a:ea typeface="Ubuntu" pitchFamily="34" charset="-122"/>
                <a:cs typeface="Ubuntu" pitchFamily="34" charset="-120"/>
              </a:rPr>
              <a:t>04 — Station Partnership</a:t>
            </a:r>
            <a:endParaRPr lang="en-US" sz="1100" dirty="0"/>
          </a:p>
        </p:txBody>
      </p:sp>
      <p:sp>
        <p:nvSpPr>
          <p:cNvPr id="21" name="Text 17"/>
          <p:cNvSpPr/>
          <p:nvPr/>
        </p:nvSpPr>
        <p:spPr>
          <a:xfrm>
            <a:off x="4897264" y="3567559"/>
            <a:ext cx="3281363" cy="385763"/>
          </a:xfrm>
          <a:prstGeom prst="rect">
            <a:avLst/>
          </a:prstGeom>
          <a:ln/>
        </p:spPr>
        <p:txBody>
          <a:bodyPr wrap="square" lIns="0" tIns="0" rIns="0" bIns="0" rtlCol="0" anchor="t"/>
          <a:lstStyle/>
          <a:p>
            <a:pPr algn="l" indent="0" marL="0">
              <a:lnSpc>
                <a:spcPts val="1512"/>
              </a:lnSpc>
              <a:buNone/>
            </a:pPr>
            <a:r>
              <a:rPr lang="en-US" sz="1000" dirty="0">
                <a:solidFill>
                  <a:srgbClr val="FFFFFF"/>
                </a:solidFill>
                <a:latin typeface="Ubuntu" pitchFamily="34" charset="0"/>
                <a:ea typeface="Ubuntu" pitchFamily="34" charset="-122"/>
                <a:cs typeface="Ubuntu" pitchFamily="34" charset="-120"/>
              </a:rPr>
              <a:t>Promoted placement, analytics dashboards, and verified station badges for broadcaster partners.</a:t>
            </a:r>
            <a:endParaRPr lang="en-US" sz="1000" dirty="0"/>
          </a:p>
        </p:txBody>
      </p:sp>
      <p:sp>
        <p:nvSpPr>
          <p:cNvPr id="22" name="Text 18"/>
          <p:cNvSpPr/>
          <p:nvPr/>
        </p:nvSpPr>
        <p:spPr>
          <a:xfrm>
            <a:off x="4897264" y="4349167"/>
            <a:ext cx="3281363" cy="276225"/>
          </a:xfrm>
          <a:prstGeom prst="rect">
            <a:avLst/>
          </a:prstGeom>
          <a:ln/>
        </p:spPr>
        <p:txBody>
          <a:bodyPr wrap="square" lIns="0" tIns="0" rIns="0" bIns="0" rtlCol="0" anchor="t"/>
          <a:lstStyle/>
          <a:p>
            <a:pPr algn="l" indent="0" marL="0">
              <a:lnSpc>
                <a:spcPts val="2160"/>
              </a:lnSpc>
              <a:spcBef>
                <a:spcPts val="607"/>
              </a:spcBef>
              <a:buNone/>
            </a:pPr>
            <a:r>
              <a:rPr lang="en-US" sz="1400" b="1" dirty="0">
                <a:solidFill>
                  <a:srgbClr val="FFFFFF"/>
                </a:solidFill>
                <a:latin typeface="Ubuntu" pitchFamily="34" charset="0"/>
                <a:ea typeface="Ubuntu" pitchFamily="34" charset="-122"/>
                <a:cs typeface="Ubuntu" pitchFamily="34" charset="-120"/>
              </a:rPr>
              <a:t>$199–999 / mo </a:t>
            </a:r>
            <a:pPr algn="l" indent="0" marL="0">
              <a:lnSpc>
                <a:spcPts val="1404"/>
              </a:lnSpc>
              <a:buNone/>
            </a:pPr>
            <a:r>
              <a:rPr lang="en-US" sz="900" dirty="0">
                <a:solidFill>
                  <a:srgbClr val="FFFFFF"/>
                </a:solidFill>
                <a:latin typeface="Ubuntu" pitchFamily="34" charset="0"/>
                <a:ea typeface="Ubuntu" pitchFamily="34" charset="-122"/>
                <a:cs typeface="Ubuntu" pitchFamily="34" charset="-120"/>
              </a:rPr>
              <a:t>· Per station</a:t>
            </a:r>
            <a:endParaRPr lang="en-US" sz="1400" dirty="0"/>
          </a:p>
        </p:txBody>
      </p:sp>
      <p:sp>
        <p:nvSpPr>
          <p:cNvPr id="23" name="Text 19"/>
          <p:cNvSpPr/>
          <p:nvPr/>
        </p:nvSpPr>
        <p:spPr>
          <a:xfrm>
            <a:off x="0" y="4781848"/>
            <a:ext cx="9144000" cy="361950"/>
          </a:xfrm>
          <a:prstGeom prst="rect">
            <a:avLst/>
          </a:prstGeom>
          <a:ln/>
        </p:spPr>
        <p:txBody>
          <a:bodyPr wrap="square" lIns="0" tIns="0" rIns="0" bIns="0" rtlCol="0" anchor="t"/>
          <a:lstStyle/>
          <a:p>
            <a:pPr algn="l" indent="0" marL="0">
              <a:lnSpc>
                <a:spcPts val="1188"/>
              </a:lnSpc>
              <a:buNone/>
            </a:pPr>
            <a:r>
              <a:rPr lang="en-US" sz="700" dirty="0">
                <a:solidFill>
                  <a:srgbClr val="FFFFFF"/>
                </a:solidFill>
                <a:latin typeface="Ubuntu" pitchFamily="34" charset="0"/>
                <a:ea typeface="Ubuntu" pitchFamily="34" charset="-122"/>
                <a:cs typeface="Ubuntu" pitchFamily="34" charset="-120"/>
              </a:rPr>
              <a:t>RADIO MEGA</a:t>
            </a:r>
            <a:pPr algn="l" indent="0" marL="0">
              <a:lnSpc>
                <a:spcPts val="1188"/>
              </a:lnSpc>
              <a:buNone/>
            </a:pPr>
            <a:r>
              <a:rPr lang="en-US" sz="700" dirty="0">
                <a:solidFill>
                  <a:srgbClr val="FFFFFF"/>
                </a:solidFill>
                <a:latin typeface="Ubuntu" pitchFamily="34" charset="0"/>
                <a:ea typeface="Ubuntu" pitchFamily="34" charset="-122"/>
                <a:cs typeface="Ubuntu" pitchFamily="34" charset="-120"/>
              </a:rPr>
              <a:t>6 / 18</a:t>
            </a:r>
            <a:endParaRPr lang="en-US" sz="700" dirty="0"/>
          </a:p>
        </p:txBody>
      </p:sp>
      <p:pic>
        <p:nvPicPr>
          <p:cNvPr id="24"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0" y="4781848"/>
            <a:ext cx="9144000" cy="36195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E0E0E"/>
          </a:solidFill>
          <a:ln/>
        </p:spPr>
      </p:sp>
      <p:pic>
        <p:nvPicPr>
          <p:cNvPr id="3"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0" y="0"/>
            <a:ext cx="9144000" cy="5143500"/>
          </a:xfrm>
          <a:prstGeom prst="rect">
            <a:avLst/>
          </a:prstGeom>
        </p:spPr>
      </p:pic>
      <p:pic>
        <p:nvPicPr>
          <p:cNvPr id="4"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680710" y="-462915"/>
            <a:ext cx="3726180" cy="3726180"/>
          </a:xfrm>
          <a:prstGeom prst="rect">
            <a:avLst/>
          </a:prstGeom>
        </p:spPr>
      </p:pic>
      <p:sp>
        <p:nvSpPr>
          <p:cNvPr id="5" name="Text 1"/>
          <p:cNvSpPr/>
          <p:nvPr/>
        </p:nvSpPr>
        <p:spPr>
          <a:xfrm>
            <a:off x="730523" y="833400"/>
            <a:ext cx="3476625" cy="138113"/>
          </a:xfrm>
          <a:prstGeom prst="rect">
            <a:avLst/>
          </a:prstGeom>
          <a:ln/>
        </p:spPr>
        <p:txBody>
          <a:bodyPr wrap="square" lIns="0" tIns="0" rIns="0" bIns="0" rtlCol="0" anchor="t"/>
          <a:lstStyle/>
          <a:p>
            <a:pPr algn="l" indent="0" marL="0">
              <a:lnSpc>
                <a:spcPts val="1080"/>
              </a:lnSpc>
              <a:spcAft>
                <a:spcPts val="810"/>
              </a:spcAft>
              <a:buNone/>
            </a:pPr>
            <a:r>
              <a:rPr lang="en-US" sz="700" b="1" dirty="0">
                <a:solidFill>
                  <a:srgbClr val="FF4199"/>
                </a:solidFill>
                <a:latin typeface="Ubuntu" pitchFamily="34" charset="0"/>
                <a:ea typeface="Ubuntu" pitchFamily="34" charset="-122"/>
                <a:cs typeface="Ubuntu" pitchFamily="34" charset="-120"/>
              </a:rPr>
              <a:t>REVENUE PROJECTIONS</a:t>
            </a:r>
            <a:endParaRPr lang="en-US" sz="700" dirty="0"/>
          </a:p>
        </p:txBody>
      </p:sp>
      <p:sp>
        <p:nvSpPr>
          <p:cNvPr id="6" name="Text 2"/>
          <p:cNvSpPr/>
          <p:nvPr/>
        </p:nvSpPr>
        <p:spPr>
          <a:xfrm>
            <a:off x="730523" y="1073721"/>
            <a:ext cx="3476625" cy="804862"/>
          </a:xfrm>
          <a:prstGeom prst="rect">
            <a:avLst/>
          </a:prstGeom>
          <a:ln/>
        </p:spPr>
        <p:txBody>
          <a:bodyPr wrap="square" lIns="0" tIns="0" rIns="0" bIns="0" rtlCol="0" anchor="t"/>
          <a:lstStyle/>
          <a:p>
            <a:pPr algn="l" indent="0" marL="0">
              <a:lnSpc>
                <a:spcPts val="3168"/>
              </a:lnSpc>
              <a:spcAft>
                <a:spcPts val="1620"/>
              </a:spcAft>
              <a:buNone/>
            </a:pPr>
            <a:r>
              <a:rPr lang="en-US" sz="2800" b="1" dirty="0">
                <a:solidFill>
                  <a:srgbClr val="FFFFFF"/>
                </a:solidFill>
                <a:latin typeface="Ubuntu" pitchFamily="34" charset="0"/>
                <a:ea typeface="Ubuntu" pitchFamily="34" charset="-122"/>
                <a:cs typeface="Ubuntu" pitchFamily="34" charset="-120"/>
              </a:rPr>
              <a:t>Path to $10M ARR by Year 3</a:t>
            </a:r>
            <a:endParaRPr lang="en-US" sz="2800" dirty="0"/>
          </a:p>
        </p:txBody>
      </p:sp>
      <p:sp>
        <p:nvSpPr>
          <p:cNvPr id="7" name="Text 3"/>
          <p:cNvSpPr/>
          <p:nvPr/>
        </p:nvSpPr>
        <p:spPr>
          <a:xfrm>
            <a:off x="730523" y="2084598"/>
            <a:ext cx="3476625" cy="381000"/>
          </a:xfrm>
          <a:prstGeom prst="rect">
            <a:avLst/>
          </a:prstGeom>
          <a:ln/>
        </p:spPr>
        <p:txBody>
          <a:bodyPr wrap="square" lIns="0" tIns="0" rIns="0" bIns="0" rtlCol="0" anchor="ctr"/>
          <a:lstStyle/>
          <a:p>
            <a:pPr algn="l" indent="0" marL="0">
              <a:lnSpc>
                <a:spcPts val="1620"/>
              </a:lnSpc>
              <a:buNone/>
            </a:pPr>
            <a:r>
              <a:rPr lang="en-US" sz="1000" dirty="0">
                <a:solidFill>
                  <a:srgbClr val="FFFFFF"/>
                </a:solidFill>
                <a:latin typeface="Ubuntu" pitchFamily="34" charset="0"/>
                <a:ea typeface="Ubuntu" pitchFamily="34" charset="-122"/>
                <a:cs typeface="Ubuntu" pitchFamily="34" charset="-120"/>
              </a:rPr>
              <a:t>Year 1 (2026)</a:t>
            </a:r>
            <a:pPr algn="l" indent="0" marL="0">
              <a:lnSpc>
                <a:spcPts val="2160"/>
              </a:lnSpc>
              <a:buNone/>
            </a:pPr>
            <a:r>
              <a:rPr lang="en-US" sz="1400" b="1" dirty="0">
                <a:solidFill>
                  <a:srgbClr val="FFFFFF"/>
                </a:solidFill>
                <a:latin typeface="Ubuntu" pitchFamily="34" charset="0"/>
                <a:ea typeface="Ubuntu" pitchFamily="34" charset="-122"/>
                <a:cs typeface="Ubuntu" pitchFamily="34" charset="-120"/>
              </a:rPr>
              <a:t>$820K</a:t>
            </a:r>
            <a:endParaRPr lang="en-US" sz="1000" dirty="0"/>
          </a:p>
        </p:txBody>
      </p:sp>
      <p:sp>
        <p:nvSpPr>
          <p:cNvPr id="8" name="Text 4"/>
          <p:cNvSpPr/>
          <p:nvPr/>
        </p:nvSpPr>
        <p:spPr>
          <a:xfrm>
            <a:off x="730523" y="2569406"/>
            <a:ext cx="3476625" cy="381000"/>
          </a:xfrm>
          <a:prstGeom prst="rect">
            <a:avLst/>
          </a:prstGeom>
          <a:ln/>
        </p:spPr>
        <p:txBody>
          <a:bodyPr wrap="square" lIns="0" tIns="0" rIns="0" bIns="0" rtlCol="0" anchor="ctr"/>
          <a:lstStyle/>
          <a:p>
            <a:pPr algn="l" indent="0" marL="0">
              <a:lnSpc>
                <a:spcPts val="1620"/>
              </a:lnSpc>
              <a:buNone/>
            </a:pPr>
            <a:r>
              <a:rPr lang="en-US" sz="1000" dirty="0">
                <a:solidFill>
                  <a:srgbClr val="FFFFFF"/>
                </a:solidFill>
                <a:latin typeface="Ubuntu" pitchFamily="34" charset="0"/>
                <a:ea typeface="Ubuntu" pitchFamily="34" charset="-122"/>
                <a:cs typeface="Ubuntu" pitchFamily="34" charset="-120"/>
              </a:rPr>
              <a:t>Year 2 (2027)</a:t>
            </a:r>
            <a:pPr algn="l" indent="0" marL="0">
              <a:lnSpc>
                <a:spcPts val="2160"/>
              </a:lnSpc>
              <a:buNone/>
            </a:pPr>
            <a:r>
              <a:rPr lang="en-US" sz="1400" b="1" dirty="0">
                <a:solidFill>
                  <a:srgbClr val="FF4199"/>
                </a:solidFill>
                <a:latin typeface="Ubuntu" pitchFamily="34" charset="0"/>
                <a:ea typeface="Ubuntu" pitchFamily="34" charset="-122"/>
                <a:cs typeface="Ubuntu" pitchFamily="34" charset="-120"/>
              </a:rPr>
              <a:t>$3.4M</a:t>
            </a:r>
            <a:endParaRPr lang="en-US" sz="1000" dirty="0"/>
          </a:p>
        </p:txBody>
      </p:sp>
      <p:sp>
        <p:nvSpPr>
          <p:cNvPr id="9" name="Text 5"/>
          <p:cNvSpPr/>
          <p:nvPr/>
        </p:nvSpPr>
        <p:spPr>
          <a:xfrm>
            <a:off x="730523" y="3052800"/>
            <a:ext cx="3476625" cy="276225"/>
          </a:xfrm>
          <a:prstGeom prst="rect">
            <a:avLst/>
          </a:prstGeom>
          <a:ln/>
        </p:spPr>
        <p:txBody>
          <a:bodyPr wrap="square" lIns="0" tIns="0" rIns="0" bIns="0" rtlCol="0" anchor="ctr"/>
          <a:lstStyle/>
          <a:p>
            <a:pPr algn="l" indent="0" marL="0">
              <a:lnSpc>
                <a:spcPts val="1620"/>
              </a:lnSpc>
              <a:buNone/>
            </a:pPr>
            <a:r>
              <a:rPr lang="en-US" sz="1000" dirty="0">
                <a:solidFill>
                  <a:srgbClr val="FFFFFF"/>
                </a:solidFill>
                <a:latin typeface="Ubuntu" pitchFamily="34" charset="0"/>
                <a:ea typeface="Ubuntu" pitchFamily="34" charset="-122"/>
                <a:cs typeface="Ubuntu" pitchFamily="34" charset="-120"/>
              </a:rPr>
              <a:t>Year 3 (2028)</a:t>
            </a:r>
            <a:pPr algn="l" indent="0" marL="0">
              <a:lnSpc>
                <a:spcPts val="2160"/>
              </a:lnSpc>
              <a:buNone/>
            </a:pPr>
            <a:r>
              <a:rPr lang="en-US" sz="1400" b="1" dirty="0">
                <a:solidFill>
                  <a:srgbClr val="01D7FB"/>
                </a:solidFill>
                <a:latin typeface="Ubuntu" pitchFamily="34" charset="0"/>
                <a:ea typeface="Ubuntu" pitchFamily="34" charset="-122"/>
                <a:cs typeface="Ubuntu" pitchFamily="34" charset="-120"/>
              </a:rPr>
              <a:t>$10.1M</a:t>
            </a:r>
            <a:endParaRPr lang="en-US" sz="1000" dirty="0"/>
          </a:p>
        </p:txBody>
      </p:sp>
      <p:sp>
        <p:nvSpPr>
          <p:cNvPr id="10" name="Shape 6"/>
          <p:cNvSpPr/>
          <p:nvPr/>
        </p:nvSpPr>
        <p:spPr>
          <a:xfrm>
            <a:off x="730523" y="3533515"/>
            <a:ext cx="3476625" cy="776287"/>
          </a:xfrm>
          <a:prstGeom prst="roundRect">
            <a:avLst>
              <a:gd name="adj" fmla="val 11100"/>
            </a:avLst>
          </a:prstGeom>
          <a:solidFill>
            <a:srgbClr val="FF4199">
              <a:alpha val="6000"/>
            </a:srgbClr>
          </a:solidFill>
          <a:ln w="4763">
            <a:solidFill>
              <a:srgbClr val="FF4199">
                <a:alpha val="15000"/>
              </a:srgbClr>
            </a:solidFill>
            <a:prstDash val="solid"/>
          </a:ln>
        </p:spPr>
      </p:sp>
      <p:sp>
        <p:nvSpPr>
          <p:cNvPr id="11" name="Text 7"/>
          <p:cNvSpPr/>
          <p:nvPr/>
        </p:nvSpPr>
        <p:spPr>
          <a:xfrm>
            <a:off x="963885" y="3642122"/>
            <a:ext cx="3009900" cy="190500"/>
          </a:xfrm>
          <a:prstGeom prst="rect">
            <a:avLst/>
          </a:prstGeom>
          <a:ln/>
        </p:spPr>
        <p:txBody>
          <a:bodyPr wrap="square" lIns="0" tIns="0" rIns="0" bIns="0" rtlCol="0" anchor="t"/>
          <a:lstStyle/>
          <a:p>
            <a:pPr algn="l" indent="0" marL="0">
              <a:lnSpc>
                <a:spcPts val="1512"/>
              </a:lnSpc>
              <a:spcAft>
                <a:spcPts val="203"/>
              </a:spcAft>
              <a:buNone/>
            </a:pPr>
            <a:r>
              <a:rPr lang="en-US" sz="1000" dirty="0">
                <a:solidFill>
                  <a:srgbClr val="FFFFFF"/>
                </a:solidFill>
                <a:latin typeface="Ubuntu" pitchFamily="34" charset="0"/>
                <a:ea typeface="Ubuntu" pitchFamily="34" charset="-122"/>
                <a:cs typeface="Ubuntu" pitchFamily="34" charset="-120"/>
              </a:rPr>
              <a:t>Gross margin target</a:t>
            </a:r>
            <a:endParaRPr lang="en-US" sz="1000" dirty="0"/>
          </a:p>
        </p:txBody>
      </p:sp>
      <p:sp>
        <p:nvSpPr>
          <p:cNvPr id="12" name="Text 8"/>
          <p:cNvSpPr/>
          <p:nvPr/>
        </p:nvSpPr>
        <p:spPr>
          <a:xfrm>
            <a:off x="963885" y="3859039"/>
            <a:ext cx="3009900" cy="342900"/>
          </a:xfrm>
          <a:prstGeom prst="rect">
            <a:avLst/>
          </a:prstGeom>
          <a:ln/>
        </p:spPr>
        <p:txBody>
          <a:bodyPr wrap="square" lIns="0" tIns="0" rIns="0" bIns="0" rtlCol="0" anchor="t"/>
          <a:lstStyle/>
          <a:p>
            <a:pPr algn="l" indent="0" marL="0">
              <a:lnSpc>
                <a:spcPts val="2700"/>
              </a:lnSpc>
              <a:buNone/>
            </a:pPr>
            <a:r>
              <a:rPr lang="en-US" sz="1800" b="1" dirty="0">
                <a:solidFill>
                  <a:srgbClr val="FF4199"/>
                </a:solidFill>
                <a:latin typeface="Ubuntu" pitchFamily="34" charset="0"/>
                <a:ea typeface="Ubuntu" pitchFamily="34" charset="-122"/>
                <a:cs typeface="Ubuntu" pitchFamily="34" charset="-120"/>
              </a:rPr>
              <a:t>72%</a:t>
            </a:r>
            <a:endParaRPr lang="en-US" sz="1800" dirty="0"/>
          </a:p>
        </p:txBody>
      </p:sp>
      <p:sp>
        <p:nvSpPr>
          <p:cNvPr id="13" name="Text 9"/>
          <p:cNvSpPr/>
          <p:nvPr/>
        </p:nvSpPr>
        <p:spPr>
          <a:xfrm>
            <a:off x="4754835" y="1087041"/>
            <a:ext cx="3657600" cy="166688"/>
          </a:xfrm>
          <a:prstGeom prst="rect">
            <a:avLst/>
          </a:prstGeom>
          <a:ln/>
        </p:spPr>
        <p:txBody>
          <a:bodyPr wrap="square" lIns="0" tIns="0" rIns="0" bIns="0" rtlCol="0" anchor="t"/>
          <a:lstStyle/>
          <a:p>
            <a:pPr algn="l" indent="0" marL="0">
              <a:lnSpc>
                <a:spcPts val="1296"/>
              </a:lnSpc>
              <a:spcAft>
                <a:spcPts val="1215"/>
              </a:spcAft>
              <a:buNone/>
            </a:pPr>
            <a:r>
              <a:rPr lang="en-US" sz="800" dirty="0">
                <a:solidFill>
                  <a:srgbClr val="FFFFFF"/>
                </a:solidFill>
                <a:latin typeface="Ubuntu" pitchFamily="34" charset="0"/>
                <a:ea typeface="Ubuntu" pitchFamily="34" charset="-122"/>
                <a:cs typeface="Ubuntu" pitchFamily="34" charset="-120"/>
              </a:rPr>
              <a:t>ARR GROWTH ($M)</a:t>
            </a:r>
            <a:endParaRPr lang="en-US" sz="800" dirty="0"/>
          </a:p>
        </p:txBody>
      </p:sp>
      <p:sp>
        <p:nvSpPr>
          <p:cNvPr id="14" name="Text 10"/>
          <p:cNvSpPr/>
          <p:nvPr/>
        </p:nvSpPr>
        <p:spPr>
          <a:xfrm>
            <a:off x="5039544" y="2772445"/>
            <a:ext cx="466725" cy="204787"/>
          </a:xfrm>
          <a:prstGeom prst="rect">
            <a:avLst/>
          </a:prstGeom>
          <a:ln/>
        </p:spPr>
        <p:txBody>
          <a:bodyPr wrap="square" lIns="0" tIns="0" rIns="0" bIns="0" rtlCol="0" anchor="t"/>
          <a:lstStyle/>
          <a:p>
            <a:pPr algn="l" indent="0" marL="0">
              <a:lnSpc>
                <a:spcPts val="1620"/>
              </a:lnSpc>
              <a:buNone/>
            </a:pPr>
            <a:r>
              <a:rPr lang="en-US" sz="1000" b="1" dirty="0">
                <a:solidFill>
                  <a:srgbClr val="FFFFFF"/>
                </a:solidFill>
                <a:latin typeface="Ubuntu" pitchFamily="34" charset="0"/>
                <a:ea typeface="Ubuntu" pitchFamily="34" charset="-122"/>
                <a:cs typeface="Ubuntu" pitchFamily="34" charset="-120"/>
              </a:rPr>
              <a:t>$0.82M</a:t>
            </a:r>
            <a:endParaRPr lang="en-US" sz="1000" dirty="0"/>
          </a:p>
        </p:txBody>
      </p:sp>
      <p:sp>
        <p:nvSpPr>
          <p:cNvPr id="15" name="Shape 11"/>
          <p:cNvSpPr/>
          <p:nvPr/>
        </p:nvSpPr>
        <p:spPr>
          <a:xfrm>
            <a:off x="4753831" y="3055702"/>
            <a:ext cx="1038225" cy="152400"/>
          </a:xfrm>
          <a:prstGeom prst="roundRect">
            <a:avLst>
              <a:gd name="adj" fmla="val 45000"/>
            </a:avLst>
          </a:prstGeom>
          <a:solidFill>
            <a:srgbClr val="FF4199">
              <a:alpha val="40000"/>
            </a:srgbClr>
          </a:solidFill>
          <a:ln/>
        </p:spPr>
      </p:sp>
      <p:sp>
        <p:nvSpPr>
          <p:cNvPr id="16" name="Text 12"/>
          <p:cNvSpPr/>
          <p:nvPr/>
        </p:nvSpPr>
        <p:spPr>
          <a:xfrm>
            <a:off x="5139593" y="3287130"/>
            <a:ext cx="266700" cy="176212"/>
          </a:xfrm>
          <a:prstGeom prst="rect">
            <a:avLst/>
          </a:prstGeom>
          <a:ln/>
        </p:spPr>
        <p:txBody>
          <a:bodyPr wrap="square" lIns="0" tIns="0" rIns="0" bIns="0" rtlCol="0" anchor="t"/>
          <a:lstStyle/>
          <a:p>
            <a:pPr algn="l" indent="0" marL="0">
              <a:lnSpc>
                <a:spcPts val="1404"/>
              </a:lnSpc>
              <a:buNone/>
            </a:pPr>
            <a:r>
              <a:rPr lang="en-US" sz="900" dirty="0">
                <a:solidFill>
                  <a:srgbClr val="FFFFFF"/>
                </a:solidFill>
                <a:latin typeface="Ubuntu" pitchFamily="34" charset="0"/>
                <a:ea typeface="Ubuntu" pitchFamily="34" charset="-122"/>
                <a:cs typeface="Ubuntu" pitchFamily="34" charset="-120"/>
              </a:rPr>
              <a:t>2026</a:t>
            </a:r>
            <a:endParaRPr lang="en-US" sz="900" dirty="0"/>
          </a:p>
        </p:txBody>
      </p:sp>
      <p:sp>
        <p:nvSpPr>
          <p:cNvPr id="17" name="Text 13"/>
          <p:cNvSpPr/>
          <p:nvPr/>
        </p:nvSpPr>
        <p:spPr>
          <a:xfrm>
            <a:off x="6388298" y="2926705"/>
            <a:ext cx="390525" cy="204787"/>
          </a:xfrm>
          <a:prstGeom prst="rect">
            <a:avLst/>
          </a:prstGeom>
          <a:ln/>
        </p:spPr>
        <p:txBody>
          <a:bodyPr wrap="square" lIns="0" tIns="0" rIns="0" bIns="0" rtlCol="0" anchor="t"/>
          <a:lstStyle/>
          <a:p>
            <a:pPr algn="l" indent="0" marL="0">
              <a:lnSpc>
                <a:spcPts val="1620"/>
              </a:lnSpc>
              <a:buNone/>
            </a:pPr>
            <a:r>
              <a:rPr lang="en-US" sz="1000" b="1" dirty="0">
                <a:solidFill>
                  <a:srgbClr val="FF4199"/>
                </a:solidFill>
                <a:latin typeface="Ubuntu" pitchFamily="34" charset="0"/>
                <a:ea typeface="Ubuntu" pitchFamily="34" charset="-122"/>
                <a:cs typeface="Ubuntu" pitchFamily="34" charset="-120"/>
              </a:rPr>
              <a:t>$3.4M</a:t>
            </a:r>
            <a:endParaRPr lang="en-US" sz="1000" dirty="0"/>
          </a:p>
        </p:txBody>
      </p:sp>
      <p:sp>
        <p:nvSpPr>
          <p:cNvPr id="18" name="Text 14"/>
          <p:cNvSpPr/>
          <p:nvPr/>
        </p:nvSpPr>
        <p:spPr>
          <a:xfrm>
            <a:off x="6450248" y="3287130"/>
            <a:ext cx="266700" cy="176212"/>
          </a:xfrm>
          <a:prstGeom prst="rect">
            <a:avLst/>
          </a:prstGeom>
          <a:ln/>
        </p:spPr>
        <p:txBody>
          <a:bodyPr wrap="square" lIns="0" tIns="0" rIns="0" bIns="0" rtlCol="0" anchor="t"/>
          <a:lstStyle/>
          <a:p>
            <a:pPr algn="l" indent="0" marL="0">
              <a:lnSpc>
                <a:spcPts val="1404"/>
              </a:lnSpc>
              <a:buNone/>
            </a:pPr>
            <a:r>
              <a:rPr lang="en-US" sz="900" dirty="0">
                <a:solidFill>
                  <a:srgbClr val="FFFFFF"/>
                </a:solidFill>
                <a:latin typeface="Ubuntu" pitchFamily="34" charset="0"/>
                <a:ea typeface="Ubuntu" pitchFamily="34" charset="-122"/>
                <a:cs typeface="Ubuntu" pitchFamily="34" charset="-120"/>
              </a:rPr>
              <a:t>2027</a:t>
            </a:r>
            <a:endParaRPr lang="en-US" sz="900" dirty="0"/>
          </a:p>
        </p:txBody>
      </p:sp>
      <p:sp>
        <p:nvSpPr>
          <p:cNvPr id="19" name="Text 15"/>
          <p:cNvSpPr/>
          <p:nvPr/>
        </p:nvSpPr>
        <p:spPr>
          <a:xfrm>
            <a:off x="7660853" y="2926705"/>
            <a:ext cx="466725" cy="204787"/>
          </a:xfrm>
          <a:prstGeom prst="rect">
            <a:avLst/>
          </a:prstGeom>
          <a:ln/>
        </p:spPr>
        <p:txBody>
          <a:bodyPr wrap="square" lIns="0" tIns="0" rIns="0" bIns="0" rtlCol="0" anchor="t"/>
          <a:lstStyle/>
          <a:p>
            <a:pPr algn="l" indent="0" marL="0">
              <a:lnSpc>
                <a:spcPts val="1620"/>
              </a:lnSpc>
              <a:buNone/>
            </a:pPr>
            <a:r>
              <a:rPr lang="en-US" sz="1000" b="1" dirty="0">
                <a:solidFill>
                  <a:srgbClr val="FF4199"/>
                </a:solidFill>
                <a:latin typeface="Ubuntu" pitchFamily="34" charset="0"/>
                <a:ea typeface="Ubuntu" pitchFamily="34" charset="-122"/>
                <a:cs typeface="Ubuntu" pitchFamily="34" charset="-120"/>
              </a:rPr>
              <a:t>$10.1M</a:t>
            </a:r>
            <a:endParaRPr lang="en-US" sz="1000" dirty="0"/>
          </a:p>
        </p:txBody>
      </p:sp>
      <p:sp>
        <p:nvSpPr>
          <p:cNvPr id="20" name="Text 16"/>
          <p:cNvSpPr/>
          <p:nvPr/>
        </p:nvSpPr>
        <p:spPr>
          <a:xfrm>
            <a:off x="7760903" y="3287130"/>
            <a:ext cx="266700" cy="176212"/>
          </a:xfrm>
          <a:prstGeom prst="rect">
            <a:avLst/>
          </a:prstGeom>
          <a:ln/>
        </p:spPr>
        <p:txBody>
          <a:bodyPr wrap="square" lIns="0" tIns="0" rIns="0" bIns="0" rtlCol="0" anchor="t"/>
          <a:lstStyle/>
          <a:p>
            <a:pPr algn="l" indent="0" marL="0">
              <a:lnSpc>
                <a:spcPts val="1404"/>
              </a:lnSpc>
              <a:buNone/>
            </a:pPr>
            <a:r>
              <a:rPr lang="en-US" sz="900" dirty="0">
                <a:solidFill>
                  <a:srgbClr val="FFFFFF"/>
                </a:solidFill>
                <a:latin typeface="Ubuntu" pitchFamily="34" charset="0"/>
                <a:ea typeface="Ubuntu" pitchFamily="34" charset="-122"/>
                <a:cs typeface="Ubuntu" pitchFamily="34" charset="-120"/>
              </a:rPr>
              <a:t>2028</a:t>
            </a:r>
            <a:endParaRPr lang="en-US" sz="900" dirty="0"/>
          </a:p>
        </p:txBody>
      </p:sp>
      <p:sp>
        <p:nvSpPr>
          <p:cNvPr id="21" name="Text 17"/>
          <p:cNvSpPr/>
          <p:nvPr/>
        </p:nvSpPr>
        <p:spPr>
          <a:xfrm>
            <a:off x="4754835" y="3617937"/>
            <a:ext cx="3657600" cy="438150"/>
          </a:xfrm>
          <a:prstGeom prst="rect">
            <a:avLst/>
          </a:prstGeom>
          <a:ln/>
        </p:spPr>
        <p:txBody>
          <a:bodyPr wrap="square" lIns="0" tIns="0" rIns="0" bIns="0" rtlCol="0" anchor="t"/>
          <a:lstStyle/>
          <a:p>
            <a:pPr algn="l" indent="0" marL="0">
              <a:lnSpc>
                <a:spcPts val="1296"/>
              </a:lnSpc>
              <a:spcBef>
                <a:spcPts val="1215"/>
              </a:spcBef>
              <a:buNone/>
            </a:pPr>
            <a:r>
              <a:rPr lang="en-US" sz="800" dirty="0">
                <a:solidFill>
                  <a:srgbClr val="FFFFFF"/>
                </a:solidFill>
                <a:latin typeface="Ubuntu" pitchFamily="34" charset="0"/>
                <a:ea typeface="Ubuntu" pitchFamily="34" charset="-122"/>
                <a:cs typeface="Ubuntu" pitchFamily="34" charset="-120"/>
              </a:rPr>
              <a:t>Projections based on 150K premium users Y1, 600K Y2, 1.8M Y3 — plus B2B and advertising revenue</a:t>
            </a:r>
            <a:endParaRPr lang="en-US" sz="800" dirty="0"/>
          </a:p>
        </p:txBody>
      </p:sp>
      <p:sp>
        <p:nvSpPr>
          <p:cNvPr id="22" name="Text 18"/>
          <p:cNvSpPr/>
          <p:nvPr/>
        </p:nvSpPr>
        <p:spPr>
          <a:xfrm>
            <a:off x="0" y="4781848"/>
            <a:ext cx="9144000" cy="361950"/>
          </a:xfrm>
          <a:prstGeom prst="rect">
            <a:avLst/>
          </a:prstGeom>
          <a:ln/>
        </p:spPr>
        <p:txBody>
          <a:bodyPr wrap="square" lIns="0" tIns="0" rIns="0" bIns="0" rtlCol="0" anchor="t"/>
          <a:lstStyle/>
          <a:p>
            <a:pPr algn="l" indent="0" marL="0">
              <a:lnSpc>
                <a:spcPts val="1188"/>
              </a:lnSpc>
              <a:buNone/>
            </a:pPr>
            <a:r>
              <a:rPr lang="en-US" sz="700" dirty="0">
                <a:solidFill>
                  <a:srgbClr val="FFFFFF"/>
                </a:solidFill>
                <a:latin typeface="Ubuntu" pitchFamily="34" charset="0"/>
                <a:ea typeface="Ubuntu" pitchFamily="34" charset="-122"/>
                <a:cs typeface="Ubuntu" pitchFamily="34" charset="-120"/>
              </a:rPr>
              <a:t>RADIO MEGA</a:t>
            </a:r>
            <a:pPr algn="l" indent="0" marL="0">
              <a:lnSpc>
                <a:spcPts val="1188"/>
              </a:lnSpc>
              <a:buNone/>
            </a:pPr>
            <a:r>
              <a:rPr lang="en-US" sz="700" dirty="0">
                <a:solidFill>
                  <a:srgbClr val="FFFFFF"/>
                </a:solidFill>
                <a:latin typeface="Ubuntu" pitchFamily="34" charset="0"/>
                <a:ea typeface="Ubuntu" pitchFamily="34" charset="-122"/>
                <a:cs typeface="Ubuntu" pitchFamily="34" charset="-120"/>
              </a:rPr>
              <a:t>7 / 18</a:t>
            </a:r>
            <a:endParaRPr lang="en-US" sz="700" dirty="0"/>
          </a:p>
        </p:txBody>
      </p:sp>
      <p:pic>
        <p:nvPicPr>
          <p:cNvPr id="23"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30523" y="2084598"/>
            <a:ext cx="3476625" cy="381000"/>
          </a:xfrm>
          <a:prstGeom prst="rect">
            <a:avLst/>
          </a:prstGeom>
        </p:spPr>
      </p:pic>
      <p:pic>
        <p:nvPicPr>
          <p:cNvPr id="24"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730523" y="2569406"/>
            <a:ext cx="3476625" cy="381000"/>
          </a:xfrm>
          <a:prstGeom prst="rect">
            <a:avLst/>
          </a:prstGeom>
        </p:spPr>
      </p:pic>
      <p:pic>
        <p:nvPicPr>
          <p:cNvPr id="25" name="Image 4" descr="preencoded.png">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4754835" y="3617937"/>
            <a:ext cx="3657600" cy="438150"/>
          </a:xfrm>
          <a:prstGeom prst="rect">
            <a:avLst/>
          </a:prstGeom>
        </p:spPr>
      </p:pic>
      <p:pic>
        <p:nvPicPr>
          <p:cNvPr id="26" name="Image 5" descr="preencoded.png">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0" y="4781848"/>
            <a:ext cx="9144000" cy="36195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E0E0E"/>
          </a:solidFill>
          <a:ln/>
        </p:spPr>
      </p:sp>
      <p:pic>
        <p:nvPicPr>
          <p:cNvPr id="3"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0" y="0"/>
            <a:ext cx="9144000" cy="5143500"/>
          </a:xfrm>
          <a:prstGeom prst="rect">
            <a:avLst/>
          </a:prstGeom>
        </p:spPr>
      </p:pic>
      <p:pic>
        <p:nvPicPr>
          <p:cNvPr id="4"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834640" y="-822960"/>
            <a:ext cx="3931920" cy="3931920"/>
          </a:xfrm>
          <a:prstGeom prst="rect">
            <a:avLst/>
          </a:prstGeom>
        </p:spPr>
      </p:pic>
      <p:sp>
        <p:nvSpPr>
          <p:cNvPr id="5" name="Text 1"/>
          <p:cNvSpPr/>
          <p:nvPr/>
        </p:nvSpPr>
        <p:spPr>
          <a:xfrm>
            <a:off x="731044" y="359532"/>
            <a:ext cx="7681912" cy="138113"/>
          </a:xfrm>
          <a:prstGeom prst="rect">
            <a:avLst/>
          </a:prstGeom>
          <a:ln/>
        </p:spPr>
        <p:txBody>
          <a:bodyPr wrap="square" lIns="0" tIns="0" rIns="0" bIns="0" rtlCol="0" anchor="t"/>
          <a:lstStyle/>
          <a:p>
            <a:pPr algn="l" indent="0" marL="0">
              <a:lnSpc>
                <a:spcPts val="1080"/>
              </a:lnSpc>
              <a:spcAft>
                <a:spcPts val="810"/>
              </a:spcAft>
              <a:buNone/>
            </a:pPr>
            <a:r>
              <a:rPr lang="en-US" sz="700" b="1" dirty="0">
                <a:solidFill>
                  <a:srgbClr val="01D7FB"/>
                </a:solidFill>
                <a:latin typeface="Ubuntu" pitchFamily="34" charset="0"/>
                <a:ea typeface="Ubuntu" pitchFamily="34" charset="-122"/>
                <a:cs typeface="Ubuntu" pitchFamily="34" charset="-120"/>
              </a:rPr>
              <a:t>TECHNOLOGY</a:t>
            </a:r>
            <a:endParaRPr lang="en-US" sz="700" dirty="0"/>
          </a:p>
        </p:txBody>
      </p:sp>
      <p:sp>
        <p:nvSpPr>
          <p:cNvPr id="6" name="Text 2"/>
          <p:cNvSpPr/>
          <p:nvPr/>
        </p:nvSpPr>
        <p:spPr>
          <a:xfrm>
            <a:off x="731044" y="601117"/>
            <a:ext cx="7681912" cy="400050"/>
          </a:xfrm>
          <a:prstGeom prst="rect">
            <a:avLst/>
          </a:prstGeom>
          <a:ln/>
        </p:spPr>
        <p:txBody>
          <a:bodyPr wrap="square" lIns="0" tIns="0" rIns="0" bIns="0" rtlCol="0" anchor="t"/>
          <a:lstStyle/>
          <a:p>
            <a:pPr algn="l" indent="0" marL="0">
              <a:lnSpc>
                <a:spcPts val="3168"/>
              </a:lnSpc>
              <a:buNone/>
            </a:pPr>
            <a:r>
              <a:rPr lang="en-US" sz="2800" b="1" dirty="0">
                <a:solidFill>
                  <a:srgbClr val="FFFFFF"/>
                </a:solidFill>
                <a:latin typeface="Ubuntu" pitchFamily="34" charset="0"/>
                <a:ea typeface="Ubuntu" pitchFamily="34" charset="-122"/>
                <a:cs typeface="Ubuntu" pitchFamily="34" charset="-120"/>
              </a:rPr>
              <a:t>Purpose-built for every screen</a:t>
            </a:r>
            <a:endParaRPr lang="en-US" sz="2800" dirty="0"/>
          </a:p>
        </p:txBody>
      </p:sp>
      <p:sp>
        <p:nvSpPr>
          <p:cNvPr id="7" name="Shape 3"/>
          <p:cNvSpPr/>
          <p:nvPr/>
        </p:nvSpPr>
        <p:spPr>
          <a:xfrm>
            <a:off x="731974" y="1208559"/>
            <a:ext cx="3748087" cy="1828800"/>
          </a:xfrm>
          <a:prstGeom prst="roundRect">
            <a:avLst>
              <a:gd name="adj" fmla="val 3000"/>
            </a:avLst>
          </a:prstGeom>
          <a:solidFill>
            <a:srgbClr val="FF4199">
              <a:alpha val="5000"/>
            </a:srgbClr>
          </a:solidFill>
          <a:ln w="4763">
            <a:solidFill>
              <a:srgbClr val="FF4199">
                <a:alpha val="15000"/>
              </a:srgbClr>
            </a:solidFill>
            <a:prstDash val="solid"/>
          </a:ln>
        </p:spPr>
      </p:sp>
      <p:sp>
        <p:nvSpPr>
          <p:cNvPr id="8" name="Text 4"/>
          <p:cNvSpPr/>
          <p:nvPr/>
        </p:nvSpPr>
        <p:spPr>
          <a:xfrm>
            <a:off x="965336" y="1340569"/>
            <a:ext cx="3281363" cy="152400"/>
          </a:xfrm>
          <a:prstGeom prst="rect">
            <a:avLst/>
          </a:prstGeom>
          <a:ln/>
        </p:spPr>
        <p:txBody>
          <a:bodyPr wrap="square" lIns="0" tIns="0" rIns="0" bIns="0" rtlCol="0" anchor="t"/>
          <a:lstStyle/>
          <a:p>
            <a:pPr algn="l" indent="0" marL="0">
              <a:lnSpc>
                <a:spcPts val="1188"/>
              </a:lnSpc>
              <a:spcAft>
                <a:spcPts val="810"/>
              </a:spcAft>
              <a:buNone/>
            </a:pPr>
            <a:r>
              <a:rPr lang="en-US" sz="700" b="1" dirty="0">
                <a:solidFill>
                  <a:srgbClr val="FF4199"/>
                </a:solidFill>
                <a:latin typeface="Ubuntu" pitchFamily="34" charset="0"/>
                <a:ea typeface="Ubuntu" pitchFamily="34" charset="-122"/>
                <a:cs typeface="Ubuntu" pitchFamily="34" charset="-120"/>
              </a:rPr>
              <a:t>FRONTEND</a:t>
            </a:r>
            <a:endParaRPr lang="en-US" sz="700" dirty="0"/>
          </a:p>
        </p:txBody>
      </p:sp>
      <p:sp>
        <p:nvSpPr>
          <p:cNvPr id="9" name="Text 5"/>
          <p:cNvSpPr/>
          <p:nvPr/>
        </p:nvSpPr>
        <p:spPr>
          <a:xfrm>
            <a:off x="965336" y="1595512"/>
            <a:ext cx="3281363" cy="204787"/>
          </a:xfrm>
          <a:prstGeom prst="rect">
            <a:avLst/>
          </a:prstGeom>
          <a:ln/>
        </p:spPr>
        <p:txBody>
          <a:bodyPr wrap="square" lIns="0" tIns="0" rIns="0" bIns="0" rtlCol="0" anchor="ctr"/>
          <a:lstStyle/>
          <a:p>
            <a:pPr algn="l" indent="0" marL="0">
              <a:lnSpc>
                <a:spcPts val="1620"/>
              </a:lnSpc>
              <a:buNone/>
            </a:pPr>
            <a:r>
              <a:rPr lang="en-US" sz="1000" dirty="0">
                <a:solidFill>
                  <a:srgbClr val="FFFFFF"/>
                </a:solidFill>
                <a:latin typeface="Ubuntu" pitchFamily="34" charset="0"/>
                <a:ea typeface="Ubuntu" pitchFamily="34" charset="-122"/>
                <a:cs typeface="Ubuntu" pitchFamily="34" charset="-120"/>
              </a:rPr>
              <a:t>React + TypeScript</a:t>
            </a:r>
            <a:pPr algn="l" indent="0" marL="0">
              <a:lnSpc>
                <a:spcPts val="1296"/>
              </a:lnSpc>
              <a:buNone/>
            </a:pPr>
            <a:r>
              <a:rPr lang="en-US" sz="800" dirty="0">
                <a:solidFill>
                  <a:srgbClr val="FFFFFF"/>
                </a:solidFill>
                <a:latin typeface="Ubuntu" pitchFamily="34" charset="0"/>
                <a:ea typeface="Ubuntu" pitchFamily="34" charset="-122"/>
                <a:cs typeface="Ubuntu" pitchFamily="34" charset="-120"/>
              </a:rPr>
              <a:t>Core UI framework</a:t>
            </a:r>
            <a:endParaRPr lang="en-US" sz="1000" dirty="0"/>
          </a:p>
        </p:txBody>
      </p:sp>
      <p:sp>
        <p:nvSpPr>
          <p:cNvPr id="10" name="Text 6"/>
          <p:cNvSpPr/>
          <p:nvPr/>
        </p:nvSpPr>
        <p:spPr>
          <a:xfrm>
            <a:off x="965336" y="1862882"/>
            <a:ext cx="3281363" cy="204787"/>
          </a:xfrm>
          <a:prstGeom prst="rect">
            <a:avLst/>
          </a:prstGeom>
          <a:ln/>
        </p:spPr>
        <p:txBody>
          <a:bodyPr wrap="square" lIns="0" tIns="0" rIns="0" bIns="0" rtlCol="0" anchor="ctr"/>
          <a:lstStyle/>
          <a:p>
            <a:pPr algn="l" indent="0" marL="0">
              <a:lnSpc>
                <a:spcPts val="1620"/>
              </a:lnSpc>
              <a:buNone/>
            </a:pPr>
            <a:r>
              <a:rPr lang="en-US" sz="1000" dirty="0">
                <a:solidFill>
                  <a:srgbClr val="FFFFFF"/>
                </a:solidFill>
                <a:latin typeface="Ubuntu" pitchFamily="34" charset="0"/>
                <a:ea typeface="Ubuntu" pitchFamily="34" charset="-122"/>
                <a:cs typeface="Ubuntu" pitchFamily="34" charset="-120"/>
              </a:rPr>
              <a:t>Vite</a:t>
            </a:r>
            <a:pPr algn="l" indent="0" marL="0">
              <a:lnSpc>
                <a:spcPts val="1296"/>
              </a:lnSpc>
              <a:buNone/>
            </a:pPr>
            <a:r>
              <a:rPr lang="en-US" sz="800" dirty="0">
                <a:solidFill>
                  <a:srgbClr val="FFFFFF"/>
                </a:solidFill>
                <a:latin typeface="Ubuntu" pitchFamily="34" charset="0"/>
                <a:ea typeface="Ubuntu" pitchFamily="34" charset="-122"/>
                <a:cs typeface="Ubuntu" pitchFamily="34" charset="-120"/>
              </a:rPr>
              <a:t>Build tool</a:t>
            </a:r>
            <a:endParaRPr lang="en-US" sz="1000" dirty="0"/>
          </a:p>
        </p:txBody>
      </p:sp>
      <p:sp>
        <p:nvSpPr>
          <p:cNvPr id="11" name="Text 7"/>
          <p:cNvSpPr/>
          <p:nvPr/>
        </p:nvSpPr>
        <p:spPr>
          <a:xfrm>
            <a:off x="965336" y="2130251"/>
            <a:ext cx="3281363" cy="204787"/>
          </a:xfrm>
          <a:prstGeom prst="rect">
            <a:avLst/>
          </a:prstGeom>
          <a:ln/>
        </p:spPr>
        <p:txBody>
          <a:bodyPr wrap="square" lIns="0" tIns="0" rIns="0" bIns="0" rtlCol="0" anchor="ctr"/>
          <a:lstStyle/>
          <a:p>
            <a:pPr algn="l" indent="0" marL="0">
              <a:lnSpc>
                <a:spcPts val="1620"/>
              </a:lnSpc>
              <a:buNone/>
            </a:pPr>
            <a:r>
              <a:rPr lang="en-US" sz="1000" dirty="0">
                <a:solidFill>
                  <a:srgbClr val="FFFFFF"/>
                </a:solidFill>
                <a:latin typeface="Ubuntu" pitchFamily="34" charset="0"/>
                <a:ea typeface="Ubuntu" pitchFamily="34" charset="-122"/>
                <a:cs typeface="Ubuntu" pitchFamily="34" charset="-120"/>
              </a:rPr>
              <a:t>Tailwind CSS</a:t>
            </a:r>
            <a:pPr algn="l" indent="0" marL="0">
              <a:lnSpc>
                <a:spcPts val="1296"/>
              </a:lnSpc>
              <a:buNone/>
            </a:pPr>
            <a:r>
              <a:rPr lang="en-US" sz="800" dirty="0">
                <a:solidFill>
                  <a:srgbClr val="FFFFFF"/>
                </a:solidFill>
                <a:latin typeface="Ubuntu" pitchFamily="34" charset="0"/>
                <a:ea typeface="Ubuntu" pitchFamily="34" charset="-122"/>
                <a:cs typeface="Ubuntu" pitchFamily="34" charset="-120"/>
              </a:rPr>
              <a:t>Styling system</a:t>
            </a:r>
            <a:endParaRPr lang="en-US" sz="1000" dirty="0"/>
          </a:p>
        </p:txBody>
      </p:sp>
      <p:sp>
        <p:nvSpPr>
          <p:cNvPr id="12" name="Text 8"/>
          <p:cNvSpPr/>
          <p:nvPr/>
        </p:nvSpPr>
        <p:spPr>
          <a:xfrm>
            <a:off x="965336" y="2397621"/>
            <a:ext cx="3281363" cy="204787"/>
          </a:xfrm>
          <a:prstGeom prst="rect">
            <a:avLst/>
          </a:prstGeom>
          <a:ln/>
        </p:spPr>
        <p:txBody>
          <a:bodyPr wrap="square" lIns="0" tIns="0" rIns="0" bIns="0" rtlCol="0" anchor="ctr"/>
          <a:lstStyle/>
          <a:p>
            <a:pPr algn="l" indent="0" marL="0">
              <a:lnSpc>
                <a:spcPts val="1620"/>
              </a:lnSpc>
              <a:buNone/>
            </a:pPr>
            <a:r>
              <a:rPr lang="en-US" sz="1000" dirty="0">
                <a:solidFill>
                  <a:srgbClr val="FFFFFF"/>
                </a:solidFill>
                <a:latin typeface="Ubuntu" pitchFamily="34" charset="0"/>
                <a:ea typeface="Ubuntu" pitchFamily="34" charset="-122"/>
                <a:cs typeface="Ubuntu" pitchFamily="34" charset="-120"/>
              </a:rPr>
              <a:t>Wouter</a:t>
            </a:r>
            <a:pPr algn="l" indent="0" marL="0">
              <a:lnSpc>
                <a:spcPts val="1296"/>
              </a:lnSpc>
              <a:buNone/>
            </a:pPr>
            <a:r>
              <a:rPr lang="en-US" sz="800" dirty="0">
                <a:solidFill>
                  <a:srgbClr val="FFFFFF"/>
                </a:solidFill>
                <a:latin typeface="Ubuntu" pitchFamily="34" charset="0"/>
                <a:ea typeface="Ubuntu" pitchFamily="34" charset="-122"/>
                <a:cs typeface="Ubuntu" pitchFamily="34" charset="-120"/>
              </a:rPr>
              <a:t>Lightweight router</a:t>
            </a:r>
            <a:endParaRPr lang="en-US" sz="1000" dirty="0"/>
          </a:p>
        </p:txBody>
      </p:sp>
      <p:sp>
        <p:nvSpPr>
          <p:cNvPr id="13" name="Shape 9"/>
          <p:cNvSpPr/>
          <p:nvPr/>
        </p:nvSpPr>
        <p:spPr>
          <a:xfrm>
            <a:off x="4663901" y="1208559"/>
            <a:ext cx="3748087" cy="1828800"/>
          </a:xfrm>
          <a:prstGeom prst="roundRect">
            <a:avLst>
              <a:gd name="adj" fmla="val 3000"/>
            </a:avLst>
          </a:prstGeom>
          <a:solidFill>
            <a:srgbClr val="01D7FB">
              <a:alpha val="4000"/>
            </a:srgbClr>
          </a:solidFill>
          <a:ln w="4763">
            <a:solidFill>
              <a:srgbClr val="01D7FB">
                <a:alpha val="15000"/>
              </a:srgbClr>
            </a:solidFill>
            <a:prstDash val="solid"/>
          </a:ln>
        </p:spPr>
      </p:sp>
      <p:sp>
        <p:nvSpPr>
          <p:cNvPr id="14" name="Text 10"/>
          <p:cNvSpPr/>
          <p:nvPr/>
        </p:nvSpPr>
        <p:spPr>
          <a:xfrm>
            <a:off x="4897264" y="1340569"/>
            <a:ext cx="3281363" cy="152400"/>
          </a:xfrm>
          <a:prstGeom prst="rect">
            <a:avLst/>
          </a:prstGeom>
          <a:ln/>
        </p:spPr>
        <p:txBody>
          <a:bodyPr wrap="square" lIns="0" tIns="0" rIns="0" bIns="0" rtlCol="0" anchor="t"/>
          <a:lstStyle/>
          <a:p>
            <a:pPr algn="l" indent="0" marL="0">
              <a:lnSpc>
                <a:spcPts val="1188"/>
              </a:lnSpc>
              <a:spcAft>
                <a:spcPts val="810"/>
              </a:spcAft>
              <a:buNone/>
            </a:pPr>
            <a:r>
              <a:rPr lang="en-US" sz="700" b="1" dirty="0">
                <a:solidFill>
                  <a:srgbClr val="01D7FB"/>
                </a:solidFill>
                <a:latin typeface="Ubuntu" pitchFamily="34" charset="0"/>
                <a:ea typeface="Ubuntu" pitchFamily="34" charset="-122"/>
                <a:cs typeface="Ubuntu" pitchFamily="34" charset="-120"/>
              </a:rPr>
              <a:t>TV PLATFORMS</a:t>
            </a:r>
            <a:endParaRPr lang="en-US" sz="700" dirty="0"/>
          </a:p>
        </p:txBody>
      </p:sp>
      <p:sp>
        <p:nvSpPr>
          <p:cNvPr id="15" name="Text 11"/>
          <p:cNvSpPr/>
          <p:nvPr/>
        </p:nvSpPr>
        <p:spPr>
          <a:xfrm>
            <a:off x="4897264" y="1595512"/>
            <a:ext cx="3281363" cy="204787"/>
          </a:xfrm>
          <a:prstGeom prst="rect">
            <a:avLst/>
          </a:prstGeom>
          <a:ln/>
        </p:spPr>
        <p:txBody>
          <a:bodyPr wrap="square" lIns="0" tIns="0" rIns="0" bIns="0" rtlCol="0" anchor="ctr"/>
          <a:lstStyle/>
          <a:p>
            <a:pPr algn="l" indent="0" marL="0">
              <a:lnSpc>
                <a:spcPts val="1620"/>
              </a:lnSpc>
              <a:buNone/>
            </a:pPr>
            <a:r>
              <a:rPr lang="en-US" sz="1000" dirty="0">
                <a:solidFill>
                  <a:srgbClr val="FFFFFF"/>
                </a:solidFill>
                <a:latin typeface="Ubuntu" pitchFamily="34" charset="0"/>
                <a:ea typeface="Ubuntu" pitchFamily="34" charset="-122"/>
                <a:cs typeface="Ubuntu" pitchFamily="34" charset="-120"/>
              </a:rPr>
              <a:t>Samsung Tizen</a:t>
            </a:r>
            <a:pPr algn="l" indent="0" marL="0">
              <a:lnSpc>
                <a:spcPts val="1296"/>
              </a:lnSpc>
              <a:buNone/>
            </a:pPr>
            <a:r>
              <a:rPr lang="en-US" sz="800" dirty="0">
                <a:solidFill>
                  <a:srgbClr val="FFFFFF"/>
                </a:solidFill>
                <a:latin typeface="Ubuntu" pitchFamily="34" charset="0"/>
                <a:ea typeface="Ubuntu" pitchFamily="34" charset="-122"/>
                <a:cs typeface="Ubuntu" pitchFamily="34" charset="-120"/>
              </a:rPr>
              <a:t>Tizen 4.0+</a:t>
            </a:r>
            <a:endParaRPr lang="en-US" sz="1000" dirty="0"/>
          </a:p>
        </p:txBody>
      </p:sp>
      <p:sp>
        <p:nvSpPr>
          <p:cNvPr id="16" name="Text 12"/>
          <p:cNvSpPr/>
          <p:nvPr/>
        </p:nvSpPr>
        <p:spPr>
          <a:xfrm>
            <a:off x="4897264" y="1862882"/>
            <a:ext cx="3281363" cy="204787"/>
          </a:xfrm>
          <a:prstGeom prst="rect">
            <a:avLst/>
          </a:prstGeom>
          <a:ln/>
        </p:spPr>
        <p:txBody>
          <a:bodyPr wrap="square" lIns="0" tIns="0" rIns="0" bIns="0" rtlCol="0" anchor="ctr"/>
          <a:lstStyle/>
          <a:p>
            <a:pPr algn="l" indent="0" marL="0">
              <a:lnSpc>
                <a:spcPts val="1620"/>
              </a:lnSpc>
              <a:buNone/>
            </a:pPr>
            <a:r>
              <a:rPr lang="en-US" sz="1000" dirty="0">
                <a:solidFill>
                  <a:srgbClr val="FFFFFF"/>
                </a:solidFill>
                <a:latin typeface="Ubuntu" pitchFamily="34" charset="0"/>
                <a:ea typeface="Ubuntu" pitchFamily="34" charset="-122"/>
                <a:cs typeface="Ubuntu" pitchFamily="34" charset="-120"/>
              </a:rPr>
              <a:t>LG webOS</a:t>
            </a:r>
            <a:pPr algn="l" indent="0" marL="0">
              <a:lnSpc>
                <a:spcPts val="1296"/>
              </a:lnSpc>
              <a:buNone/>
            </a:pPr>
            <a:r>
              <a:rPr lang="en-US" sz="800" dirty="0">
                <a:solidFill>
                  <a:srgbClr val="FFFFFF"/>
                </a:solidFill>
                <a:latin typeface="Ubuntu" pitchFamily="34" charset="0"/>
                <a:ea typeface="Ubuntu" pitchFamily="34" charset="-122"/>
                <a:cs typeface="Ubuntu" pitchFamily="34" charset="-120"/>
              </a:rPr>
              <a:t>webOS 4.0+</a:t>
            </a:r>
            <a:endParaRPr lang="en-US" sz="1000" dirty="0"/>
          </a:p>
        </p:txBody>
      </p:sp>
      <p:sp>
        <p:nvSpPr>
          <p:cNvPr id="17" name="Text 13"/>
          <p:cNvSpPr/>
          <p:nvPr/>
        </p:nvSpPr>
        <p:spPr>
          <a:xfrm>
            <a:off x="4897264" y="2130251"/>
            <a:ext cx="3281363" cy="204787"/>
          </a:xfrm>
          <a:prstGeom prst="rect">
            <a:avLst/>
          </a:prstGeom>
          <a:ln/>
        </p:spPr>
        <p:txBody>
          <a:bodyPr wrap="square" lIns="0" tIns="0" rIns="0" bIns="0" rtlCol="0" anchor="ctr"/>
          <a:lstStyle/>
          <a:p>
            <a:pPr algn="l" indent="0" marL="0">
              <a:lnSpc>
                <a:spcPts val="1620"/>
              </a:lnSpc>
              <a:buNone/>
            </a:pPr>
            <a:r>
              <a:rPr lang="en-US" sz="1000" dirty="0">
                <a:solidFill>
                  <a:srgbClr val="FFFFFF"/>
                </a:solidFill>
                <a:latin typeface="Ubuntu" pitchFamily="34" charset="0"/>
                <a:ea typeface="Ubuntu" pitchFamily="34" charset="-122"/>
                <a:cs typeface="Ubuntu" pitchFamily="34" charset="-120"/>
              </a:rPr>
              <a:t>Apple TV</a:t>
            </a:r>
            <a:pPr algn="l" indent="0" marL="0">
              <a:lnSpc>
                <a:spcPts val="1296"/>
              </a:lnSpc>
              <a:buNone/>
            </a:pPr>
            <a:r>
              <a:rPr lang="en-US" sz="800" dirty="0">
                <a:solidFill>
                  <a:srgbClr val="FFFFFF"/>
                </a:solidFill>
                <a:latin typeface="Ubuntu" pitchFamily="34" charset="0"/>
                <a:ea typeface="Ubuntu" pitchFamily="34" charset="-122"/>
                <a:cs typeface="Ubuntu" pitchFamily="34" charset="-120"/>
              </a:rPr>
              <a:t>tvOS — Q3 2025</a:t>
            </a:r>
            <a:endParaRPr lang="en-US" sz="1000" dirty="0"/>
          </a:p>
        </p:txBody>
      </p:sp>
      <p:sp>
        <p:nvSpPr>
          <p:cNvPr id="18" name="Text 14"/>
          <p:cNvSpPr/>
          <p:nvPr/>
        </p:nvSpPr>
        <p:spPr>
          <a:xfrm>
            <a:off x="4897264" y="2397621"/>
            <a:ext cx="3281363" cy="204787"/>
          </a:xfrm>
          <a:prstGeom prst="rect">
            <a:avLst/>
          </a:prstGeom>
          <a:ln/>
        </p:spPr>
        <p:txBody>
          <a:bodyPr wrap="square" lIns="0" tIns="0" rIns="0" bIns="0" rtlCol="0" anchor="ctr"/>
          <a:lstStyle/>
          <a:p>
            <a:pPr algn="l" indent="0" marL="0">
              <a:lnSpc>
                <a:spcPts val="1620"/>
              </a:lnSpc>
              <a:buNone/>
            </a:pPr>
            <a:r>
              <a:rPr lang="en-US" sz="1000" dirty="0">
                <a:solidFill>
                  <a:srgbClr val="FFFFFF"/>
                </a:solidFill>
                <a:latin typeface="Ubuntu" pitchFamily="34" charset="0"/>
                <a:ea typeface="Ubuntu" pitchFamily="34" charset="-122"/>
                <a:cs typeface="Ubuntu" pitchFamily="34" charset="-120"/>
              </a:rPr>
              <a:t>Android TV</a:t>
            </a:r>
            <a:pPr algn="l" indent="0" marL="0">
              <a:lnSpc>
                <a:spcPts val="1296"/>
              </a:lnSpc>
              <a:buNone/>
            </a:pPr>
            <a:r>
              <a:rPr lang="en-US" sz="800" dirty="0">
                <a:solidFill>
                  <a:srgbClr val="FFFFFF"/>
                </a:solidFill>
                <a:latin typeface="Ubuntu" pitchFamily="34" charset="0"/>
                <a:ea typeface="Ubuntu" pitchFamily="34" charset="-122"/>
                <a:cs typeface="Ubuntu" pitchFamily="34" charset="-120"/>
              </a:rPr>
              <a:t>Fire TV — Q4 2025</a:t>
            </a:r>
            <a:endParaRPr lang="en-US" sz="1000" dirty="0"/>
          </a:p>
        </p:txBody>
      </p:sp>
      <p:sp>
        <p:nvSpPr>
          <p:cNvPr id="19" name="Shape 15"/>
          <p:cNvSpPr/>
          <p:nvPr/>
        </p:nvSpPr>
        <p:spPr>
          <a:xfrm>
            <a:off x="731974" y="3221087"/>
            <a:ext cx="3748087" cy="1562100"/>
          </a:xfrm>
          <a:prstGeom prst="roundRect">
            <a:avLst>
              <a:gd name="adj" fmla="val 4112"/>
            </a:avLst>
          </a:prstGeom>
          <a:solidFill>
            <a:srgbClr val="FFFFFF">
              <a:alpha val="3000"/>
            </a:srgbClr>
          </a:solidFill>
          <a:ln w="4763">
            <a:solidFill>
              <a:srgbClr val="FFFFFF">
                <a:alpha val="10000"/>
              </a:srgbClr>
            </a:solidFill>
            <a:prstDash val="solid"/>
          </a:ln>
        </p:spPr>
      </p:sp>
      <p:sp>
        <p:nvSpPr>
          <p:cNvPr id="20" name="Text 16"/>
          <p:cNvSpPr/>
          <p:nvPr/>
        </p:nvSpPr>
        <p:spPr>
          <a:xfrm>
            <a:off x="965336" y="3353395"/>
            <a:ext cx="3281363" cy="152400"/>
          </a:xfrm>
          <a:prstGeom prst="rect">
            <a:avLst/>
          </a:prstGeom>
          <a:ln/>
        </p:spPr>
        <p:txBody>
          <a:bodyPr wrap="square" lIns="0" tIns="0" rIns="0" bIns="0" rtlCol="0" anchor="t"/>
          <a:lstStyle/>
          <a:p>
            <a:pPr algn="l" indent="0" marL="0">
              <a:lnSpc>
                <a:spcPts val="1188"/>
              </a:lnSpc>
              <a:spcAft>
                <a:spcPts val="810"/>
              </a:spcAft>
              <a:buNone/>
            </a:pPr>
            <a:r>
              <a:rPr lang="en-US" sz="700" b="1" dirty="0">
                <a:solidFill>
                  <a:srgbClr val="FFFFFF"/>
                </a:solidFill>
                <a:latin typeface="Ubuntu" pitchFamily="34" charset="0"/>
                <a:ea typeface="Ubuntu" pitchFamily="34" charset="-122"/>
                <a:cs typeface="Ubuntu" pitchFamily="34" charset="-120"/>
              </a:rPr>
              <a:t>BACKEND</a:t>
            </a:r>
            <a:endParaRPr lang="en-US" sz="700" dirty="0"/>
          </a:p>
        </p:txBody>
      </p:sp>
      <p:sp>
        <p:nvSpPr>
          <p:cNvPr id="21" name="Text 17"/>
          <p:cNvSpPr/>
          <p:nvPr/>
        </p:nvSpPr>
        <p:spPr>
          <a:xfrm>
            <a:off x="965336" y="3608338"/>
            <a:ext cx="3281363" cy="204787"/>
          </a:xfrm>
          <a:prstGeom prst="rect">
            <a:avLst/>
          </a:prstGeom>
          <a:ln/>
        </p:spPr>
        <p:txBody>
          <a:bodyPr wrap="square" lIns="0" tIns="0" rIns="0" bIns="0" rtlCol="0" anchor="ctr"/>
          <a:lstStyle/>
          <a:p>
            <a:pPr algn="l" indent="0" marL="0">
              <a:lnSpc>
                <a:spcPts val="1620"/>
              </a:lnSpc>
              <a:buNone/>
            </a:pPr>
            <a:r>
              <a:rPr lang="en-US" sz="1000" dirty="0">
                <a:solidFill>
                  <a:srgbClr val="FFFFFF"/>
                </a:solidFill>
                <a:latin typeface="Ubuntu" pitchFamily="34" charset="0"/>
                <a:ea typeface="Ubuntu" pitchFamily="34" charset="-122"/>
                <a:cs typeface="Ubuntu" pitchFamily="34" charset="-120"/>
              </a:rPr>
              <a:t>Node.js + Express</a:t>
            </a:r>
            <a:pPr algn="l" indent="0" marL="0">
              <a:lnSpc>
                <a:spcPts val="1296"/>
              </a:lnSpc>
              <a:buNone/>
            </a:pPr>
            <a:r>
              <a:rPr lang="en-US" sz="800" dirty="0">
                <a:solidFill>
                  <a:srgbClr val="FFFFFF"/>
                </a:solidFill>
                <a:latin typeface="Ubuntu" pitchFamily="34" charset="0"/>
                <a:ea typeface="Ubuntu" pitchFamily="34" charset="-122"/>
                <a:cs typeface="Ubuntu" pitchFamily="34" charset="-120"/>
              </a:rPr>
              <a:t>API server</a:t>
            </a:r>
            <a:endParaRPr lang="en-US" sz="1000" dirty="0"/>
          </a:p>
        </p:txBody>
      </p:sp>
      <p:sp>
        <p:nvSpPr>
          <p:cNvPr id="22" name="Text 18"/>
          <p:cNvSpPr/>
          <p:nvPr/>
        </p:nvSpPr>
        <p:spPr>
          <a:xfrm>
            <a:off x="965336" y="3875708"/>
            <a:ext cx="3281363" cy="204787"/>
          </a:xfrm>
          <a:prstGeom prst="rect">
            <a:avLst/>
          </a:prstGeom>
          <a:ln/>
        </p:spPr>
        <p:txBody>
          <a:bodyPr wrap="square" lIns="0" tIns="0" rIns="0" bIns="0" rtlCol="0" anchor="ctr"/>
          <a:lstStyle/>
          <a:p>
            <a:pPr algn="l" indent="0" marL="0">
              <a:lnSpc>
                <a:spcPts val="1620"/>
              </a:lnSpc>
              <a:buNone/>
            </a:pPr>
            <a:r>
              <a:rPr lang="en-US" sz="1000" dirty="0">
                <a:solidFill>
                  <a:srgbClr val="FFFFFF"/>
                </a:solidFill>
                <a:latin typeface="Ubuntu" pitchFamily="34" charset="0"/>
                <a:ea typeface="Ubuntu" pitchFamily="34" charset="-122"/>
                <a:cs typeface="Ubuntu" pitchFamily="34" charset="-120"/>
              </a:rPr>
              <a:t>PostgreSQL</a:t>
            </a:r>
            <a:pPr algn="l" indent="0" marL="0">
              <a:lnSpc>
                <a:spcPts val="1296"/>
              </a:lnSpc>
              <a:buNone/>
            </a:pPr>
            <a:r>
              <a:rPr lang="en-US" sz="800" dirty="0">
                <a:solidFill>
                  <a:srgbClr val="FFFFFF"/>
                </a:solidFill>
                <a:latin typeface="Ubuntu" pitchFamily="34" charset="0"/>
                <a:ea typeface="Ubuntu" pitchFamily="34" charset="-122"/>
                <a:cs typeface="Ubuntu" pitchFamily="34" charset="-120"/>
              </a:rPr>
              <a:t>Primary database</a:t>
            </a:r>
            <a:endParaRPr lang="en-US" sz="1000" dirty="0"/>
          </a:p>
        </p:txBody>
      </p:sp>
      <p:sp>
        <p:nvSpPr>
          <p:cNvPr id="23" name="Text 19"/>
          <p:cNvSpPr/>
          <p:nvPr/>
        </p:nvSpPr>
        <p:spPr>
          <a:xfrm>
            <a:off x="965336" y="4143077"/>
            <a:ext cx="3281363" cy="204787"/>
          </a:xfrm>
          <a:prstGeom prst="rect">
            <a:avLst/>
          </a:prstGeom>
          <a:ln/>
        </p:spPr>
        <p:txBody>
          <a:bodyPr wrap="square" lIns="0" tIns="0" rIns="0" bIns="0" rtlCol="0" anchor="ctr"/>
          <a:lstStyle/>
          <a:p>
            <a:pPr algn="l" indent="0" marL="0">
              <a:lnSpc>
                <a:spcPts val="1620"/>
              </a:lnSpc>
              <a:buNone/>
            </a:pPr>
            <a:r>
              <a:rPr lang="en-US" sz="1000" dirty="0">
                <a:solidFill>
                  <a:srgbClr val="FFFFFF"/>
                </a:solidFill>
                <a:latin typeface="Ubuntu" pitchFamily="34" charset="0"/>
                <a:ea typeface="Ubuntu" pitchFamily="34" charset="-122"/>
                <a:cs typeface="Ubuntu" pitchFamily="34" charset="-120"/>
              </a:rPr>
              <a:t>Stream proxy</a:t>
            </a:r>
            <a:pPr algn="l" indent="0" marL="0">
              <a:lnSpc>
                <a:spcPts val="1296"/>
              </a:lnSpc>
              <a:buNone/>
            </a:pPr>
            <a:r>
              <a:rPr lang="en-US" sz="800" dirty="0">
                <a:solidFill>
                  <a:srgbClr val="FFFFFF"/>
                </a:solidFill>
                <a:latin typeface="Ubuntu" pitchFamily="34" charset="0"/>
                <a:ea typeface="Ubuntu" pitchFamily="34" charset="-122"/>
                <a:cs typeface="Ubuntu" pitchFamily="34" charset="-120"/>
              </a:rPr>
              <a:t>Reliable playback</a:t>
            </a:r>
            <a:endParaRPr lang="en-US" sz="1000" dirty="0"/>
          </a:p>
        </p:txBody>
      </p:sp>
      <p:sp>
        <p:nvSpPr>
          <p:cNvPr id="24" name="Shape 20"/>
          <p:cNvSpPr/>
          <p:nvPr/>
        </p:nvSpPr>
        <p:spPr>
          <a:xfrm>
            <a:off x="4663901" y="3221087"/>
            <a:ext cx="3748087" cy="1562100"/>
          </a:xfrm>
          <a:prstGeom prst="roundRect">
            <a:avLst>
              <a:gd name="adj" fmla="val 4112"/>
            </a:avLst>
          </a:prstGeom>
          <a:solidFill>
            <a:srgbClr val="FFFFFF">
              <a:alpha val="3000"/>
            </a:srgbClr>
          </a:solidFill>
          <a:ln w="4763">
            <a:solidFill>
              <a:srgbClr val="FFFFFF">
                <a:alpha val="10000"/>
              </a:srgbClr>
            </a:solidFill>
            <a:prstDash val="solid"/>
          </a:ln>
        </p:spPr>
      </p:sp>
      <p:sp>
        <p:nvSpPr>
          <p:cNvPr id="25" name="Text 21"/>
          <p:cNvSpPr/>
          <p:nvPr/>
        </p:nvSpPr>
        <p:spPr>
          <a:xfrm>
            <a:off x="4897264" y="3353395"/>
            <a:ext cx="3281363" cy="152400"/>
          </a:xfrm>
          <a:prstGeom prst="rect">
            <a:avLst/>
          </a:prstGeom>
          <a:ln/>
        </p:spPr>
        <p:txBody>
          <a:bodyPr wrap="square" lIns="0" tIns="0" rIns="0" bIns="0" rtlCol="0" anchor="t"/>
          <a:lstStyle/>
          <a:p>
            <a:pPr algn="l" indent="0" marL="0">
              <a:lnSpc>
                <a:spcPts val="1188"/>
              </a:lnSpc>
              <a:spcAft>
                <a:spcPts val="810"/>
              </a:spcAft>
              <a:buNone/>
            </a:pPr>
            <a:r>
              <a:rPr lang="en-US" sz="700" b="1" dirty="0">
                <a:solidFill>
                  <a:srgbClr val="FFFFFF"/>
                </a:solidFill>
                <a:latin typeface="Ubuntu" pitchFamily="34" charset="0"/>
                <a:ea typeface="Ubuntu" pitchFamily="34" charset="-122"/>
                <a:cs typeface="Ubuntu" pitchFamily="34" charset="-120"/>
              </a:rPr>
              <a:t>DATA &amp; API</a:t>
            </a:r>
            <a:endParaRPr lang="en-US" sz="700" dirty="0"/>
          </a:p>
        </p:txBody>
      </p:sp>
      <p:sp>
        <p:nvSpPr>
          <p:cNvPr id="26" name="Text 22"/>
          <p:cNvSpPr/>
          <p:nvPr/>
        </p:nvSpPr>
        <p:spPr>
          <a:xfrm>
            <a:off x="4897264" y="3608338"/>
            <a:ext cx="3281363" cy="204787"/>
          </a:xfrm>
          <a:prstGeom prst="rect">
            <a:avLst/>
          </a:prstGeom>
          <a:ln/>
        </p:spPr>
        <p:txBody>
          <a:bodyPr wrap="square" lIns="0" tIns="0" rIns="0" bIns="0" rtlCol="0" anchor="ctr"/>
          <a:lstStyle/>
          <a:p>
            <a:pPr algn="l" indent="0" marL="0">
              <a:lnSpc>
                <a:spcPts val="1620"/>
              </a:lnSpc>
              <a:buNone/>
            </a:pPr>
            <a:r>
              <a:rPr lang="en-US" sz="1000" dirty="0">
                <a:solidFill>
                  <a:srgbClr val="FFFFFF"/>
                </a:solidFill>
                <a:latin typeface="Ubuntu" pitchFamily="34" charset="0"/>
                <a:ea typeface="Ubuntu" pitchFamily="34" charset="-122"/>
                <a:cs typeface="Ubuntu" pitchFamily="34" charset="-120"/>
              </a:rPr>
              <a:t>Radio Browser API</a:t>
            </a:r>
            <a:pPr algn="l" indent="0" marL="0">
              <a:lnSpc>
                <a:spcPts val="1296"/>
              </a:lnSpc>
              <a:buNone/>
            </a:pPr>
            <a:r>
              <a:rPr lang="en-US" sz="800" dirty="0">
                <a:solidFill>
                  <a:srgbClr val="FFFFFF"/>
                </a:solidFill>
                <a:latin typeface="Ubuntu" pitchFamily="34" charset="0"/>
                <a:ea typeface="Ubuntu" pitchFamily="34" charset="-122"/>
                <a:cs typeface="Ubuntu" pitchFamily="34" charset="-120"/>
              </a:rPr>
              <a:t>50K+ stations</a:t>
            </a:r>
            <a:endParaRPr lang="en-US" sz="1000" dirty="0"/>
          </a:p>
        </p:txBody>
      </p:sp>
      <p:sp>
        <p:nvSpPr>
          <p:cNvPr id="27" name="Text 23"/>
          <p:cNvSpPr/>
          <p:nvPr/>
        </p:nvSpPr>
        <p:spPr>
          <a:xfrm>
            <a:off x="4897264" y="3875708"/>
            <a:ext cx="3281363" cy="204787"/>
          </a:xfrm>
          <a:prstGeom prst="rect">
            <a:avLst/>
          </a:prstGeom>
          <a:ln/>
        </p:spPr>
        <p:txBody>
          <a:bodyPr wrap="square" lIns="0" tIns="0" rIns="0" bIns="0" rtlCol="0" anchor="ctr"/>
          <a:lstStyle/>
          <a:p>
            <a:pPr algn="l" indent="0" marL="0">
              <a:lnSpc>
                <a:spcPts val="1620"/>
              </a:lnSpc>
              <a:buNone/>
            </a:pPr>
            <a:r>
              <a:rPr lang="en-US" sz="1000" dirty="0">
                <a:solidFill>
                  <a:srgbClr val="FFFFFF"/>
                </a:solidFill>
                <a:latin typeface="Ubuntu" pitchFamily="34" charset="0"/>
                <a:ea typeface="Ubuntu" pitchFamily="34" charset="-122"/>
                <a:cs typeface="Ubuntu" pitchFamily="34" charset="-120"/>
              </a:rPr>
              <a:t>Drizzle ORM + Zod</a:t>
            </a:r>
            <a:pPr algn="l" indent="0" marL="0">
              <a:lnSpc>
                <a:spcPts val="1296"/>
              </a:lnSpc>
              <a:buNone/>
            </a:pPr>
            <a:r>
              <a:rPr lang="en-US" sz="800" dirty="0">
                <a:solidFill>
                  <a:srgbClr val="FFFFFF"/>
                </a:solidFill>
                <a:latin typeface="Ubuntu" pitchFamily="34" charset="0"/>
                <a:ea typeface="Ubuntu" pitchFamily="34" charset="-122"/>
                <a:cs typeface="Ubuntu" pitchFamily="34" charset="-120"/>
              </a:rPr>
              <a:t>Type-safe data layer</a:t>
            </a:r>
            <a:endParaRPr lang="en-US" sz="1000" dirty="0"/>
          </a:p>
        </p:txBody>
      </p:sp>
      <p:sp>
        <p:nvSpPr>
          <p:cNvPr id="28" name="Text 24"/>
          <p:cNvSpPr/>
          <p:nvPr/>
        </p:nvSpPr>
        <p:spPr>
          <a:xfrm>
            <a:off x="4897264" y="4143077"/>
            <a:ext cx="3281363" cy="204787"/>
          </a:xfrm>
          <a:prstGeom prst="rect">
            <a:avLst/>
          </a:prstGeom>
          <a:ln/>
        </p:spPr>
        <p:txBody>
          <a:bodyPr wrap="square" lIns="0" tIns="0" rIns="0" bIns="0" rtlCol="0" anchor="ctr"/>
          <a:lstStyle/>
          <a:p>
            <a:pPr algn="l" indent="0" marL="0">
              <a:lnSpc>
                <a:spcPts val="1620"/>
              </a:lnSpc>
              <a:buNone/>
            </a:pPr>
            <a:r>
              <a:rPr lang="en-US" sz="1000" dirty="0">
                <a:solidFill>
                  <a:srgbClr val="FFFFFF"/>
                </a:solidFill>
                <a:latin typeface="Ubuntu" pitchFamily="34" charset="0"/>
                <a:ea typeface="Ubuntu" pitchFamily="34" charset="-122"/>
                <a:cs typeface="Ubuntu" pitchFamily="34" charset="-120"/>
              </a:rPr>
              <a:t>OAuth 2.0 Device Flow</a:t>
            </a:r>
            <a:pPr algn="l" indent="0" marL="0">
              <a:lnSpc>
                <a:spcPts val="1296"/>
              </a:lnSpc>
              <a:buNone/>
            </a:pPr>
            <a:r>
              <a:rPr lang="en-US" sz="800" dirty="0">
                <a:solidFill>
                  <a:srgbClr val="FFFFFF"/>
                </a:solidFill>
                <a:latin typeface="Ubuntu" pitchFamily="34" charset="0"/>
                <a:ea typeface="Ubuntu" pitchFamily="34" charset="-122"/>
                <a:cs typeface="Ubuntu" pitchFamily="34" charset="-120"/>
              </a:rPr>
              <a:t>TV auth standard</a:t>
            </a:r>
            <a:endParaRPr lang="en-US" sz="1000" dirty="0"/>
          </a:p>
        </p:txBody>
      </p:sp>
      <p:sp>
        <p:nvSpPr>
          <p:cNvPr id="29" name="Text 25"/>
          <p:cNvSpPr/>
          <p:nvPr/>
        </p:nvSpPr>
        <p:spPr>
          <a:xfrm>
            <a:off x="0" y="4781848"/>
            <a:ext cx="9144000" cy="361950"/>
          </a:xfrm>
          <a:prstGeom prst="rect">
            <a:avLst/>
          </a:prstGeom>
          <a:ln/>
        </p:spPr>
        <p:txBody>
          <a:bodyPr wrap="square" lIns="0" tIns="0" rIns="0" bIns="0" rtlCol="0" anchor="t"/>
          <a:lstStyle/>
          <a:p>
            <a:pPr algn="l" indent="0" marL="0">
              <a:lnSpc>
                <a:spcPts val="1188"/>
              </a:lnSpc>
              <a:buNone/>
            </a:pPr>
            <a:r>
              <a:rPr lang="en-US" sz="700" dirty="0">
                <a:solidFill>
                  <a:srgbClr val="FFFFFF"/>
                </a:solidFill>
                <a:latin typeface="Ubuntu" pitchFamily="34" charset="0"/>
                <a:ea typeface="Ubuntu" pitchFamily="34" charset="-122"/>
                <a:cs typeface="Ubuntu" pitchFamily="34" charset="-120"/>
              </a:rPr>
              <a:t>RADIO MEGA</a:t>
            </a:r>
            <a:pPr algn="l" indent="0" marL="0">
              <a:lnSpc>
                <a:spcPts val="1188"/>
              </a:lnSpc>
              <a:buNone/>
            </a:pPr>
            <a:r>
              <a:rPr lang="en-US" sz="700" dirty="0">
                <a:solidFill>
                  <a:srgbClr val="FFFFFF"/>
                </a:solidFill>
                <a:latin typeface="Ubuntu" pitchFamily="34" charset="0"/>
                <a:ea typeface="Ubuntu" pitchFamily="34" charset="-122"/>
                <a:cs typeface="Ubuntu" pitchFamily="34" charset="-120"/>
              </a:rPr>
              <a:t>8 / 18</a:t>
            </a:r>
            <a:endParaRPr lang="en-US" sz="700" dirty="0"/>
          </a:p>
        </p:txBody>
      </p:sp>
      <p:pic>
        <p:nvPicPr>
          <p:cNvPr id="30"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0" y="4781848"/>
            <a:ext cx="9144000" cy="36195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E0E0E"/>
          </a:solidFill>
          <a:ln/>
        </p:spPr>
      </p:sp>
      <p:pic>
        <p:nvPicPr>
          <p:cNvPr id="3"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0" y="0"/>
            <a:ext cx="9144000" cy="5143500"/>
          </a:xfrm>
          <a:prstGeom prst="rect">
            <a:avLst/>
          </a:prstGeom>
        </p:spPr>
      </p:pic>
      <p:pic>
        <p:nvPicPr>
          <p:cNvPr id="4"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817370" y="-668655"/>
            <a:ext cx="4594860" cy="4594860"/>
          </a:xfrm>
          <a:prstGeom prst="rect">
            <a:avLst/>
          </a:prstGeom>
        </p:spPr>
      </p:pic>
      <p:pic>
        <p:nvPicPr>
          <p:cNvPr id="5"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595110" y="2594610"/>
            <a:ext cx="3268980" cy="3268980"/>
          </a:xfrm>
          <a:prstGeom prst="rect">
            <a:avLst/>
          </a:prstGeom>
        </p:spPr>
      </p:pic>
      <p:sp>
        <p:nvSpPr>
          <p:cNvPr id="6" name="Text 1"/>
          <p:cNvSpPr/>
          <p:nvPr/>
        </p:nvSpPr>
        <p:spPr>
          <a:xfrm>
            <a:off x="731044" y="359532"/>
            <a:ext cx="7681912" cy="138113"/>
          </a:xfrm>
          <a:prstGeom prst="rect">
            <a:avLst/>
          </a:prstGeom>
          <a:ln/>
        </p:spPr>
        <p:txBody>
          <a:bodyPr wrap="square" lIns="0" tIns="0" rIns="0" bIns="0" rtlCol="0" anchor="t"/>
          <a:lstStyle/>
          <a:p>
            <a:pPr algn="l" indent="0" marL="0">
              <a:lnSpc>
                <a:spcPts val="1080"/>
              </a:lnSpc>
              <a:spcAft>
                <a:spcPts val="810"/>
              </a:spcAft>
              <a:buNone/>
            </a:pPr>
            <a:r>
              <a:rPr lang="en-US" sz="700" b="1" dirty="0">
                <a:solidFill>
                  <a:srgbClr val="FF4199"/>
                </a:solidFill>
                <a:latin typeface="Ubuntu" pitchFamily="34" charset="0"/>
                <a:ea typeface="Ubuntu" pitchFamily="34" charset="-122"/>
                <a:cs typeface="Ubuntu" pitchFamily="34" charset="-120"/>
              </a:rPr>
              <a:t>PLATFORM STRATEGY</a:t>
            </a:r>
            <a:endParaRPr lang="en-US" sz="700" dirty="0"/>
          </a:p>
        </p:txBody>
      </p:sp>
      <p:sp>
        <p:nvSpPr>
          <p:cNvPr id="7" name="Text 2"/>
          <p:cNvSpPr/>
          <p:nvPr/>
        </p:nvSpPr>
        <p:spPr>
          <a:xfrm>
            <a:off x="731044" y="601117"/>
            <a:ext cx="7681912" cy="400050"/>
          </a:xfrm>
          <a:prstGeom prst="rect">
            <a:avLst/>
          </a:prstGeom>
          <a:ln/>
        </p:spPr>
        <p:txBody>
          <a:bodyPr wrap="square" lIns="0" tIns="0" rIns="0" bIns="0" rtlCol="0" anchor="t"/>
          <a:lstStyle/>
          <a:p>
            <a:pPr algn="l" indent="0" marL="0">
              <a:lnSpc>
                <a:spcPts val="3168"/>
              </a:lnSpc>
              <a:buNone/>
            </a:pPr>
            <a:r>
              <a:rPr lang="en-US" sz="2800" b="1" dirty="0">
                <a:solidFill>
                  <a:srgbClr val="FFFFFF"/>
                </a:solidFill>
                <a:latin typeface="Ubuntu" pitchFamily="34" charset="0"/>
                <a:ea typeface="Ubuntu" pitchFamily="34" charset="-122"/>
                <a:cs typeface="Ubuntu" pitchFamily="34" charset="-120"/>
              </a:rPr>
              <a:t>TV first. Then everywhere.</a:t>
            </a:r>
            <a:endParaRPr lang="en-US" sz="2800" dirty="0"/>
          </a:p>
        </p:txBody>
      </p:sp>
      <p:sp>
        <p:nvSpPr>
          <p:cNvPr id="8" name="Shape 3"/>
          <p:cNvSpPr/>
          <p:nvPr/>
        </p:nvSpPr>
        <p:spPr>
          <a:xfrm>
            <a:off x="730560" y="1259346"/>
            <a:ext cx="2105025" cy="3524250"/>
          </a:xfrm>
          <a:prstGeom prst="roundRect">
            <a:avLst>
              <a:gd name="adj" fmla="val 2264"/>
            </a:avLst>
          </a:prstGeom>
          <a:solidFill>
            <a:srgbClr val="FF4199">
              <a:alpha val="7000"/>
            </a:srgbClr>
          </a:solidFill>
          <a:ln w="4763">
            <a:solidFill>
              <a:srgbClr val="FF4199">
                <a:alpha val="22000"/>
              </a:srgbClr>
            </a:solidFill>
            <a:prstDash val="solid"/>
          </a:ln>
        </p:spPr>
      </p:sp>
      <p:sp>
        <p:nvSpPr>
          <p:cNvPr id="9" name="Shape 4"/>
          <p:cNvSpPr/>
          <p:nvPr/>
        </p:nvSpPr>
        <p:spPr>
          <a:xfrm>
            <a:off x="963885" y="1492969"/>
            <a:ext cx="276225" cy="276225"/>
          </a:xfrm>
          <a:prstGeom prst="roundRect">
            <a:avLst>
              <a:gd name="adj" fmla="val 19177"/>
            </a:avLst>
          </a:prstGeom>
          <a:solidFill>
            <a:srgbClr val="FF4199"/>
          </a:solidFill>
          <a:ln/>
        </p:spPr>
      </p:sp>
      <p:pic>
        <p:nvPicPr>
          <p:cNvPr id="10" name="Image 3" descr="preencoded.png">    </p:cNvPr>
          <p:cNvPicPr>
            <a:picLocks noChangeAspect="1"/>
          </p:cNvPicPr>
          <p:nvPr/>
        </p:nvPicPr>
        <p:blipFill>
          <a:blip r:embed="rId7"/>
          <a:stretch>
            <a:fillRect/>
          </a:stretch>
        </p:blipFill>
        <p:spPr>
          <a:xfrm>
            <a:off x="1019696" y="1548780"/>
            <a:ext cx="164529" cy="164529"/>
          </a:xfrm>
          <a:prstGeom prst="rect">
            <a:avLst/>
          </a:prstGeom>
        </p:spPr>
      </p:pic>
      <p:sp>
        <p:nvSpPr>
          <p:cNvPr id="11" name="Text 5"/>
          <p:cNvSpPr/>
          <p:nvPr/>
        </p:nvSpPr>
        <p:spPr>
          <a:xfrm>
            <a:off x="1330486" y="1417737"/>
            <a:ext cx="942975" cy="152400"/>
          </a:xfrm>
          <a:prstGeom prst="rect">
            <a:avLst/>
          </a:prstGeom>
          <a:ln/>
        </p:spPr>
        <p:txBody>
          <a:bodyPr wrap="square" lIns="0" tIns="0" rIns="0" bIns="0" rtlCol="0" anchor="t"/>
          <a:lstStyle/>
          <a:p>
            <a:pPr algn="l" indent="0" marL="0">
              <a:lnSpc>
                <a:spcPts val="1188"/>
              </a:lnSpc>
              <a:buNone/>
            </a:pPr>
            <a:r>
              <a:rPr lang="en-US" sz="700" b="1" dirty="0">
                <a:solidFill>
                  <a:srgbClr val="FF4199"/>
                </a:solidFill>
                <a:latin typeface="Ubuntu" pitchFamily="34" charset="0"/>
                <a:ea typeface="Ubuntu" pitchFamily="34" charset="-122"/>
                <a:cs typeface="Ubuntu" pitchFamily="34" charset="-120"/>
              </a:rPr>
              <a:t>PHASE 1 — NOW</a:t>
            </a:r>
            <a:endParaRPr lang="en-US" sz="700" dirty="0"/>
          </a:p>
        </p:txBody>
      </p:sp>
      <p:sp>
        <p:nvSpPr>
          <p:cNvPr id="12" name="Text 6"/>
          <p:cNvSpPr/>
          <p:nvPr/>
        </p:nvSpPr>
        <p:spPr>
          <a:xfrm>
            <a:off x="1330486" y="1568462"/>
            <a:ext cx="942975" cy="276225"/>
          </a:xfrm>
          <a:prstGeom prst="rect">
            <a:avLst/>
          </a:prstGeom>
          <a:ln/>
        </p:spPr>
        <p:txBody>
          <a:bodyPr wrap="square" lIns="0" tIns="0" rIns="0" bIns="0" rtlCol="0" anchor="t"/>
          <a:lstStyle/>
          <a:p>
            <a:pPr algn="l" indent="0" marL="0">
              <a:lnSpc>
                <a:spcPts val="2160"/>
              </a:lnSpc>
              <a:buNone/>
            </a:pPr>
            <a:r>
              <a:rPr lang="en-US" sz="1400" b="1" dirty="0">
                <a:solidFill>
                  <a:srgbClr val="FFFFFF"/>
                </a:solidFill>
                <a:latin typeface="Ubuntu" pitchFamily="34" charset="0"/>
                <a:ea typeface="Ubuntu" pitchFamily="34" charset="-122"/>
                <a:cs typeface="Ubuntu" pitchFamily="34" charset="-120"/>
              </a:rPr>
              <a:t>Smart TV</a:t>
            </a:r>
            <a:endParaRPr lang="en-US" sz="1400" dirty="0"/>
          </a:p>
        </p:txBody>
      </p:sp>
      <p:sp>
        <p:nvSpPr>
          <p:cNvPr id="13" name="Text 7"/>
          <p:cNvSpPr/>
          <p:nvPr/>
        </p:nvSpPr>
        <p:spPr>
          <a:xfrm>
            <a:off x="963923" y="1946597"/>
            <a:ext cx="1638300" cy="1433513"/>
          </a:xfrm>
          <a:prstGeom prst="rect">
            <a:avLst/>
          </a:prstGeom>
          <a:ln/>
        </p:spPr>
        <p:txBody>
          <a:bodyPr wrap="square" lIns="0" tIns="0" rIns="0" bIns="0" rtlCol="0" anchor="t"/>
          <a:lstStyle/>
          <a:p>
            <a:pPr algn="l" indent="0" marL="0">
              <a:lnSpc>
                <a:spcPts val="1613"/>
              </a:lnSpc>
              <a:spcAft>
                <a:spcPts val="810"/>
              </a:spcAft>
              <a:buNone/>
            </a:pPr>
            <a:r>
              <a:rPr lang="en-US" sz="1000" dirty="0">
                <a:solidFill>
                  <a:srgbClr val="FFFFFF"/>
                </a:solidFill>
                <a:latin typeface="Ubuntu" pitchFamily="34" charset="0"/>
                <a:ea typeface="Ubuntu" pitchFamily="34" charset="-122"/>
                <a:cs typeface="Ubuntu" pitchFamily="34" charset="-120"/>
              </a:rPr>
              <a:t>Own the largest screen in the home. Build the brand, grow the audience, establish OEM relationships. TV radio is habit — the daily listening session is 2.4 hours.</a:t>
            </a:r>
            <a:endParaRPr lang="en-US" sz="1000" dirty="0"/>
          </a:p>
        </p:txBody>
      </p:sp>
      <p:sp>
        <p:nvSpPr>
          <p:cNvPr id="14" name="Shape 8"/>
          <p:cNvSpPr/>
          <p:nvPr/>
        </p:nvSpPr>
        <p:spPr>
          <a:xfrm>
            <a:off x="963885" y="3644354"/>
            <a:ext cx="47625" cy="47625"/>
          </a:xfrm>
          <a:prstGeom prst="ellipse">
            <a:avLst/>
          </a:prstGeom>
          <a:solidFill>
            <a:srgbClr val="FF4199"/>
          </a:solidFill>
          <a:ln/>
        </p:spPr>
      </p:sp>
      <p:sp>
        <p:nvSpPr>
          <p:cNvPr id="15" name="Text 9"/>
          <p:cNvSpPr/>
          <p:nvPr/>
        </p:nvSpPr>
        <p:spPr>
          <a:xfrm>
            <a:off x="1084585" y="3580098"/>
            <a:ext cx="1209675" cy="176212"/>
          </a:xfrm>
          <a:prstGeom prst="rect">
            <a:avLst/>
          </a:prstGeom>
          <a:ln/>
        </p:spPr>
        <p:txBody>
          <a:bodyPr wrap="square" lIns="0" tIns="0" rIns="0" bIns="0" rtlCol="0" anchor="t"/>
          <a:lstStyle/>
          <a:p>
            <a:pPr algn="l" indent="0" marL="0">
              <a:lnSpc>
                <a:spcPts val="1404"/>
              </a:lnSpc>
              <a:buNone/>
            </a:pPr>
            <a:r>
              <a:rPr lang="en-US" sz="900" dirty="0">
                <a:solidFill>
                  <a:srgbClr val="FFFFFF"/>
                </a:solidFill>
                <a:latin typeface="Ubuntu" pitchFamily="34" charset="0"/>
                <a:ea typeface="Ubuntu" pitchFamily="34" charset="-122"/>
                <a:cs typeface="Ubuntu" pitchFamily="34" charset="-120"/>
              </a:rPr>
              <a:t>Samsung Tizen — LIVE</a:t>
            </a:r>
            <a:endParaRPr lang="en-US" sz="900" dirty="0"/>
          </a:p>
        </p:txBody>
      </p:sp>
      <p:sp>
        <p:nvSpPr>
          <p:cNvPr id="16" name="Shape 10"/>
          <p:cNvSpPr/>
          <p:nvPr/>
        </p:nvSpPr>
        <p:spPr>
          <a:xfrm>
            <a:off x="963885" y="3873996"/>
            <a:ext cx="47625" cy="47625"/>
          </a:xfrm>
          <a:prstGeom prst="ellipse">
            <a:avLst/>
          </a:prstGeom>
          <a:solidFill>
            <a:srgbClr val="FF4199"/>
          </a:solidFill>
          <a:ln/>
        </p:spPr>
      </p:sp>
      <p:sp>
        <p:nvSpPr>
          <p:cNvPr id="17" name="Text 11"/>
          <p:cNvSpPr/>
          <p:nvPr/>
        </p:nvSpPr>
        <p:spPr>
          <a:xfrm>
            <a:off x="1082501" y="3809740"/>
            <a:ext cx="962025" cy="176212"/>
          </a:xfrm>
          <a:prstGeom prst="rect">
            <a:avLst/>
          </a:prstGeom>
          <a:ln/>
        </p:spPr>
        <p:txBody>
          <a:bodyPr wrap="square" lIns="0" tIns="0" rIns="0" bIns="0" rtlCol="0" anchor="t"/>
          <a:lstStyle/>
          <a:p>
            <a:pPr algn="l" indent="0" marL="0">
              <a:lnSpc>
                <a:spcPts val="1404"/>
              </a:lnSpc>
              <a:buNone/>
            </a:pPr>
            <a:r>
              <a:rPr lang="en-US" sz="900" dirty="0">
                <a:solidFill>
                  <a:srgbClr val="FFFFFF"/>
                </a:solidFill>
                <a:latin typeface="Ubuntu" pitchFamily="34" charset="0"/>
                <a:ea typeface="Ubuntu" pitchFamily="34" charset="-122"/>
                <a:cs typeface="Ubuntu" pitchFamily="34" charset="-120"/>
              </a:rPr>
              <a:t>LG webOS — LIVE</a:t>
            </a:r>
            <a:endParaRPr lang="en-US" sz="900" dirty="0"/>
          </a:p>
        </p:txBody>
      </p:sp>
      <p:sp>
        <p:nvSpPr>
          <p:cNvPr id="18" name="Shape 12"/>
          <p:cNvSpPr/>
          <p:nvPr/>
        </p:nvSpPr>
        <p:spPr>
          <a:xfrm>
            <a:off x="963885" y="4103638"/>
            <a:ext cx="47625" cy="47625"/>
          </a:xfrm>
          <a:prstGeom prst="ellipse">
            <a:avLst/>
          </a:prstGeom>
          <a:solidFill>
            <a:srgbClr val="FF4199">
              <a:alpha val="50000"/>
            </a:srgbClr>
          </a:solidFill>
          <a:ln/>
        </p:spPr>
      </p:sp>
      <p:sp>
        <p:nvSpPr>
          <p:cNvPr id="19" name="Text 13"/>
          <p:cNvSpPr/>
          <p:nvPr/>
        </p:nvSpPr>
        <p:spPr>
          <a:xfrm>
            <a:off x="1082613" y="4039381"/>
            <a:ext cx="1123950" cy="176212"/>
          </a:xfrm>
          <a:prstGeom prst="rect">
            <a:avLst/>
          </a:prstGeom>
          <a:ln/>
        </p:spPr>
        <p:txBody>
          <a:bodyPr wrap="square" lIns="0" tIns="0" rIns="0" bIns="0" rtlCol="0" anchor="t"/>
          <a:lstStyle/>
          <a:p>
            <a:pPr algn="l" indent="0" marL="0">
              <a:lnSpc>
                <a:spcPts val="1404"/>
              </a:lnSpc>
              <a:buNone/>
            </a:pPr>
            <a:r>
              <a:rPr lang="en-US" sz="900" dirty="0">
                <a:solidFill>
                  <a:srgbClr val="FFFFFF"/>
                </a:solidFill>
                <a:latin typeface="Ubuntu" pitchFamily="34" charset="0"/>
                <a:ea typeface="Ubuntu" pitchFamily="34" charset="-122"/>
                <a:cs typeface="Ubuntu" pitchFamily="34" charset="-120"/>
              </a:rPr>
              <a:t>Apple TV — Q3 2025</a:t>
            </a:r>
            <a:endParaRPr lang="en-US" sz="900" dirty="0"/>
          </a:p>
        </p:txBody>
      </p:sp>
      <p:sp>
        <p:nvSpPr>
          <p:cNvPr id="20" name="Shape 14"/>
          <p:cNvSpPr/>
          <p:nvPr/>
        </p:nvSpPr>
        <p:spPr>
          <a:xfrm>
            <a:off x="963662" y="4422428"/>
            <a:ext cx="42863" cy="47625"/>
          </a:xfrm>
          <a:prstGeom prst="ellipse">
            <a:avLst/>
          </a:prstGeom>
          <a:solidFill>
            <a:srgbClr val="FF4199">
              <a:alpha val="50000"/>
            </a:srgbClr>
          </a:solidFill>
          <a:ln/>
        </p:spPr>
      </p:sp>
      <p:sp>
        <p:nvSpPr>
          <p:cNvPr id="21" name="Text 15"/>
          <p:cNvSpPr/>
          <p:nvPr/>
        </p:nvSpPr>
        <p:spPr>
          <a:xfrm>
            <a:off x="1077888" y="4267646"/>
            <a:ext cx="1524000" cy="357188"/>
          </a:xfrm>
          <a:prstGeom prst="rect">
            <a:avLst/>
          </a:prstGeom>
          <a:ln/>
        </p:spPr>
        <p:txBody>
          <a:bodyPr wrap="square" lIns="0" tIns="0" rIns="0" bIns="0" rtlCol="0" anchor="t"/>
          <a:lstStyle/>
          <a:p>
            <a:pPr algn="l" indent="0" marL="0">
              <a:lnSpc>
                <a:spcPts val="1404"/>
              </a:lnSpc>
              <a:buNone/>
            </a:pPr>
            <a:r>
              <a:rPr lang="en-US" sz="900" dirty="0">
                <a:solidFill>
                  <a:srgbClr val="FFFFFF"/>
                </a:solidFill>
                <a:latin typeface="Ubuntu" pitchFamily="34" charset="0"/>
                <a:ea typeface="Ubuntu" pitchFamily="34" charset="-122"/>
                <a:cs typeface="Ubuntu" pitchFamily="34" charset="-120"/>
              </a:rPr>
              <a:t>Android TV / Fire TV — Q4 2025</a:t>
            </a:r>
            <a:endParaRPr lang="en-US" sz="900" dirty="0"/>
          </a:p>
        </p:txBody>
      </p:sp>
      <p:pic>
        <p:nvPicPr>
          <p:cNvPr id="22" name="Image 4" descr="preencoded.png">    </p:cNvPr>
          <p:cNvPicPr>
            <a:picLocks noChangeAspect="1"/>
          </p:cNvPicPr>
          <p:nvPr/>
        </p:nvPicPr>
        <p:blipFill>
          <a:blip r:embed="rId8"/>
          <a:stretch>
            <a:fillRect/>
          </a:stretch>
        </p:blipFill>
        <p:spPr>
          <a:xfrm>
            <a:off x="3063255" y="2907134"/>
            <a:ext cx="228600" cy="228600"/>
          </a:xfrm>
          <a:prstGeom prst="rect">
            <a:avLst/>
          </a:prstGeom>
        </p:spPr>
      </p:pic>
      <p:sp>
        <p:nvSpPr>
          <p:cNvPr id="23" name="Shape 16"/>
          <p:cNvSpPr/>
          <p:nvPr/>
        </p:nvSpPr>
        <p:spPr>
          <a:xfrm>
            <a:off x="3519525" y="1259346"/>
            <a:ext cx="2105025" cy="3524250"/>
          </a:xfrm>
          <a:prstGeom prst="roundRect">
            <a:avLst>
              <a:gd name="adj" fmla="val 2264"/>
            </a:avLst>
          </a:prstGeom>
          <a:solidFill>
            <a:srgbClr val="FFFFFF">
              <a:alpha val="3000"/>
            </a:srgbClr>
          </a:solidFill>
          <a:ln w="4763">
            <a:solidFill>
              <a:srgbClr val="FFFFFF">
                <a:alpha val="10000"/>
              </a:srgbClr>
            </a:solidFill>
            <a:prstDash val="solid"/>
          </a:ln>
        </p:spPr>
      </p:sp>
      <p:sp>
        <p:nvSpPr>
          <p:cNvPr id="24" name="Shape 17"/>
          <p:cNvSpPr/>
          <p:nvPr/>
        </p:nvSpPr>
        <p:spPr>
          <a:xfrm>
            <a:off x="3752850" y="1630189"/>
            <a:ext cx="276225" cy="276225"/>
          </a:xfrm>
          <a:prstGeom prst="roundRect">
            <a:avLst>
              <a:gd name="adj" fmla="val 19177"/>
            </a:avLst>
          </a:prstGeom>
          <a:solidFill>
            <a:srgbClr val="01D7FB">
              <a:alpha val="15000"/>
            </a:srgbClr>
          </a:solidFill>
          <a:ln w="4763">
            <a:solidFill>
              <a:srgbClr val="01D7FB">
                <a:alpha val="30000"/>
              </a:srgbClr>
            </a:solidFill>
            <a:prstDash val="solid"/>
          </a:ln>
        </p:spPr>
      </p:sp>
      <p:pic>
        <p:nvPicPr>
          <p:cNvPr id="25" name="Image 5" descr="preencoded.png">    </p:cNvPr>
          <p:cNvPicPr>
            <a:picLocks noChangeAspect="1"/>
          </p:cNvPicPr>
          <p:nvPr/>
        </p:nvPicPr>
        <p:blipFill>
          <a:blip r:embed="rId9"/>
          <a:stretch>
            <a:fillRect/>
          </a:stretch>
        </p:blipFill>
        <p:spPr>
          <a:xfrm>
            <a:off x="3808661" y="1685999"/>
            <a:ext cx="164529" cy="164529"/>
          </a:xfrm>
          <a:prstGeom prst="rect">
            <a:avLst/>
          </a:prstGeom>
        </p:spPr>
      </p:pic>
      <p:sp>
        <p:nvSpPr>
          <p:cNvPr id="26" name="Text 18"/>
          <p:cNvSpPr/>
          <p:nvPr/>
        </p:nvSpPr>
        <p:spPr>
          <a:xfrm>
            <a:off x="4119079" y="1417737"/>
            <a:ext cx="1271588" cy="152400"/>
          </a:xfrm>
          <a:prstGeom prst="rect">
            <a:avLst/>
          </a:prstGeom>
          <a:ln/>
        </p:spPr>
        <p:txBody>
          <a:bodyPr wrap="square" lIns="0" tIns="0" rIns="0" bIns="0" rtlCol="0" anchor="t"/>
          <a:lstStyle/>
          <a:p>
            <a:pPr algn="l" indent="0" marL="0">
              <a:lnSpc>
                <a:spcPts val="1188"/>
              </a:lnSpc>
              <a:buNone/>
            </a:pPr>
            <a:r>
              <a:rPr lang="en-US" sz="700" b="1" dirty="0">
                <a:solidFill>
                  <a:srgbClr val="01D7FB"/>
                </a:solidFill>
                <a:latin typeface="Ubuntu" pitchFamily="34" charset="0"/>
                <a:ea typeface="Ubuntu" pitchFamily="34" charset="-122"/>
                <a:cs typeface="Ubuntu" pitchFamily="34" charset="-120"/>
              </a:rPr>
              <a:t>PHASE 2 — 2025</a:t>
            </a:r>
            <a:endParaRPr lang="en-US" sz="700" dirty="0"/>
          </a:p>
        </p:txBody>
      </p:sp>
      <p:sp>
        <p:nvSpPr>
          <p:cNvPr id="27" name="Text 19"/>
          <p:cNvSpPr/>
          <p:nvPr/>
        </p:nvSpPr>
        <p:spPr>
          <a:xfrm>
            <a:off x="4119079" y="1569913"/>
            <a:ext cx="1271588" cy="547687"/>
          </a:xfrm>
          <a:prstGeom prst="rect">
            <a:avLst/>
          </a:prstGeom>
          <a:ln/>
        </p:spPr>
        <p:txBody>
          <a:bodyPr wrap="square" lIns="0" tIns="0" rIns="0" bIns="0" rtlCol="0" anchor="t"/>
          <a:lstStyle/>
          <a:p>
            <a:pPr algn="l" indent="0" marL="0">
              <a:lnSpc>
                <a:spcPts val="2160"/>
              </a:lnSpc>
              <a:buNone/>
            </a:pPr>
            <a:r>
              <a:rPr lang="en-US" sz="1400" b="1" dirty="0">
                <a:solidFill>
                  <a:srgbClr val="FFFFFF"/>
                </a:solidFill>
                <a:latin typeface="Ubuntu" pitchFamily="34" charset="0"/>
                <a:ea typeface="Ubuntu" pitchFamily="34" charset="-122"/>
                <a:cs typeface="Ubuntu" pitchFamily="34" charset="-120"/>
              </a:rPr>
              <a:t>Mobile Companion</a:t>
            </a:r>
            <a:endParaRPr lang="en-US" sz="1400" dirty="0"/>
          </a:p>
        </p:txBody>
      </p:sp>
      <p:sp>
        <p:nvSpPr>
          <p:cNvPr id="28" name="Text 20"/>
          <p:cNvSpPr/>
          <p:nvPr/>
        </p:nvSpPr>
        <p:spPr>
          <a:xfrm>
            <a:off x="3752887" y="2220962"/>
            <a:ext cx="1638300" cy="1433513"/>
          </a:xfrm>
          <a:prstGeom prst="rect">
            <a:avLst/>
          </a:prstGeom>
          <a:ln/>
        </p:spPr>
        <p:txBody>
          <a:bodyPr wrap="square" lIns="0" tIns="0" rIns="0" bIns="0" rtlCol="0" anchor="t"/>
          <a:lstStyle/>
          <a:p>
            <a:pPr algn="l" indent="0" marL="0">
              <a:lnSpc>
                <a:spcPts val="1613"/>
              </a:lnSpc>
              <a:spcAft>
                <a:spcPts val="810"/>
              </a:spcAft>
              <a:buNone/>
            </a:pPr>
            <a:r>
              <a:rPr lang="en-US" sz="1000" dirty="0">
                <a:solidFill>
                  <a:srgbClr val="FFFFFF"/>
                </a:solidFill>
                <a:latin typeface="Ubuntu" pitchFamily="34" charset="0"/>
                <a:ea typeface="Ubuntu" pitchFamily="34" charset="-122"/>
                <a:cs typeface="Ubuntu" pitchFamily="34" charset="-120"/>
              </a:rPr>
              <a:t>iOS and Android apps serve as remote controls for the TV — and as standalone listening clients on the go. The TV session drives mobile install; mobile drives premium conversion.</a:t>
            </a:r>
            <a:endParaRPr lang="en-US" sz="1000" dirty="0"/>
          </a:p>
        </p:txBody>
      </p:sp>
      <p:sp>
        <p:nvSpPr>
          <p:cNvPr id="29" name="Shape 21"/>
          <p:cNvSpPr/>
          <p:nvPr/>
        </p:nvSpPr>
        <p:spPr>
          <a:xfrm>
            <a:off x="3752850" y="3822576"/>
            <a:ext cx="47625" cy="47625"/>
          </a:xfrm>
          <a:prstGeom prst="ellipse">
            <a:avLst/>
          </a:prstGeom>
          <a:solidFill>
            <a:srgbClr val="01D7FB">
              <a:alpha val="40000"/>
            </a:srgbClr>
          </a:solidFill>
          <a:ln/>
        </p:spPr>
      </p:sp>
      <p:sp>
        <p:nvSpPr>
          <p:cNvPr id="30" name="Text 22"/>
          <p:cNvSpPr/>
          <p:nvPr/>
        </p:nvSpPr>
        <p:spPr>
          <a:xfrm>
            <a:off x="3871913" y="3758319"/>
            <a:ext cx="814388" cy="176212"/>
          </a:xfrm>
          <a:prstGeom prst="rect">
            <a:avLst/>
          </a:prstGeom>
          <a:ln/>
        </p:spPr>
        <p:txBody>
          <a:bodyPr wrap="square" lIns="0" tIns="0" rIns="0" bIns="0" rtlCol="0" anchor="t"/>
          <a:lstStyle/>
          <a:p>
            <a:pPr algn="l" indent="0" marL="0">
              <a:lnSpc>
                <a:spcPts val="1404"/>
              </a:lnSpc>
              <a:buNone/>
            </a:pPr>
            <a:r>
              <a:rPr lang="en-US" sz="900" dirty="0">
                <a:solidFill>
                  <a:srgbClr val="FFFFFF"/>
                </a:solidFill>
                <a:latin typeface="Ubuntu" pitchFamily="34" charset="0"/>
                <a:ea typeface="Ubuntu" pitchFamily="34" charset="-122"/>
                <a:cs typeface="Ubuntu" pitchFamily="34" charset="-120"/>
              </a:rPr>
              <a:t>iOS — Q4 2025</a:t>
            </a:r>
            <a:endParaRPr lang="en-US" sz="900" dirty="0"/>
          </a:p>
        </p:txBody>
      </p:sp>
      <p:sp>
        <p:nvSpPr>
          <p:cNvPr id="31" name="Shape 23"/>
          <p:cNvSpPr/>
          <p:nvPr/>
        </p:nvSpPr>
        <p:spPr>
          <a:xfrm>
            <a:off x="3752850" y="4052218"/>
            <a:ext cx="47625" cy="47625"/>
          </a:xfrm>
          <a:prstGeom prst="ellipse">
            <a:avLst/>
          </a:prstGeom>
          <a:solidFill>
            <a:srgbClr val="01D7FB">
              <a:alpha val="40000"/>
            </a:srgbClr>
          </a:solidFill>
          <a:ln/>
        </p:spPr>
      </p:sp>
      <p:sp>
        <p:nvSpPr>
          <p:cNvPr id="32" name="Text 24"/>
          <p:cNvSpPr/>
          <p:nvPr/>
        </p:nvSpPr>
        <p:spPr>
          <a:xfrm>
            <a:off x="3872322" y="3987961"/>
            <a:ext cx="1062038" cy="176212"/>
          </a:xfrm>
          <a:prstGeom prst="rect">
            <a:avLst/>
          </a:prstGeom>
          <a:ln/>
        </p:spPr>
        <p:txBody>
          <a:bodyPr wrap="square" lIns="0" tIns="0" rIns="0" bIns="0" rtlCol="0" anchor="t"/>
          <a:lstStyle/>
          <a:p>
            <a:pPr algn="l" indent="0" marL="0">
              <a:lnSpc>
                <a:spcPts val="1404"/>
              </a:lnSpc>
              <a:buNone/>
            </a:pPr>
            <a:r>
              <a:rPr lang="en-US" sz="900" dirty="0">
                <a:solidFill>
                  <a:srgbClr val="FFFFFF"/>
                </a:solidFill>
                <a:latin typeface="Ubuntu" pitchFamily="34" charset="0"/>
                <a:ea typeface="Ubuntu" pitchFamily="34" charset="-122"/>
                <a:cs typeface="Ubuntu" pitchFamily="34" charset="-120"/>
              </a:rPr>
              <a:t>Android — Q4 2025</a:t>
            </a:r>
            <a:endParaRPr lang="en-US" sz="900" dirty="0"/>
          </a:p>
        </p:txBody>
      </p:sp>
      <p:sp>
        <p:nvSpPr>
          <p:cNvPr id="33" name="Shape 25"/>
          <p:cNvSpPr/>
          <p:nvPr/>
        </p:nvSpPr>
        <p:spPr>
          <a:xfrm>
            <a:off x="3752850" y="4281860"/>
            <a:ext cx="47625" cy="47625"/>
          </a:xfrm>
          <a:prstGeom prst="ellipse">
            <a:avLst/>
          </a:prstGeom>
          <a:solidFill>
            <a:srgbClr val="FFFFFF">
              <a:alpha val="20000"/>
            </a:srgbClr>
          </a:solidFill>
          <a:ln/>
        </p:spPr>
      </p:sp>
      <p:sp>
        <p:nvSpPr>
          <p:cNvPr id="34" name="Text 26"/>
          <p:cNvSpPr/>
          <p:nvPr/>
        </p:nvSpPr>
        <p:spPr>
          <a:xfrm>
            <a:off x="3871540" y="4217603"/>
            <a:ext cx="1400175" cy="176212"/>
          </a:xfrm>
          <a:prstGeom prst="rect">
            <a:avLst/>
          </a:prstGeom>
          <a:ln/>
        </p:spPr>
        <p:txBody>
          <a:bodyPr wrap="square" lIns="0" tIns="0" rIns="0" bIns="0" rtlCol="0" anchor="t"/>
          <a:lstStyle/>
          <a:p>
            <a:pPr algn="l" indent="0" marL="0">
              <a:lnSpc>
                <a:spcPts val="1404"/>
              </a:lnSpc>
              <a:buNone/>
            </a:pPr>
            <a:r>
              <a:rPr lang="en-US" sz="900" dirty="0">
                <a:solidFill>
                  <a:srgbClr val="FFFFFF"/>
                </a:solidFill>
                <a:latin typeface="Ubuntu" pitchFamily="34" charset="0"/>
                <a:ea typeface="Ubuntu" pitchFamily="34" charset="-122"/>
                <a:cs typeface="Ubuntu" pitchFamily="34" charset="-120"/>
              </a:rPr>
              <a:t>TV remote control via app</a:t>
            </a:r>
            <a:endParaRPr lang="en-US" sz="900" dirty="0"/>
          </a:p>
        </p:txBody>
      </p:sp>
      <p:sp>
        <p:nvSpPr>
          <p:cNvPr id="35" name="Shape 27"/>
          <p:cNvSpPr/>
          <p:nvPr/>
        </p:nvSpPr>
        <p:spPr>
          <a:xfrm>
            <a:off x="3752850" y="4511501"/>
            <a:ext cx="47625" cy="47625"/>
          </a:xfrm>
          <a:prstGeom prst="ellipse">
            <a:avLst/>
          </a:prstGeom>
          <a:solidFill>
            <a:srgbClr val="FFFFFF">
              <a:alpha val="20000"/>
            </a:srgbClr>
          </a:solidFill>
          <a:ln/>
        </p:spPr>
      </p:sp>
      <p:sp>
        <p:nvSpPr>
          <p:cNvPr id="36" name="Text 28"/>
          <p:cNvSpPr/>
          <p:nvPr/>
        </p:nvSpPr>
        <p:spPr>
          <a:xfrm>
            <a:off x="3871615" y="4447245"/>
            <a:ext cx="1447800" cy="176212"/>
          </a:xfrm>
          <a:prstGeom prst="rect">
            <a:avLst/>
          </a:prstGeom>
          <a:ln/>
        </p:spPr>
        <p:txBody>
          <a:bodyPr wrap="square" lIns="0" tIns="0" rIns="0" bIns="0" rtlCol="0" anchor="t"/>
          <a:lstStyle/>
          <a:p>
            <a:pPr algn="l" indent="0" marL="0">
              <a:lnSpc>
                <a:spcPts val="1404"/>
              </a:lnSpc>
              <a:buNone/>
            </a:pPr>
            <a:r>
              <a:rPr lang="en-US" sz="900" dirty="0">
                <a:solidFill>
                  <a:srgbClr val="FFFFFF"/>
                </a:solidFill>
                <a:latin typeface="Ubuntu" pitchFamily="34" charset="0"/>
                <a:ea typeface="Ubuntu" pitchFamily="34" charset="-122"/>
                <a:cs typeface="Ubuntu" pitchFamily="34" charset="-120"/>
              </a:rPr>
              <a:t>Cross-device favorites sync</a:t>
            </a:r>
            <a:endParaRPr lang="en-US" sz="900" dirty="0"/>
          </a:p>
        </p:txBody>
      </p:sp>
      <p:pic>
        <p:nvPicPr>
          <p:cNvPr id="37" name="Image 6" descr="preencoded.png">    </p:cNvPr>
          <p:cNvPicPr>
            <a:picLocks noChangeAspect="1"/>
          </p:cNvPicPr>
          <p:nvPr/>
        </p:nvPicPr>
        <p:blipFill>
          <a:blip r:embed="rId10"/>
          <a:stretch>
            <a:fillRect/>
          </a:stretch>
        </p:blipFill>
        <p:spPr>
          <a:xfrm>
            <a:off x="5852220" y="2907134"/>
            <a:ext cx="228600" cy="228600"/>
          </a:xfrm>
          <a:prstGeom prst="rect">
            <a:avLst/>
          </a:prstGeom>
        </p:spPr>
      </p:pic>
      <p:sp>
        <p:nvSpPr>
          <p:cNvPr id="38" name="Shape 29"/>
          <p:cNvSpPr/>
          <p:nvPr/>
        </p:nvSpPr>
        <p:spPr>
          <a:xfrm>
            <a:off x="6308489" y="1259346"/>
            <a:ext cx="2105025" cy="3524250"/>
          </a:xfrm>
          <a:prstGeom prst="roundRect">
            <a:avLst>
              <a:gd name="adj" fmla="val 2264"/>
            </a:avLst>
          </a:prstGeom>
          <a:solidFill>
            <a:srgbClr val="FFFFFF">
              <a:alpha val="2000"/>
            </a:srgbClr>
          </a:solidFill>
          <a:ln w="4763">
            <a:solidFill>
              <a:srgbClr val="FFFFFF">
                <a:alpha val="7000"/>
              </a:srgbClr>
            </a:solidFill>
            <a:prstDash val="solid"/>
          </a:ln>
        </p:spPr>
      </p:sp>
      <p:sp>
        <p:nvSpPr>
          <p:cNvPr id="39" name="Shape 30"/>
          <p:cNvSpPr/>
          <p:nvPr/>
        </p:nvSpPr>
        <p:spPr>
          <a:xfrm>
            <a:off x="6541815" y="1492969"/>
            <a:ext cx="276225" cy="276225"/>
          </a:xfrm>
          <a:prstGeom prst="roundRect">
            <a:avLst>
              <a:gd name="adj" fmla="val 19177"/>
            </a:avLst>
          </a:prstGeom>
          <a:solidFill>
            <a:srgbClr val="FFFFFF">
              <a:alpha val="5000"/>
            </a:srgbClr>
          </a:solidFill>
          <a:ln w="4763">
            <a:solidFill>
              <a:srgbClr val="FFFFFF">
                <a:alpha val="12000"/>
              </a:srgbClr>
            </a:solidFill>
            <a:prstDash val="solid"/>
          </a:ln>
        </p:spPr>
      </p:sp>
      <p:pic>
        <p:nvPicPr>
          <p:cNvPr id="40" name="Image 7" descr="preencoded.png">    </p:cNvPr>
          <p:cNvPicPr>
            <a:picLocks noChangeAspect="1"/>
          </p:cNvPicPr>
          <p:nvPr/>
        </p:nvPicPr>
        <p:blipFill>
          <a:blip r:embed="rId11"/>
          <a:stretch>
            <a:fillRect/>
          </a:stretch>
        </p:blipFill>
        <p:spPr>
          <a:xfrm>
            <a:off x="6597625" y="1548780"/>
            <a:ext cx="164529" cy="164529"/>
          </a:xfrm>
          <a:prstGeom prst="rect">
            <a:avLst/>
          </a:prstGeom>
        </p:spPr>
      </p:pic>
      <p:sp>
        <p:nvSpPr>
          <p:cNvPr id="41" name="Text 31"/>
          <p:cNvSpPr/>
          <p:nvPr/>
        </p:nvSpPr>
        <p:spPr>
          <a:xfrm>
            <a:off x="6907597" y="1417737"/>
            <a:ext cx="952500" cy="152400"/>
          </a:xfrm>
          <a:prstGeom prst="rect">
            <a:avLst/>
          </a:prstGeom>
          <a:ln/>
        </p:spPr>
        <p:txBody>
          <a:bodyPr wrap="square" lIns="0" tIns="0" rIns="0" bIns="0" rtlCol="0" anchor="t"/>
          <a:lstStyle/>
          <a:p>
            <a:pPr algn="l" indent="0" marL="0">
              <a:lnSpc>
                <a:spcPts val="1188"/>
              </a:lnSpc>
              <a:buNone/>
            </a:pPr>
            <a:r>
              <a:rPr lang="en-US" sz="700" b="1" dirty="0">
                <a:solidFill>
                  <a:srgbClr val="FFFFFF"/>
                </a:solidFill>
                <a:latin typeface="Ubuntu" pitchFamily="34" charset="0"/>
                <a:ea typeface="Ubuntu" pitchFamily="34" charset="-122"/>
                <a:cs typeface="Ubuntu" pitchFamily="34" charset="-120"/>
              </a:rPr>
              <a:t>PHASE 3 — 2026</a:t>
            </a:r>
            <a:endParaRPr lang="en-US" sz="700" dirty="0"/>
          </a:p>
        </p:txBody>
      </p:sp>
      <p:sp>
        <p:nvSpPr>
          <p:cNvPr id="42" name="Text 32"/>
          <p:cNvSpPr/>
          <p:nvPr/>
        </p:nvSpPr>
        <p:spPr>
          <a:xfrm>
            <a:off x="6907597" y="1568462"/>
            <a:ext cx="952500" cy="276225"/>
          </a:xfrm>
          <a:prstGeom prst="rect">
            <a:avLst/>
          </a:prstGeom>
          <a:ln/>
        </p:spPr>
        <p:txBody>
          <a:bodyPr wrap="square" lIns="0" tIns="0" rIns="0" bIns="0" rtlCol="0" anchor="t"/>
          <a:lstStyle/>
          <a:p>
            <a:pPr algn="l" indent="0" marL="0">
              <a:lnSpc>
                <a:spcPts val="2160"/>
              </a:lnSpc>
              <a:buNone/>
            </a:pPr>
            <a:r>
              <a:rPr lang="en-US" sz="1400" b="1" dirty="0">
                <a:solidFill>
                  <a:srgbClr val="FFFFFF"/>
                </a:solidFill>
                <a:latin typeface="Ubuntu" pitchFamily="34" charset="0"/>
                <a:ea typeface="Ubuntu" pitchFamily="34" charset="-122"/>
                <a:cs typeface="Ubuntu" pitchFamily="34" charset="-120"/>
              </a:rPr>
              <a:t>Web &amp; B2B</a:t>
            </a:r>
            <a:endParaRPr lang="en-US" sz="1400" dirty="0"/>
          </a:p>
        </p:txBody>
      </p:sp>
      <p:sp>
        <p:nvSpPr>
          <p:cNvPr id="43" name="Text 33"/>
          <p:cNvSpPr/>
          <p:nvPr/>
        </p:nvSpPr>
        <p:spPr>
          <a:xfrm>
            <a:off x="6541852" y="1946597"/>
            <a:ext cx="1638300" cy="1228725"/>
          </a:xfrm>
          <a:prstGeom prst="rect">
            <a:avLst/>
          </a:prstGeom>
          <a:ln/>
        </p:spPr>
        <p:txBody>
          <a:bodyPr wrap="square" lIns="0" tIns="0" rIns="0" bIns="0" rtlCol="0" anchor="t"/>
          <a:lstStyle/>
          <a:p>
            <a:pPr algn="l" indent="0" marL="0">
              <a:lnSpc>
                <a:spcPts val="1613"/>
              </a:lnSpc>
              <a:spcAft>
                <a:spcPts val="810"/>
              </a:spcAft>
              <a:buNone/>
            </a:pPr>
            <a:r>
              <a:rPr lang="en-US" sz="1000" dirty="0">
                <a:solidFill>
                  <a:srgbClr val="FFFFFF"/>
                </a:solidFill>
                <a:latin typeface="Ubuntu" pitchFamily="34" charset="0"/>
                <a:ea typeface="Ubuntu" pitchFamily="34" charset="-122"/>
                <a:cs typeface="Ubuntu" pitchFamily="34" charset="-120"/>
              </a:rPr>
              <a:t>Web player completes the cross-device story. B2B white-label SDK lets hotels, airlines, and broadcasters embed Radio Mega under their own brand.</a:t>
            </a:r>
            <a:endParaRPr lang="en-US" sz="1000" dirty="0"/>
          </a:p>
        </p:txBody>
      </p:sp>
      <p:sp>
        <p:nvSpPr>
          <p:cNvPr id="44" name="Shape 34"/>
          <p:cNvSpPr/>
          <p:nvPr/>
        </p:nvSpPr>
        <p:spPr>
          <a:xfrm>
            <a:off x="6541815" y="3466133"/>
            <a:ext cx="47625" cy="47625"/>
          </a:xfrm>
          <a:prstGeom prst="ellipse">
            <a:avLst/>
          </a:prstGeom>
          <a:solidFill>
            <a:srgbClr val="FFFFFF">
              <a:alpha val="20000"/>
            </a:srgbClr>
          </a:solidFill>
          <a:ln/>
        </p:spPr>
      </p:sp>
      <p:sp>
        <p:nvSpPr>
          <p:cNvPr id="45" name="Text 35"/>
          <p:cNvSpPr/>
          <p:nvPr/>
        </p:nvSpPr>
        <p:spPr>
          <a:xfrm>
            <a:off x="6660654" y="3401876"/>
            <a:ext cx="1481137" cy="176212"/>
          </a:xfrm>
          <a:prstGeom prst="rect">
            <a:avLst/>
          </a:prstGeom>
          <a:ln/>
        </p:spPr>
        <p:txBody>
          <a:bodyPr wrap="square" lIns="0" tIns="0" rIns="0" bIns="0" rtlCol="0" anchor="t"/>
          <a:lstStyle/>
          <a:p>
            <a:pPr algn="l" indent="0" marL="0">
              <a:lnSpc>
                <a:spcPts val="1404"/>
              </a:lnSpc>
              <a:buNone/>
            </a:pPr>
            <a:r>
              <a:rPr lang="en-US" sz="900" dirty="0">
                <a:solidFill>
                  <a:srgbClr val="FFFFFF"/>
                </a:solidFill>
                <a:latin typeface="Ubuntu" pitchFamily="34" charset="0"/>
                <a:ea typeface="Ubuntu" pitchFamily="34" charset="-122"/>
                <a:cs typeface="Ubuntu" pitchFamily="34" charset="-120"/>
              </a:rPr>
              <a:t>Progressive web app (PWA)</a:t>
            </a:r>
            <a:endParaRPr lang="en-US" sz="900" dirty="0"/>
          </a:p>
        </p:txBody>
      </p:sp>
      <p:sp>
        <p:nvSpPr>
          <p:cNvPr id="46" name="Shape 36"/>
          <p:cNvSpPr/>
          <p:nvPr/>
        </p:nvSpPr>
        <p:spPr>
          <a:xfrm>
            <a:off x="6542633" y="3784922"/>
            <a:ext cx="42863" cy="47625"/>
          </a:xfrm>
          <a:prstGeom prst="ellipse">
            <a:avLst/>
          </a:prstGeom>
          <a:solidFill>
            <a:srgbClr val="FFFFFF">
              <a:alpha val="20000"/>
            </a:srgbClr>
          </a:solidFill>
          <a:ln/>
        </p:spPr>
      </p:sp>
      <p:sp>
        <p:nvSpPr>
          <p:cNvPr id="47" name="Text 37"/>
          <p:cNvSpPr/>
          <p:nvPr/>
        </p:nvSpPr>
        <p:spPr>
          <a:xfrm>
            <a:off x="6659240" y="3630141"/>
            <a:ext cx="1519238" cy="357188"/>
          </a:xfrm>
          <a:prstGeom prst="rect">
            <a:avLst/>
          </a:prstGeom>
          <a:ln/>
        </p:spPr>
        <p:txBody>
          <a:bodyPr wrap="square" lIns="0" tIns="0" rIns="0" bIns="0" rtlCol="0" anchor="t"/>
          <a:lstStyle/>
          <a:p>
            <a:pPr algn="l" indent="0" marL="0">
              <a:lnSpc>
                <a:spcPts val="1404"/>
              </a:lnSpc>
              <a:buNone/>
            </a:pPr>
            <a:r>
              <a:rPr lang="en-US" sz="900" dirty="0">
                <a:solidFill>
                  <a:srgbClr val="FFFFFF"/>
                </a:solidFill>
                <a:latin typeface="Ubuntu" pitchFamily="34" charset="0"/>
                <a:ea typeface="Ubuntu" pitchFamily="34" charset="-122"/>
                <a:cs typeface="Ubuntu" pitchFamily="34" charset="-120"/>
              </a:rPr>
              <a:t>Hotel &amp; hospitality white-label</a:t>
            </a:r>
            <a:endParaRPr lang="en-US" sz="900" dirty="0"/>
          </a:p>
        </p:txBody>
      </p:sp>
      <p:sp>
        <p:nvSpPr>
          <p:cNvPr id="48" name="Shape 38"/>
          <p:cNvSpPr/>
          <p:nvPr/>
        </p:nvSpPr>
        <p:spPr>
          <a:xfrm>
            <a:off x="6543824" y="4192786"/>
            <a:ext cx="42863" cy="47625"/>
          </a:xfrm>
          <a:prstGeom prst="ellipse">
            <a:avLst/>
          </a:prstGeom>
          <a:solidFill>
            <a:srgbClr val="FFFFFF">
              <a:alpha val="20000"/>
            </a:srgbClr>
          </a:solidFill>
          <a:ln/>
        </p:spPr>
      </p:sp>
      <p:sp>
        <p:nvSpPr>
          <p:cNvPr id="49" name="Text 39"/>
          <p:cNvSpPr/>
          <p:nvPr/>
        </p:nvSpPr>
        <p:spPr>
          <a:xfrm>
            <a:off x="6660431" y="4038005"/>
            <a:ext cx="1519238" cy="357188"/>
          </a:xfrm>
          <a:prstGeom prst="rect">
            <a:avLst/>
          </a:prstGeom>
          <a:ln/>
        </p:spPr>
        <p:txBody>
          <a:bodyPr wrap="square" lIns="0" tIns="0" rIns="0" bIns="0" rtlCol="0" anchor="t"/>
          <a:lstStyle/>
          <a:p>
            <a:pPr algn="l" indent="0" marL="0">
              <a:lnSpc>
                <a:spcPts val="1404"/>
              </a:lnSpc>
              <a:buNone/>
            </a:pPr>
            <a:r>
              <a:rPr lang="en-US" sz="900" dirty="0">
                <a:solidFill>
                  <a:srgbClr val="FFFFFF"/>
                </a:solidFill>
                <a:latin typeface="Ubuntu" pitchFamily="34" charset="0"/>
                <a:ea typeface="Ubuntu" pitchFamily="34" charset="-122"/>
                <a:cs typeface="Ubuntu" pitchFamily="34" charset="-120"/>
              </a:rPr>
              <a:t>OEM pre-install partnerships</a:t>
            </a:r>
            <a:endParaRPr lang="en-US" sz="900" dirty="0"/>
          </a:p>
        </p:txBody>
      </p:sp>
      <p:sp>
        <p:nvSpPr>
          <p:cNvPr id="50" name="Shape 40"/>
          <p:cNvSpPr/>
          <p:nvPr/>
        </p:nvSpPr>
        <p:spPr>
          <a:xfrm>
            <a:off x="6541815" y="4511501"/>
            <a:ext cx="47625" cy="47625"/>
          </a:xfrm>
          <a:prstGeom prst="ellipse">
            <a:avLst/>
          </a:prstGeom>
          <a:solidFill>
            <a:srgbClr val="FFFFFF">
              <a:alpha val="20000"/>
            </a:srgbClr>
          </a:solidFill>
          <a:ln/>
        </p:spPr>
      </p:sp>
      <p:sp>
        <p:nvSpPr>
          <p:cNvPr id="51" name="Text 41"/>
          <p:cNvSpPr/>
          <p:nvPr/>
        </p:nvSpPr>
        <p:spPr>
          <a:xfrm>
            <a:off x="6661100" y="4447245"/>
            <a:ext cx="904875" cy="176212"/>
          </a:xfrm>
          <a:prstGeom prst="rect">
            <a:avLst/>
          </a:prstGeom>
          <a:ln/>
        </p:spPr>
        <p:txBody>
          <a:bodyPr wrap="square" lIns="0" tIns="0" rIns="0" bIns="0" rtlCol="0" anchor="t"/>
          <a:lstStyle/>
          <a:p>
            <a:pPr algn="l" indent="0" marL="0">
              <a:lnSpc>
                <a:spcPts val="1404"/>
              </a:lnSpc>
              <a:buNone/>
            </a:pPr>
            <a:r>
              <a:rPr lang="en-US" sz="900" dirty="0">
                <a:solidFill>
                  <a:srgbClr val="FFFFFF"/>
                </a:solidFill>
                <a:latin typeface="Ubuntu" pitchFamily="34" charset="0"/>
                <a:ea typeface="Ubuntu" pitchFamily="34" charset="-122"/>
                <a:cs typeface="Ubuntu" pitchFamily="34" charset="-120"/>
              </a:rPr>
              <a:t>Broadcaster SDK</a:t>
            </a:r>
            <a:endParaRPr lang="en-US" sz="900" dirty="0"/>
          </a:p>
        </p:txBody>
      </p:sp>
      <p:sp>
        <p:nvSpPr>
          <p:cNvPr id="52" name="Shape 42"/>
          <p:cNvSpPr/>
          <p:nvPr/>
        </p:nvSpPr>
        <p:spPr>
          <a:xfrm>
            <a:off x="731044" y="4938601"/>
            <a:ext cx="7681912" cy="652463"/>
          </a:xfrm>
          <a:prstGeom prst="roundRect">
            <a:avLst>
              <a:gd name="adj" fmla="val 15713"/>
            </a:avLst>
          </a:prstGeom>
          <a:solidFill>
            <a:srgbClr val="FF4199">
              <a:alpha val="4000"/>
            </a:srgbClr>
          </a:solidFill>
          <a:ln w="4763">
            <a:solidFill>
              <a:srgbClr val="FF4199">
                <a:alpha val="12000"/>
              </a:srgbClr>
            </a:solidFill>
            <a:prstDash val="solid"/>
          </a:ln>
        </p:spPr>
      </p:sp>
      <p:sp>
        <p:nvSpPr>
          <p:cNvPr id="53" name="Text 43"/>
          <p:cNvSpPr/>
          <p:nvPr/>
        </p:nvSpPr>
        <p:spPr>
          <a:xfrm>
            <a:off x="1131615" y="5044418"/>
            <a:ext cx="1009650" cy="276225"/>
          </a:xfrm>
          <a:prstGeom prst="rect">
            <a:avLst/>
          </a:prstGeom>
          <a:ln/>
        </p:spPr>
        <p:txBody>
          <a:bodyPr wrap="square" lIns="0" tIns="0" rIns="0" bIns="0" rtlCol="0" anchor="t"/>
          <a:lstStyle/>
          <a:p>
            <a:pPr algn="ctr" indent="0" marL="0">
              <a:lnSpc>
                <a:spcPts val="2160"/>
              </a:lnSpc>
              <a:buNone/>
            </a:pPr>
            <a:r>
              <a:rPr lang="en-US" sz="1400" b="1" dirty="0">
                <a:solidFill>
                  <a:srgbClr val="FF4199"/>
                </a:solidFill>
                <a:latin typeface="Ubuntu" pitchFamily="34" charset="0"/>
                <a:ea typeface="Ubuntu" pitchFamily="34" charset="-122"/>
                <a:cs typeface="Ubuntu" pitchFamily="34" charset="-120"/>
              </a:rPr>
              <a:t>2 platforms</a:t>
            </a:r>
            <a:endParaRPr lang="en-US" sz="1400" dirty="0"/>
          </a:p>
        </p:txBody>
      </p:sp>
      <p:sp>
        <p:nvSpPr>
          <p:cNvPr id="54" name="Text 44"/>
          <p:cNvSpPr/>
          <p:nvPr/>
        </p:nvSpPr>
        <p:spPr>
          <a:xfrm>
            <a:off x="1131615" y="5318671"/>
            <a:ext cx="1009650" cy="166688"/>
          </a:xfrm>
          <a:prstGeom prst="rect">
            <a:avLst/>
          </a:prstGeom>
          <a:ln/>
        </p:spPr>
        <p:txBody>
          <a:bodyPr wrap="square" lIns="0" tIns="0" rIns="0" bIns="0" rtlCol="0" anchor="t"/>
          <a:lstStyle/>
          <a:p>
            <a:pPr algn="ctr" indent="0" marL="0">
              <a:lnSpc>
                <a:spcPts val="1296"/>
              </a:lnSpc>
              <a:buNone/>
            </a:pPr>
            <a:r>
              <a:rPr lang="en-US" sz="800" dirty="0">
                <a:solidFill>
                  <a:srgbClr val="FFFFFF"/>
                </a:solidFill>
                <a:latin typeface="Ubuntu" pitchFamily="34" charset="0"/>
                <a:ea typeface="Ubuntu" pitchFamily="34" charset="-122"/>
                <a:cs typeface="Ubuntu" pitchFamily="34" charset="-120"/>
              </a:rPr>
              <a:t>Live today</a:t>
            </a:r>
            <a:endParaRPr lang="en-US" sz="800" dirty="0"/>
          </a:p>
        </p:txBody>
      </p:sp>
      <p:sp>
        <p:nvSpPr>
          <p:cNvPr id="55" name="Shape 45"/>
          <p:cNvSpPr/>
          <p:nvPr/>
        </p:nvSpPr>
        <p:spPr>
          <a:xfrm>
            <a:off x="2474044" y="5136207"/>
            <a:ext cx="4763" cy="257175"/>
          </a:xfrm>
          <a:prstGeom prst="rect">
            <a:avLst/>
          </a:prstGeom>
          <a:solidFill>
            <a:srgbClr val="FFFFFF">
              <a:alpha val="6000"/>
            </a:srgbClr>
          </a:solidFill>
          <a:ln/>
        </p:spPr>
      </p:sp>
      <p:sp>
        <p:nvSpPr>
          <p:cNvPr id="56" name="Text 46"/>
          <p:cNvSpPr/>
          <p:nvPr/>
        </p:nvSpPr>
        <p:spPr>
          <a:xfrm>
            <a:off x="2810842" y="5044418"/>
            <a:ext cx="1304925" cy="276225"/>
          </a:xfrm>
          <a:prstGeom prst="rect">
            <a:avLst/>
          </a:prstGeom>
          <a:ln/>
        </p:spPr>
        <p:txBody>
          <a:bodyPr wrap="square" lIns="0" tIns="0" rIns="0" bIns="0" rtlCol="0" anchor="t"/>
          <a:lstStyle/>
          <a:p>
            <a:pPr algn="ctr" indent="0" marL="0">
              <a:lnSpc>
                <a:spcPts val="2160"/>
              </a:lnSpc>
              <a:buNone/>
            </a:pPr>
            <a:r>
              <a:rPr lang="en-US" sz="1400" b="1" dirty="0">
                <a:solidFill>
                  <a:srgbClr val="FFFFFF"/>
                </a:solidFill>
                <a:latin typeface="Ubuntu" pitchFamily="34" charset="0"/>
                <a:ea typeface="Ubuntu" pitchFamily="34" charset="-122"/>
                <a:cs typeface="Ubuntu" pitchFamily="34" charset="-120"/>
              </a:rPr>
              <a:t>5 TV platforms</a:t>
            </a:r>
            <a:endParaRPr lang="en-US" sz="1400" dirty="0"/>
          </a:p>
        </p:txBody>
      </p:sp>
      <p:sp>
        <p:nvSpPr>
          <p:cNvPr id="57" name="Text 47"/>
          <p:cNvSpPr/>
          <p:nvPr/>
        </p:nvSpPr>
        <p:spPr>
          <a:xfrm>
            <a:off x="2810842" y="5318671"/>
            <a:ext cx="1304925" cy="166688"/>
          </a:xfrm>
          <a:prstGeom prst="rect">
            <a:avLst/>
          </a:prstGeom>
          <a:ln/>
        </p:spPr>
        <p:txBody>
          <a:bodyPr wrap="square" lIns="0" tIns="0" rIns="0" bIns="0" rtlCol="0" anchor="t"/>
          <a:lstStyle/>
          <a:p>
            <a:pPr algn="ctr" indent="0" marL="0">
              <a:lnSpc>
                <a:spcPts val="1296"/>
              </a:lnSpc>
              <a:buNone/>
            </a:pPr>
            <a:r>
              <a:rPr lang="en-US" sz="800" dirty="0">
                <a:solidFill>
                  <a:srgbClr val="FFFFFF"/>
                </a:solidFill>
                <a:latin typeface="Ubuntu" pitchFamily="34" charset="0"/>
                <a:ea typeface="Ubuntu" pitchFamily="34" charset="-122"/>
                <a:cs typeface="Ubuntu" pitchFamily="34" charset="-120"/>
              </a:rPr>
              <a:t>By Q4 2025</a:t>
            </a:r>
            <a:endParaRPr lang="en-US" sz="800" dirty="0"/>
          </a:p>
        </p:txBody>
      </p:sp>
      <p:sp>
        <p:nvSpPr>
          <p:cNvPr id="58" name="Shape 48"/>
          <p:cNvSpPr/>
          <p:nvPr/>
        </p:nvSpPr>
        <p:spPr>
          <a:xfrm>
            <a:off x="4447803" y="5136207"/>
            <a:ext cx="4763" cy="257175"/>
          </a:xfrm>
          <a:prstGeom prst="rect">
            <a:avLst/>
          </a:prstGeom>
          <a:solidFill>
            <a:srgbClr val="FFFFFF">
              <a:alpha val="6000"/>
            </a:srgbClr>
          </a:solidFill>
          <a:ln/>
        </p:spPr>
      </p:sp>
      <p:sp>
        <p:nvSpPr>
          <p:cNvPr id="59" name="Text 49"/>
          <p:cNvSpPr/>
          <p:nvPr/>
        </p:nvSpPr>
        <p:spPr>
          <a:xfrm>
            <a:off x="4783522" y="5044418"/>
            <a:ext cx="1181100" cy="276225"/>
          </a:xfrm>
          <a:prstGeom prst="rect">
            <a:avLst/>
          </a:prstGeom>
          <a:ln/>
        </p:spPr>
        <p:txBody>
          <a:bodyPr wrap="square" lIns="0" tIns="0" rIns="0" bIns="0" rtlCol="0" anchor="t"/>
          <a:lstStyle/>
          <a:p>
            <a:pPr algn="ctr" indent="0" marL="0">
              <a:lnSpc>
                <a:spcPts val="2160"/>
              </a:lnSpc>
              <a:buNone/>
            </a:pPr>
            <a:r>
              <a:rPr lang="en-US" sz="1400" b="1" dirty="0">
                <a:solidFill>
                  <a:srgbClr val="01D7FB"/>
                </a:solidFill>
                <a:latin typeface="Ubuntu" pitchFamily="34" charset="0"/>
                <a:ea typeface="Ubuntu" pitchFamily="34" charset="-122"/>
                <a:cs typeface="Ubuntu" pitchFamily="34" charset="-120"/>
              </a:rPr>
              <a:t>Mobile + Web</a:t>
            </a:r>
            <a:endParaRPr lang="en-US" sz="1400" dirty="0"/>
          </a:p>
        </p:txBody>
      </p:sp>
      <p:sp>
        <p:nvSpPr>
          <p:cNvPr id="60" name="Text 50"/>
          <p:cNvSpPr/>
          <p:nvPr/>
        </p:nvSpPr>
        <p:spPr>
          <a:xfrm>
            <a:off x="4783522" y="5318671"/>
            <a:ext cx="1181100" cy="166688"/>
          </a:xfrm>
          <a:prstGeom prst="rect">
            <a:avLst/>
          </a:prstGeom>
          <a:ln/>
        </p:spPr>
        <p:txBody>
          <a:bodyPr wrap="square" lIns="0" tIns="0" rIns="0" bIns="0" rtlCol="0" anchor="t"/>
          <a:lstStyle/>
          <a:p>
            <a:pPr algn="ctr" indent="0" marL="0">
              <a:lnSpc>
                <a:spcPts val="1296"/>
              </a:lnSpc>
              <a:buNone/>
            </a:pPr>
            <a:r>
              <a:rPr lang="en-US" sz="800" dirty="0">
                <a:solidFill>
                  <a:srgbClr val="FFFFFF"/>
                </a:solidFill>
                <a:latin typeface="Ubuntu" pitchFamily="34" charset="0"/>
                <a:ea typeface="Ubuntu" pitchFamily="34" charset="-122"/>
                <a:cs typeface="Ubuntu" pitchFamily="34" charset="-120"/>
              </a:rPr>
              <a:t>2025–2026</a:t>
            </a:r>
            <a:endParaRPr lang="en-US" sz="800" dirty="0"/>
          </a:p>
        </p:txBody>
      </p:sp>
      <p:sp>
        <p:nvSpPr>
          <p:cNvPr id="61" name="Shape 51"/>
          <p:cNvSpPr/>
          <p:nvPr/>
        </p:nvSpPr>
        <p:spPr>
          <a:xfrm>
            <a:off x="6295579" y="5136207"/>
            <a:ext cx="4763" cy="257175"/>
          </a:xfrm>
          <a:prstGeom prst="rect">
            <a:avLst/>
          </a:prstGeom>
          <a:solidFill>
            <a:srgbClr val="FFFFFF">
              <a:alpha val="6000"/>
            </a:srgbClr>
          </a:solidFill>
          <a:ln/>
        </p:spPr>
      </p:sp>
      <p:sp>
        <p:nvSpPr>
          <p:cNvPr id="62" name="Text 52"/>
          <p:cNvSpPr/>
          <p:nvPr/>
        </p:nvSpPr>
        <p:spPr>
          <a:xfrm>
            <a:off x="6632042" y="5044418"/>
            <a:ext cx="1381125" cy="276225"/>
          </a:xfrm>
          <a:prstGeom prst="rect">
            <a:avLst/>
          </a:prstGeom>
          <a:ln/>
        </p:spPr>
        <p:txBody>
          <a:bodyPr wrap="square" lIns="0" tIns="0" rIns="0" bIns="0" rtlCol="0" anchor="t"/>
          <a:lstStyle/>
          <a:p>
            <a:pPr algn="ctr" indent="0" marL="0">
              <a:lnSpc>
                <a:spcPts val="2160"/>
              </a:lnSpc>
              <a:buNone/>
            </a:pPr>
            <a:r>
              <a:rPr lang="en-US" sz="1400" b="1" dirty="0">
                <a:solidFill>
                  <a:srgbClr val="FFFFFF"/>
                </a:solidFill>
                <a:latin typeface="Ubuntu" pitchFamily="34" charset="0"/>
                <a:ea typeface="Ubuntu" pitchFamily="34" charset="-122"/>
                <a:cs typeface="Ubuntu" pitchFamily="34" charset="-120"/>
              </a:rPr>
              <a:t>B2B white-label</a:t>
            </a:r>
            <a:endParaRPr lang="en-US" sz="1400" dirty="0"/>
          </a:p>
        </p:txBody>
      </p:sp>
      <p:sp>
        <p:nvSpPr>
          <p:cNvPr id="63" name="Text 53"/>
          <p:cNvSpPr/>
          <p:nvPr/>
        </p:nvSpPr>
        <p:spPr>
          <a:xfrm>
            <a:off x="6632042" y="5318671"/>
            <a:ext cx="1381125" cy="166688"/>
          </a:xfrm>
          <a:prstGeom prst="rect">
            <a:avLst/>
          </a:prstGeom>
          <a:ln/>
        </p:spPr>
        <p:txBody>
          <a:bodyPr wrap="square" lIns="0" tIns="0" rIns="0" bIns="0" rtlCol="0" anchor="t"/>
          <a:lstStyle/>
          <a:p>
            <a:pPr algn="ctr" indent="0" marL="0">
              <a:lnSpc>
                <a:spcPts val="1296"/>
              </a:lnSpc>
              <a:buNone/>
            </a:pPr>
            <a:r>
              <a:rPr lang="en-US" sz="800" dirty="0">
                <a:solidFill>
                  <a:srgbClr val="FFFFFF"/>
                </a:solidFill>
                <a:latin typeface="Ubuntu" pitchFamily="34" charset="0"/>
                <a:ea typeface="Ubuntu" pitchFamily="34" charset="-122"/>
                <a:cs typeface="Ubuntu" pitchFamily="34" charset="-120"/>
              </a:rPr>
              <a:t>2026</a:t>
            </a:r>
            <a:endParaRPr lang="en-US" sz="800" dirty="0"/>
          </a:p>
        </p:txBody>
      </p:sp>
      <p:sp>
        <p:nvSpPr>
          <p:cNvPr id="64" name="Text 54"/>
          <p:cNvSpPr/>
          <p:nvPr/>
        </p:nvSpPr>
        <p:spPr>
          <a:xfrm>
            <a:off x="0" y="4781848"/>
            <a:ext cx="9144000" cy="361950"/>
          </a:xfrm>
          <a:prstGeom prst="rect">
            <a:avLst/>
          </a:prstGeom>
          <a:ln/>
        </p:spPr>
        <p:txBody>
          <a:bodyPr wrap="square" lIns="0" tIns="0" rIns="0" bIns="0" rtlCol="0" anchor="t"/>
          <a:lstStyle/>
          <a:p>
            <a:pPr algn="l" indent="0" marL="0">
              <a:lnSpc>
                <a:spcPts val="1188"/>
              </a:lnSpc>
              <a:buNone/>
            </a:pPr>
            <a:r>
              <a:rPr lang="en-US" sz="700" dirty="0">
                <a:solidFill>
                  <a:srgbClr val="FFFFFF"/>
                </a:solidFill>
                <a:latin typeface="Ubuntu" pitchFamily="34" charset="0"/>
                <a:ea typeface="Ubuntu" pitchFamily="34" charset="-122"/>
                <a:cs typeface="Ubuntu" pitchFamily="34" charset="-120"/>
              </a:rPr>
              <a:t>RADIO MEGA</a:t>
            </a:r>
            <a:pPr algn="l" indent="0" marL="0">
              <a:lnSpc>
                <a:spcPts val="1188"/>
              </a:lnSpc>
              <a:buNone/>
            </a:pPr>
            <a:r>
              <a:rPr lang="en-US" sz="700" dirty="0">
                <a:solidFill>
                  <a:srgbClr val="FFFFFF"/>
                </a:solidFill>
                <a:latin typeface="Ubuntu" pitchFamily="34" charset="0"/>
                <a:ea typeface="Ubuntu" pitchFamily="34" charset="-122"/>
                <a:cs typeface="Ubuntu" pitchFamily="34" charset="-120"/>
              </a:rPr>
              <a:t>9 / 18</a:t>
            </a:r>
            <a:endParaRPr lang="en-US" sz="700" dirty="0"/>
          </a:p>
        </p:txBody>
      </p:sp>
      <p:pic>
        <p:nvPicPr>
          <p:cNvPr id="65" name="Image 8" descr="preencoded.png">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0" y="4781848"/>
            <a:ext cx="9144000" cy="36195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E0E0E"/>
          </a:solidFill>
          <a:ln/>
        </p:spPr>
      </p:sp>
      <p:pic>
        <p:nvPicPr>
          <p:cNvPr id="3"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0" y="0"/>
            <a:ext cx="9144000" cy="5143500"/>
          </a:xfrm>
          <a:prstGeom prst="rect">
            <a:avLst/>
          </a:prstGeom>
        </p:spPr>
      </p:pic>
      <p:pic>
        <p:nvPicPr>
          <p:cNvPr id="4"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577840" y="1577340"/>
            <a:ext cx="4389120" cy="4389120"/>
          </a:xfrm>
          <a:prstGeom prst="rect">
            <a:avLst/>
          </a:prstGeom>
        </p:spPr>
      </p:pic>
      <p:sp>
        <p:nvSpPr>
          <p:cNvPr id="5" name="Text 1"/>
          <p:cNvSpPr/>
          <p:nvPr/>
        </p:nvSpPr>
        <p:spPr>
          <a:xfrm>
            <a:off x="731044" y="359532"/>
            <a:ext cx="7681912" cy="138113"/>
          </a:xfrm>
          <a:prstGeom prst="rect">
            <a:avLst/>
          </a:prstGeom>
          <a:ln/>
        </p:spPr>
        <p:txBody>
          <a:bodyPr wrap="square" lIns="0" tIns="0" rIns="0" bIns="0" rtlCol="0" anchor="t"/>
          <a:lstStyle/>
          <a:p>
            <a:pPr algn="l" indent="0" marL="0">
              <a:lnSpc>
                <a:spcPts val="1080"/>
              </a:lnSpc>
              <a:spcAft>
                <a:spcPts val="810"/>
              </a:spcAft>
              <a:buNone/>
            </a:pPr>
            <a:r>
              <a:rPr lang="en-US" sz="700" b="1" dirty="0">
                <a:solidFill>
                  <a:srgbClr val="FF4199"/>
                </a:solidFill>
                <a:latin typeface="Ubuntu" pitchFamily="34" charset="0"/>
                <a:ea typeface="Ubuntu" pitchFamily="34" charset="-122"/>
                <a:cs typeface="Ubuntu" pitchFamily="34" charset="-120"/>
              </a:rPr>
              <a:t>COMPETITIVE LANDSCAPE</a:t>
            </a:r>
            <a:endParaRPr lang="en-US" sz="700" dirty="0"/>
          </a:p>
        </p:txBody>
      </p:sp>
      <p:sp>
        <p:nvSpPr>
          <p:cNvPr id="6" name="Text 2"/>
          <p:cNvSpPr/>
          <p:nvPr/>
        </p:nvSpPr>
        <p:spPr>
          <a:xfrm>
            <a:off x="731044" y="601117"/>
            <a:ext cx="7681912" cy="400050"/>
          </a:xfrm>
          <a:prstGeom prst="rect">
            <a:avLst/>
          </a:prstGeom>
          <a:ln/>
        </p:spPr>
        <p:txBody>
          <a:bodyPr wrap="square" lIns="0" tIns="0" rIns="0" bIns="0" rtlCol="0" anchor="t"/>
          <a:lstStyle/>
          <a:p>
            <a:pPr algn="l" indent="0" marL="0">
              <a:lnSpc>
                <a:spcPts val="3168"/>
              </a:lnSpc>
              <a:buNone/>
            </a:pPr>
            <a:r>
              <a:rPr lang="en-US" sz="2800" b="1" dirty="0">
                <a:solidFill>
                  <a:srgbClr val="FFFFFF"/>
                </a:solidFill>
                <a:latin typeface="Ubuntu" pitchFamily="34" charset="0"/>
                <a:ea typeface="Ubuntu" pitchFamily="34" charset="-122"/>
                <a:cs typeface="Ubuntu" pitchFamily="34" charset="-120"/>
              </a:rPr>
              <a:t>No direct competitor owns the TV screen</a:t>
            </a:r>
            <a:endParaRPr lang="en-US" sz="2800" dirty="0"/>
          </a:p>
        </p:txBody>
      </p:sp>
      <p:sp>
        <p:nvSpPr>
          <p:cNvPr id="7" name="Shape 3"/>
          <p:cNvSpPr/>
          <p:nvPr/>
        </p:nvSpPr>
        <p:spPr>
          <a:xfrm>
            <a:off x="731044" y="1208112"/>
            <a:ext cx="7681912" cy="309562"/>
          </a:xfrm>
          <a:prstGeom prst="rect">
            <a:avLst/>
          </a:prstGeom>
          <a:ln/>
        </p:spPr>
      </p:sp>
      <p:sp>
        <p:nvSpPr>
          <p:cNvPr id="8" name="Text 4"/>
          <p:cNvSpPr/>
          <p:nvPr/>
        </p:nvSpPr>
        <p:spPr>
          <a:xfrm>
            <a:off x="732420" y="1284312"/>
            <a:ext cx="2062162" cy="152400"/>
          </a:xfrm>
          <a:prstGeom prst="rect">
            <a:avLst/>
          </a:prstGeom>
          <a:ln/>
        </p:spPr>
        <p:txBody>
          <a:bodyPr wrap="square" lIns="0" tIns="0" rIns="0" bIns="0" rtlCol="0" anchor="t"/>
          <a:lstStyle/>
          <a:p>
            <a:pPr algn="l" indent="0" marL="0">
              <a:lnSpc>
                <a:spcPts val="1188"/>
              </a:lnSpc>
              <a:buNone/>
            </a:pPr>
            <a:r>
              <a:rPr lang="en-US" sz="700" b="1" dirty="0">
                <a:solidFill>
                  <a:srgbClr val="FFFFFF"/>
                </a:solidFill>
                <a:latin typeface="Ubuntu" pitchFamily="34" charset="0"/>
                <a:ea typeface="Ubuntu" pitchFamily="34" charset="-122"/>
                <a:cs typeface="Ubuntu" pitchFamily="34" charset="-120"/>
              </a:rPr>
              <a:t>FEATURE</a:t>
            </a:r>
            <a:endParaRPr lang="en-US" sz="700" dirty="0"/>
          </a:p>
        </p:txBody>
      </p:sp>
      <p:sp>
        <p:nvSpPr>
          <p:cNvPr id="9" name="Text 5"/>
          <p:cNvSpPr/>
          <p:nvPr/>
        </p:nvSpPr>
        <p:spPr>
          <a:xfrm>
            <a:off x="2886149" y="1284312"/>
            <a:ext cx="1033462" cy="152400"/>
          </a:xfrm>
          <a:prstGeom prst="rect">
            <a:avLst/>
          </a:prstGeom>
          <a:ln/>
        </p:spPr>
        <p:txBody>
          <a:bodyPr wrap="square" lIns="0" tIns="0" rIns="0" bIns="0" rtlCol="0" anchor="t"/>
          <a:lstStyle/>
          <a:p>
            <a:pPr algn="ctr" indent="0" marL="0">
              <a:lnSpc>
                <a:spcPts val="1188"/>
              </a:lnSpc>
              <a:buNone/>
            </a:pPr>
            <a:r>
              <a:rPr lang="en-US" sz="700" b="1" dirty="0">
                <a:solidFill>
                  <a:srgbClr val="FF4199"/>
                </a:solidFill>
                <a:latin typeface="Ubuntu" pitchFamily="34" charset="0"/>
                <a:ea typeface="Ubuntu" pitchFamily="34" charset="-122"/>
                <a:cs typeface="Ubuntu" pitchFamily="34" charset="-120"/>
              </a:rPr>
              <a:t>Radio Mega</a:t>
            </a:r>
            <a:endParaRPr lang="en-US" sz="700" dirty="0"/>
          </a:p>
        </p:txBody>
      </p:sp>
      <p:sp>
        <p:nvSpPr>
          <p:cNvPr id="10" name="Text 6"/>
          <p:cNvSpPr/>
          <p:nvPr/>
        </p:nvSpPr>
        <p:spPr>
          <a:xfrm>
            <a:off x="4009541" y="1284312"/>
            <a:ext cx="1033462" cy="152400"/>
          </a:xfrm>
          <a:prstGeom prst="rect">
            <a:avLst/>
          </a:prstGeom>
          <a:ln/>
        </p:spPr>
        <p:txBody>
          <a:bodyPr wrap="square" lIns="0" tIns="0" rIns="0" bIns="0" rtlCol="0" anchor="t"/>
          <a:lstStyle/>
          <a:p>
            <a:pPr algn="ctr" indent="0" marL="0">
              <a:lnSpc>
                <a:spcPts val="1188"/>
              </a:lnSpc>
              <a:buNone/>
            </a:pPr>
            <a:r>
              <a:rPr lang="en-US" sz="700" dirty="0">
                <a:solidFill>
                  <a:srgbClr val="FFFFFF"/>
                </a:solidFill>
                <a:latin typeface="Ubuntu" pitchFamily="34" charset="0"/>
                <a:ea typeface="Ubuntu" pitchFamily="34" charset="-122"/>
                <a:cs typeface="Ubuntu" pitchFamily="34" charset="-120"/>
              </a:rPr>
              <a:t>TuneIn</a:t>
            </a:r>
            <a:endParaRPr lang="en-US" sz="700" dirty="0"/>
          </a:p>
        </p:txBody>
      </p:sp>
      <p:sp>
        <p:nvSpPr>
          <p:cNvPr id="11" name="Text 7"/>
          <p:cNvSpPr/>
          <p:nvPr/>
        </p:nvSpPr>
        <p:spPr>
          <a:xfrm>
            <a:off x="5132933" y="1284312"/>
            <a:ext cx="1033462" cy="152400"/>
          </a:xfrm>
          <a:prstGeom prst="rect">
            <a:avLst/>
          </a:prstGeom>
          <a:ln/>
        </p:spPr>
        <p:txBody>
          <a:bodyPr wrap="square" lIns="0" tIns="0" rIns="0" bIns="0" rtlCol="0" anchor="t"/>
          <a:lstStyle/>
          <a:p>
            <a:pPr algn="ctr" indent="0" marL="0">
              <a:lnSpc>
                <a:spcPts val="1188"/>
              </a:lnSpc>
              <a:buNone/>
            </a:pPr>
            <a:r>
              <a:rPr lang="en-US" sz="700" dirty="0">
                <a:solidFill>
                  <a:srgbClr val="FFFFFF"/>
                </a:solidFill>
                <a:latin typeface="Ubuntu" pitchFamily="34" charset="0"/>
                <a:ea typeface="Ubuntu" pitchFamily="34" charset="-122"/>
                <a:cs typeface="Ubuntu" pitchFamily="34" charset="-120"/>
              </a:rPr>
              <a:t>iHeart</a:t>
            </a:r>
            <a:endParaRPr lang="en-US" sz="700" dirty="0"/>
          </a:p>
        </p:txBody>
      </p:sp>
      <p:sp>
        <p:nvSpPr>
          <p:cNvPr id="12" name="Text 8"/>
          <p:cNvSpPr/>
          <p:nvPr/>
        </p:nvSpPr>
        <p:spPr>
          <a:xfrm>
            <a:off x="6256325" y="1284312"/>
            <a:ext cx="1033462" cy="152400"/>
          </a:xfrm>
          <a:prstGeom prst="rect">
            <a:avLst/>
          </a:prstGeom>
          <a:ln/>
        </p:spPr>
        <p:txBody>
          <a:bodyPr wrap="square" lIns="0" tIns="0" rIns="0" bIns="0" rtlCol="0" anchor="t"/>
          <a:lstStyle/>
          <a:p>
            <a:pPr algn="ctr" indent="0" marL="0">
              <a:lnSpc>
                <a:spcPts val="1188"/>
              </a:lnSpc>
              <a:buNone/>
            </a:pPr>
            <a:r>
              <a:rPr lang="en-US" sz="700" dirty="0">
                <a:solidFill>
                  <a:srgbClr val="FFFFFF"/>
                </a:solidFill>
                <a:latin typeface="Ubuntu" pitchFamily="34" charset="0"/>
                <a:ea typeface="Ubuntu" pitchFamily="34" charset="-122"/>
                <a:cs typeface="Ubuntu" pitchFamily="34" charset="-120"/>
              </a:rPr>
              <a:t>Spotify</a:t>
            </a:r>
            <a:endParaRPr lang="en-US" sz="700" dirty="0"/>
          </a:p>
        </p:txBody>
      </p:sp>
      <p:sp>
        <p:nvSpPr>
          <p:cNvPr id="13" name="Text 9"/>
          <p:cNvSpPr/>
          <p:nvPr/>
        </p:nvSpPr>
        <p:spPr>
          <a:xfrm>
            <a:off x="7379717" y="1284312"/>
            <a:ext cx="1033462" cy="152400"/>
          </a:xfrm>
          <a:prstGeom prst="rect">
            <a:avLst/>
          </a:prstGeom>
          <a:ln/>
        </p:spPr>
        <p:txBody>
          <a:bodyPr wrap="square" lIns="0" tIns="0" rIns="0" bIns="0" rtlCol="0" anchor="t"/>
          <a:lstStyle/>
          <a:p>
            <a:pPr algn="ctr" indent="0" marL="0">
              <a:lnSpc>
                <a:spcPts val="1188"/>
              </a:lnSpc>
              <a:buNone/>
            </a:pPr>
            <a:r>
              <a:rPr lang="en-US" sz="700" dirty="0">
                <a:solidFill>
                  <a:srgbClr val="FFFFFF"/>
                </a:solidFill>
                <a:latin typeface="Ubuntu" pitchFamily="34" charset="0"/>
                <a:ea typeface="Ubuntu" pitchFamily="34" charset="-122"/>
                <a:cs typeface="Ubuntu" pitchFamily="34" charset="-120"/>
              </a:rPr>
              <a:t>FM Radio</a:t>
            </a:r>
            <a:endParaRPr lang="en-US" sz="700" dirty="0"/>
          </a:p>
        </p:txBody>
      </p:sp>
      <p:sp>
        <p:nvSpPr>
          <p:cNvPr id="14" name="Shape 10"/>
          <p:cNvSpPr/>
          <p:nvPr/>
        </p:nvSpPr>
        <p:spPr>
          <a:xfrm>
            <a:off x="731044" y="1595884"/>
            <a:ext cx="7681912" cy="352425"/>
          </a:xfrm>
          <a:prstGeom prst="rect">
            <a:avLst/>
          </a:prstGeom>
          <a:solidFill>
            <a:srgbClr val="FFFFFF">
              <a:alpha val="1000"/>
            </a:srgbClr>
          </a:solidFill>
          <a:ln/>
        </p:spPr>
      </p:sp>
      <p:sp>
        <p:nvSpPr>
          <p:cNvPr id="15" name="Text 11"/>
          <p:cNvSpPr/>
          <p:nvPr/>
        </p:nvSpPr>
        <p:spPr>
          <a:xfrm>
            <a:off x="732420" y="1674465"/>
            <a:ext cx="2062162" cy="190500"/>
          </a:xfrm>
          <a:prstGeom prst="rect">
            <a:avLst/>
          </a:prstGeom>
          <a:ln/>
        </p:spPr>
        <p:txBody>
          <a:bodyPr wrap="square" lIns="0" tIns="0" rIns="0" bIns="0" rtlCol="0" anchor="t"/>
          <a:lstStyle/>
          <a:p>
            <a:pPr algn="l" indent="0" marL="0">
              <a:lnSpc>
                <a:spcPts val="1512"/>
              </a:lnSpc>
              <a:buNone/>
            </a:pPr>
            <a:r>
              <a:rPr lang="en-US" sz="1000" dirty="0">
                <a:solidFill>
                  <a:srgbClr val="FFFFFF"/>
                </a:solidFill>
                <a:latin typeface="Ubuntu" pitchFamily="34" charset="0"/>
                <a:ea typeface="Ubuntu" pitchFamily="34" charset="-122"/>
                <a:cs typeface="Ubuntu" pitchFamily="34" charset="-120"/>
              </a:rPr>
              <a:t>Native Smart TV app</a:t>
            </a:r>
            <a:endParaRPr lang="en-US" sz="1000" dirty="0"/>
          </a:p>
        </p:txBody>
      </p:sp>
      <p:sp>
        <p:nvSpPr>
          <p:cNvPr id="16" name="Text 12"/>
          <p:cNvSpPr/>
          <p:nvPr/>
        </p:nvSpPr>
        <p:spPr>
          <a:xfrm>
            <a:off x="2886149" y="1667321"/>
            <a:ext cx="1033462" cy="204787"/>
          </a:xfrm>
          <a:prstGeom prst="rect">
            <a:avLst/>
          </a:prstGeom>
          <a:ln/>
        </p:spPr>
        <p:txBody>
          <a:bodyPr wrap="square" lIns="0" tIns="0" rIns="0" bIns="0" rtlCol="0" anchor="t"/>
          <a:lstStyle/>
          <a:p>
            <a:pPr algn="ctr" indent="0" marL="0">
              <a:lnSpc>
                <a:spcPts val="1620"/>
              </a:lnSpc>
              <a:buNone/>
            </a:pPr>
            <a:r>
              <a:rPr lang="en-US" sz="1000" dirty="0">
                <a:solidFill>
                  <a:srgbClr val="FF4199"/>
                </a:solidFill>
                <a:latin typeface="Ubuntu" pitchFamily="34" charset="0"/>
                <a:ea typeface="Ubuntu" pitchFamily="34" charset="-122"/>
                <a:cs typeface="Ubuntu" pitchFamily="34" charset="-120"/>
              </a:rPr>
              <a:t>✓</a:t>
            </a:r>
            <a:endParaRPr lang="en-US" sz="1000" dirty="0"/>
          </a:p>
        </p:txBody>
      </p:sp>
      <p:sp>
        <p:nvSpPr>
          <p:cNvPr id="17" name="Text 13"/>
          <p:cNvSpPr/>
          <p:nvPr/>
        </p:nvSpPr>
        <p:spPr>
          <a:xfrm>
            <a:off x="4009541" y="1667321"/>
            <a:ext cx="1033462" cy="204787"/>
          </a:xfrm>
          <a:prstGeom prst="rect">
            <a:avLst/>
          </a:prstGeom>
          <a:ln/>
        </p:spPr>
        <p:txBody>
          <a:bodyPr wrap="square" lIns="0" tIns="0" rIns="0" bIns="0" rtlCol="0" anchor="t"/>
          <a:lstStyle/>
          <a:p>
            <a:pPr algn="ctr" indent="0" marL="0">
              <a:lnSpc>
                <a:spcPts val="1620"/>
              </a:lnSpc>
              <a:buNone/>
            </a:pPr>
            <a:r>
              <a:rPr lang="en-US" sz="1000" dirty="0">
                <a:solidFill>
                  <a:srgbClr val="01D7FB"/>
                </a:solidFill>
                <a:latin typeface="Ubuntu" pitchFamily="34" charset="0"/>
                <a:ea typeface="Ubuntu" pitchFamily="34" charset="-122"/>
                <a:cs typeface="Ubuntu" pitchFamily="34" charset="-120"/>
              </a:rPr>
              <a:t>✓</a:t>
            </a:r>
            <a:endParaRPr lang="en-US" sz="1000" dirty="0"/>
          </a:p>
        </p:txBody>
      </p:sp>
      <p:sp>
        <p:nvSpPr>
          <p:cNvPr id="18" name="Text 14"/>
          <p:cNvSpPr/>
          <p:nvPr/>
        </p:nvSpPr>
        <p:spPr>
          <a:xfrm>
            <a:off x="5132933" y="1667321"/>
            <a:ext cx="1033462" cy="204787"/>
          </a:xfrm>
          <a:prstGeom prst="rect">
            <a:avLst/>
          </a:prstGeom>
          <a:ln/>
        </p:spPr>
        <p:txBody>
          <a:bodyPr wrap="square" lIns="0" tIns="0" rIns="0" bIns="0" rtlCol="0" anchor="t"/>
          <a:lstStyle/>
          <a:p>
            <a:pPr algn="ctr" indent="0" marL="0">
              <a:lnSpc>
                <a:spcPts val="1620"/>
              </a:lnSpc>
              <a:buNone/>
            </a:pPr>
            <a:r>
              <a:rPr lang="en-US" sz="1000" dirty="0">
                <a:solidFill>
                  <a:srgbClr val="FFFFFF"/>
                </a:solidFill>
                <a:latin typeface="Ubuntu" pitchFamily="34" charset="0"/>
                <a:ea typeface="Ubuntu" pitchFamily="34" charset="-122"/>
                <a:cs typeface="Ubuntu" pitchFamily="34" charset="-120"/>
              </a:rPr>
              <a:t>—</a:t>
            </a:r>
            <a:endParaRPr lang="en-US" sz="1000" dirty="0"/>
          </a:p>
        </p:txBody>
      </p:sp>
      <p:sp>
        <p:nvSpPr>
          <p:cNvPr id="19" name="Text 15"/>
          <p:cNvSpPr/>
          <p:nvPr/>
        </p:nvSpPr>
        <p:spPr>
          <a:xfrm>
            <a:off x="6256325" y="1667321"/>
            <a:ext cx="1033462" cy="204787"/>
          </a:xfrm>
          <a:prstGeom prst="rect">
            <a:avLst/>
          </a:prstGeom>
          <a:ln/>
        </p:spPr>
        <p:txBody>
          <a:bodyPr wrap="square" lIns="0" tIns="0" rIns="0" bIns="0" rtlCol="0" anchor="t"/>
          <a:lstStyle/>
          <a:p>
            <a:pPr algn="ctr" indent="0" marL="0">
              <a:lnSpc>
                <a:spcPts val="1620"/>
              </a:lnSpc>
              <a:buNone/>
            </a:pPr>
            <a:r>
              <a:rPr lang="en-US" sz="1000" dirty="0">
                <a:solidFill>
                  <a:srgbClr val="FFFFFF"/>
                </a:solidFill>
                <a:latin typeface="Ubuntu" pitchFamily="34" charset="0"/>
                <a:ea typeface="Ubuntu" pitchFamily="34" charset="-122"/>
                <a:cs typeface="Ubuntu" pitchFamily="34" charset="-120"/>
              </a:rPr>
              <a:t>—</a:t>
            </a:r>
            <a:endParaRPr lang="en-US" sz="1000" dirty="0"/>
          </a:p>
        </p:txBody>
      </p:sp>
      <p:sp>
        <p:nvSpPr>
          <p:cNvPr id="20" name="Text 16"/>
          <p:cNvSpPr/>
          <p:nvPr/>
        </p:nvSpPr>
        <p:spPr>
          <a:xfrm>
            <a:off x="7379717" y="1667321"/>
            <a:ext cx="1033462" cy="204787"/>
          </a:xfrm>
          <a:prstGeom prst="rect">
            <a:avLst/>
          </a:prstGeom>
          <a:ln/>
        </p:spPr>
        <p:txBody>
          <a:bodyPr wrap="square" lIns="0" tIns="0" rIns="0" bIns="0" rtlCol="0" anchor="t"/>
          <a:lstStyle/>
          <a:p>
            <a:pPr algn="ctr" indent="0" marL="0">
              <a:lnSpc>
                <a:spcPts val="1620"/>
              </a:lnSpc>
              <a:buNone/>
            </a:pPr>
            <a:r>
              <a:rPr lang="en-US" sz="1000" dirty="0">
                <a:solidFill>
                  <a:srgbClr val="FFFFFF"/>
                </a:solidFill>
                <a:latin typeface="Ubuntu" pitchFamily="34" charset="0"/>
                <a:ea typeface="Ubuntu" pitchFamily="34" charset="-122"/>
                <a:cs typeface="Ubuntu" pitchFamily="34" charset="-120"/>
              </a:rPr>
              <a:t>—</a:t>
            </a:r>
            <a:endParaRPr lang="en-US" sz="1000" dirty="0"/>
          </a:p>
        </p:txBody>
      </p:sp>
      <p:sp>
        <p:nvSpPr>
          <p:cNvPr id="21" name="Shape 17"/>
          <p:cNvSpPr/>
          <p:nvPr/>
        </p:nvSpPr>
        <p:spPr>
          <a:xfrm>
            <a:off x="731044" y="1950244"/>
            <a:ext cx="7681912" cy="352425"/>
          </a:xfrm>
          <a:prstGeom prst="rect">
            <a:avLst/>
          </a:prstGeom>
          <a:ln/>
        </p:spPr>
      </p:sp>
      <p:sp>
        <p:nvSpPr>
          <p:cNvPr id="22" name="Text 18"/>
          <p:cNvSpPr/>
          <p:nvPr/>
        </p:nvSpPr>
        <p:spPr>
          <a:xfrm>
            <a:off x="732420" y="2028825"/>
            <a:ext cx="2062162" cy="190500"/>
          </a:xfrm>
          <a:prstGeom prst="rect">
            <a:avLst/>
          </a:prstGeom>
          <a:ln/>
        </p:spPr>
        <p:txBody>
          <a:bodyPr wrap="square" lIns="0" tIns="0" rIns="0" bIns="0" rtlCol="0" anchor="t"/>
          <a:lstStyle/>
          <a:p>
            <a:pPr algn="l" indent="0" marL="0">
              <a:lnSpc>
                <a:spcPts val="1512"/>
              </a:lnSpc>
              <a:buNone/>
            </a:pPr>
            <a:r>
              <a:rPr lang="en-US" sz="1000" dirty="0">
                <a:solidFill>
                  <a:srgbClr val="FFFFFF"/>
                </a:solidFill>
                <a:latin typeface="Ubuntu" pitchFamily="34" charset="0"/>
                <a:ea typeface="Ubuntu" pitchFamily="34" charset="-122"/>
                <a:cs typeface="Ubuntu" pitchFamily="34" charset="-120"/>
              </a:rPr>
              <a:t>Full TV remote navigation</a:t>
            </a:r>
            <a:endParaRPr lang="en-US" sz="1000" dirty="0"/>
          </a:p>
        </p:txBody>
      </p:sp>
      <p:sp>
        <p:nvSpPr>
          <p:cNvPr id="23" name="Text 19"/>
          <p:cNvSpPr/>
          <p:nvPr/>
        </p:nvSpPr>
        <p:spPr>
          <a:xfrm>
            <a:off x="2886149" y="2021681"/>
            <a:ext cx="1033462" cy="204787"/>
          </a:xfrm>
          <a:prstGeom prst="rect">
            <a:avLst/>
          </a:prstGeom>
          <a:ln/>
        </p:spPr>
        <p:txBody>
          <a:bodyPr wrap="square" lIns="0" tIns="0" rIns="0" bIns="0" rtlCol="0" anchor="t"/>
          <a:lstStyle/>
          <a:p>
            <a:pPr algn="ctr" indent="0" marL="0">
              <a:lnSpc>
                <a:spcPts val="1620"/>
              </a:lnSpc>
              <a:buNone/>
            </a:pPr>
            <a:r>
              <a:rPr lang="en-US" sz="1000" dirty="0">
                <a:solidFill>
                  <a:srgbClr val="FF4199"/>
                </a:solidFill>
                <a:latin typeface="Ubuntu" pitchFamily="34" charset="0"/>
                <a:ea typeface="Ubuntu" pitchFamily="34" charset="-122"/>
                <a:cs typeface="Ubuntu" pitchFamily="34" charset="-120"/>
              </a:rPr>
              <a:t>✓</a:t>
            </a:r>
            <a:endParaRPr lang="en-US" sz="1000" dirty="0"/>
          </a:p>
        </p:txBody>
      </p:sp>
      <p:sp>
        <p:nvSpPr>
          <p:cNvPr id="24" name="Text 20"/>
          <p:cNvSpPr/>
          <p:nvPr/>
        </p:nvSpPr>
        <p:spPr>
          <a:xfrm>
            <a:off x="4009541" y="2021681"/>
            <a:ext cx="1033462" cy="204787"/>
          </a:xfrm>
          <a:prstGeom prst="rect">
            <a:avLst/>
          </a:prstGeom>
          <a:ln/>
        </p:spPr>
        <p:txBody>
          <a:bodyPr wrap="square" lIns="0" tIns="0" rIns="0" bIns="0" rtlCol="0" anchor="t"/>
          <a:lstStyle/>
          <a:p>
            <a:pPr algn="ctr" indent="0" marL="0">
              <a:lnSpc>
                <a:spcPts val="1620"/>
              </a:lnSpc>
              <a:buNone/>
            </a:pPr>
            <a:r>
              <a:rPr lang="en-US" sz="1000" dirty="0">
                <a:solidFill>
                  <a:srgbClr val="FFFFFF"/>
                </a:solidFill>
                <a:latin typeface="Ubuntu" pitchFamily="34" charset="0"/>
                <a:ea typeface="Ubuntu" pitchFamily="34" charset="-122"/>
                <a:cs typeface="Ubuntu" pitchFamily="34" charset="-120"/>
              </a:rPr>
              <a:t>—</a:t>
            </a:r>
            <a:endParaRPr lang="en-US" sz="1000" dirty="0"/>
          </a:p>
        </p:txBody>
      </p:sp>
      <p:sp>
        <p:nvSpPr>
          <p:cNvPr id="25" name="Text 21"/>
          <p:cNvSpPr/>
          <p:nvPr/>
        </p:nvSpPr>
        <p:spPr>
          <a:xfrm>
            <a:off x="5132933" y="2021681"/>
            <a:ext cx="1033462" cy="204787"/>
          </a:xfrm>
          <a:prstGeom prst="rect">
            <a:avLst/>
          </a:prstGeom>
          <a:ln/>
        </p:spPr>
        <p:txBody>
          <a:bodyPr wrap="square" lIns="0" tIns="0" rIns="0" bIns="0" rtlCol="0" anchor="t"/>
          <a:lstStyle/>
          <a:p>
            <a:pPr algn="ctr" indent="0" marL="0">
              <a:lnSpc>
                <a:spcPts val="1620"/>
              </a:lnSpc>
              <a:buNone/>
            </a:pPr>
            <a:r>
              <a:rPr lang="en-US" sz="1000" dirty="0">
                <a:solidFill>
                  <a:srgbClr val="FFFFFF"/>
                </a:solidFill>
                <a:latin typeface="Ubuntu" pitchFamily="34" charset="0"/>
                <a:ea typeface="Ubuntu" pitchFamily="34" charset="-122"/>
                <a:cs typeface="Ubuntu" pitchFamily="34" charset="-120"/>
              </a:rPr>
              <a:t>—</a:t>
            </a:r>
            <a:endParaRPr lang="en-US" sz="1000" dirty="0"/>
          </a:p>
        </p:txBody>
      </p:sp>
      <p:sp>
        <p:nvSpPr>
          <p:cNvPr id="26" name="Text 22"/>
          <p:cNvSpPr/>
          <p:nvPr/>
        </p:nvSpPr>
        <p:spPr>
          <a:xfrm>
            <a:off x="6256325" y="2021681"/>
            <a:ext cx="1033462" cy="204787"/>
          </a:xfrm>
          <a:prstGeom prst="rect">
            <a:avLst/>
          </a:prstGeom>
          <a:ln/>
        </p:spPr>
        <p:txBody>
          <a:bodyPr wrap="square" lIns="0" tIns="0" rIns="0" bIns="0" rtlCol="0" anchor="t"/>
          <a:lstStyle/>
          <a:p>
            <a:pPr algn="ctr" indent="0" marL="0">
              <a:lnSpc>
                <a:spcPts val="1620"/>
              </a:lnSpc>
              <a:buNone/>
            </a:pPr>
            <a:r>
              <a:rPr lang="en-US" sz="1000" dirty="0">
                <a:solidFill>
                  <a:srgbClr val="FFFFFF"/>
                </a:solidFill>
                <a:latin typeface="Ubuntu" pitchFamily="34" charset="0"/>
                <a:ea typeface="Ubuntu" pitchFamily="34" charset="-122"/>
                <a:cs typeface="Ubuntu" pitchFamily="34" charset="-120"/>
              </a:rPr>
              <a:t>—</a:t>
            </a:r>
            <a:endParaRPr lang="en-US" sz="1000" dirty="0"/>
          </a:p>
        </p:txBody>
      </p:sp>
      <p:sp>
        <p:nvSpPr>
          <p:cNvPr id="27" name="Text 23"/>
          <p:cNvSpPr/>
          <p:nvPr/>
        </p:nvSpPr>
        <p:spPr>
          <a:xfrm>
            <a:off x="7379717" y="2021681"/>
            <a:ext cx="1033462" cy="204787"/>
          </a:xfrm>
          <a:prstGeom prst="rect">
            <a:avLst/>
          </a:prstGeom>
          <a:ln/>
        </p:spPr>
        <p:txBody>
          <a:bodyPr wrap="square" lIns="0" tIns="0" rIns="0" bIns="0" rtlCol="0" anchor="t"/>
          <a:lstStyle/>
          <a:p>
            <a:pPr algn="ctr" indent="0" marL="0">
              <a:lnSpc>
                <a:spcPts val="1620"/>
              </a:lnSpc>
              <a:buNone/>
            </a:pPr>
            <a:r>
              <a:rPr lang="en-US" sz="1000" dirty="0">
                <a:solidFill>
                  <a:srgbClr val="FFFFFF"/>
                </a:solidFill>
                <a:latin typeface="Ubuntu" pitchFamily="34" charset="0"/>
                <a:ea typeface="Ubuntu" pitchFamily="34" charset="-122"/>
                <a:cs typeface="Ubuntu" pitchFamily="34" charset="-120"/>
              </a:rPr>
              <a:t>—</a:t>
            </a:r>
            <a:endParaRPr lang="en-US" sz="1000" dirty="0"/>
          </a:p>
        </p:txBody>
      </p:sp>
      <p:sp>
        <p:nvSpPr>
          <p:cNvPr id="28" name="Shape 24"/>
          <p:cNvSpPr/>
          <p:nvPr/>
        </p:nvSpPr>
        <p:spPr>
          <a:xfrm>
            <a:off x="731044" y="2304604"/>
            <a:ext cx="7681912" cy="352425"/>
          </a:xfrm>
          <a:prstGeom prst="rect">
            <a:avLst/>
          </a:prstGeom>
          <a:solidFill>
            <a:srgbClr val="FFFFFF">
              <a:alpha val="1000"/>
            </a:srgbClr>
          </a:solidFill>
          <a:ln/>
        </p:spPr>
      </p:sp>
      <p:sp>
        <p:nvSpPr>
          <p:cNvPr id="29" name="Text 25"/>
          <p:cNvSpPr/>
          <p:nvPr/>
        </p:nvSpPr>
        <p:spPr>
          <a:xfrm>
            <a:off x="732420" y="2383185"/>
            <a:ext cx="2062162" cy="190500"/>
          </a:xfrm>
          <a:prstGeom prst="rect">
            <a:avLst/>
          </a:prstGeom>
          <a:ln/>
        </p:spPr>
        <p:txBody>
          <a:bodyPr wrap="square" lIns="0" tIns="0" rIns="0" bIns="0" rtlCol="0" anchor="t"/>
          <a:lstStyle/>
          <a:p>
            <a:pPr algn="l" indent="0" marL="0">
              <a:lnSpc>
                <a:spcPts val="1512"/>
              </a:lnSpc>
              <a:buNone/>
            </a:pPr>
            <a:r>
              <a:rPr lang="en-US" sz="1000" dirty="0">
                <a:solidFill>
                  <a:srgbClr val="FFFFFF"/>
                </a:solidFill>
                <a:latin typeface="Ubuntu" pitchFamily="34" charset="0"/>
                <a:ea typeface="Ubuntu" pitchFamily="34" charset="-122"/>
                <a:cs typeface="Ubuntu" pitchFamily="34" charset="-120"/>
              </a:rPr>
              <a:t>50K+ stations</a:t>
            </a:r>
            <a:endParaRPr lang="en-US" sz="1000" dirty="0"/>
          </a:p>
        </p:txBody>
      </p:sp>
      <p:sp>
        <p:nvSpPr>
          <p:cNvPr id="30" name="Text 26"/>
          <p:cNvSpPr/>
          <p:nvPr/>
        </p:nvSpPr>
        <p:spPr>
          <a:xfrm>
            <a:off x="2886149" y="2376041"/>
            <a:ext cx="1033462" cy="204787"/>
          </a:xfrm>
          <a:prstGeom prst="rect">
            <a:avLst/>
          </a:prstGeom>
          <a:ln/>
        </p:spPr>
        <p:txBody>
          <a:bodyPr wrap="square" lIns="0" tIns="0" rIns="0" bIns="0" rtlCol="0" anchor="t"/>
          <a:lstStyle/>
          <a:p>
            <a:pPr algn="ctr" indent="0" marL="0">
              <a:lnSpc>
                <a:spcPts val="1620"/>
              </a:lnSpc>
              <a:buNone/>
            </a:pPr>
            <a:r>
              <a:rPr lang="en-US" sz="1000" dirty="0">
                <a:solidFill>
                  <a:srgbClr val="FF4199"/>
                </a:solidFill>
                <a:latin typeface="Ubuntu" pitchFamily="34" charset="0"/>
                <a:ea typeface="Ubuntu" pitchFamily="34" charset="-122"/>
                <a:cs typeface="Ubuntu" pitchFamily="34" charset="-120"/>
              </a:rPr>
              <a:t>✓</a:t>
            </a:r>
            <a:endParaRPr lang="en-US" sz="1000" dirty="0"/>
          </a:p>
        </p:txBody>
      </p:sp>
      <p:sp>
        <p:nvSpPr>
          <p:cNvPr id="31" name="Text 27"/>
          <p:cNvSpPr/>
          <p:nvPr/>
        </p:nvSpPr>
        <p:spPr>
          <a:xfrm>
            <a:off x="4009541" y="2376041"/>
            <a:ext cx="1033462" cy="204787"/>
          </a:xfrm>
          <a:prstGeom prst="rect">
            <a:avLst/>
          </a:prstGeom>
          <a:ln/>
        </p:spPr>
        <p:txBody>
          <a:bodyPr wrap="square" lIns="0" tIns="0" rIns="0" bIns="0" rtlCol="0" anchor="t"/>
          <a:lstStyle/>
          <a:p>
            <a:pPr algn="ctr" indent="0" marL="0">
              <a:lnSpc>
                <a:spcPts val="1620"/>
              </a:lnSpc>
              <a:buNone/>
            </a:pPr>
            <a:r>
              <a:rPr lang="en-US" sz="1000" dirty="0">
                <a:solidFill>
                  <a:srgbClr val="01D7FB"/>
                </a:solidFill>
                <a:latin typeface="Ubuntu" pitchFamily="34" charset="0"/>
                <a:ea typeface="Ubuntu" pitchFamily="34" charset="-122"/>
                <a:cs typeface="Ubuntu" pitchFamily="34" charset="-120"/>
              </a:rPr>
              <a:t>✓</a:t>
            </a:r>
            <a:endParaRPr lang="en-US" sz="1000" dirty="0"/>
          </a:p>
        </p:txBody>
      </p:sp>
      <p:sp>
        <p:nvSpPr>
          <p:cNvPr id="32" name="Text 28"/>
          <p:cNvSpPr/>
          <p:nvPr/>
        </p:nvSpPr>
        <p:spPr>
          <a:xfrm>
            <a:off x="5132933" y="2376041"/>
            <a:ext cx="1033462" cy="204787"/>
          </a:xfrm>
          <a:prstGeom prst="rect">
            <a:avLst/>
          </a:prstGeom>
          <a:ln/>
        </p:spPr>
        <p:txBody>
          <a:bodyPr wrap="square" lIns="0" tIns="0" rIns="0" bIns="0" rtlCol="0" anchor="t"/>
          <a:lstStyle/>
          <a:p>
            <a:pPr algn="ctr" indent="0" marL="0">
              <a:lnSpc>
                <a:spcPts val="1620"/>
              </a:lnSpc>
              <a:buNone/>
            </a:pPr>
            <a:r>
              <a:rPr lang="en-US" sz="1000" dirty="0">
                <a:solidFill>
                  <a:srgbClr val="FFFFFF"/>
                </a:solidFill>
                <a:latin typeface="Ubuntu" pitchFamily="34" charset="0"/>
                <a:ea typeface="Ubuntu" pitchFamily="34" charset="-122"/>
                <a:cs typeface="Ubuntu" pitchFamily="34" charset="-120"/>
              </a:rPr>
              <a:t>—</a:t>
            </a:r>
            <a:endParaRPr lang="en-US" sz="1000" dirty="0"/>
          </a:p>
        </p:txBody>
      </p:sp>
      <p:sp>
        <p:nvSpPr>
          <p:cNvPr id="33" name="Text 29"/>
          <p:cNvSpPr/>
          <p:nvPr/>
        </p:nvSpPr>
        <p:spPr>
          <a:xfrm>
            <a:off x="6256325" y="2376041"/>
            <a:ext cx="1033462" cy="204787"/>
          </a:xfrm>
          <a:prstGeom prst="rect">
            <a:avLst/>
          </a:prstGeom>
          <a:ln/>
        </p:spPr>
        <p:txBody>
          <a:bodyPr wrap="square" lIns="0" tIns="0" rIns="0" bIns="0" rtlCol="0" anchor="t"/>
          <a:lstStyle/>
          <a:p>
            <a:pPr algn="ctr" indent="0" marL="0">
              <a:lnSpc>
                <a:spcPts val="1620"/>
              </a:lnSpc>
              <a:buNone/>
            </a:pPr>
            <a:r>
              <a:rPr lang="en-US" sz="1000" dirty="0">
                <a:solidFill>
                  <a:srgbClr val="FFFFFF"/>
                </a:solidFill>
                <a:latin typeface="Ubuntu" pitchFamily="34" charset="0"/>
                <a:ea typeface="Ubuntu" pitchFamily="34" charset="-122"/>
                <a:cs typeface="Ubuntu" pitchFamily="34" charset="-120"/>
              </a:rPr>
              <a:t>—</a:t>
            </a:r>
            <a:endParaRPr lang="en-US" sz="1000" dirty="0"/>
          </a:p>
        </p:txBody>
      </p:sp>
      <p:sp>
        <p:nvSpPr>
          <p:cNvPr id="34" name="Text 30"/>
          <p:cNvSpPr/>
          <p:nvPr/>
        </p:nvSpPr>
        <p:spPr>
          <a:xfrm>
            <a:off x="7379717" y="2376041"/>
            <a:ext cx="1033462" cy="204787"/>
          </a:xfrm>
          <a:prstGeom prst="rect">
            <a:avLst/>
          </a:prstGeom>
          <a:ln/>
        </p:spPr>
        <p:txBody>
          <a:bodyPr wrap="square" lIns="0" tIns="0" rIns="0" bIns="0" rtlCol="0" anchor="t"/>
          <a:lstStyle/>
          <a:p>
            <a:pPr algn="ctr" indent="0" marL="0">
              <a:lnSpc>
                <a:spcPts val="1620"/>
              </a:lnSpc>
              <a:buNone/>
            </a:pPr>
            <a:r>
              <a:rPr lang="en-US" sz="1000" dirty="0">
                <a:solidFill>
                  <a:srgbClr val="FFFFFF"/>
                </a:solidFill>
                <a:latin typeface="Ubuntu" pitchFamily="34" charset="0"/>
                <a:ea typeface="Ubuntu" pitchFamily="34" charset="-122"/>
                <a:cs typeface="Ubuntu" pitchFamily="34" charset="-120"/>
              </a:rPr>
              <a:t>—</a:t>
            </a:r>
            <a:endParaRPr lang="en-US" sz="1000" dirty="0"/>
          </a:p>
        </p:txBody>
      </p:sp>
      <p:sp>
        <p:nvSpPr>
          <p:cNvPr id="35" name="Shape 31"/>
          <p:cNvSpPr/>
          <p:nvPr/>
        </p:nvSpPr>
        <p:spPr>
          <a:xfrm>
            <a:off x="731044" y="2658963"/>
            <a:ext cx="7681912" cy="352425"/>
          </a:xfrm>
          <a:prstGeom prst="rect">
            <a:avLst/>
          </a:prstGeom>
          <a:ln/>
        </p:spPr>
      </p:sp>
      <p:sp>
        <p:nvSpPr>
          <p:cNvPr id="36" name="Text 32"/>
          <p:cNvSpPr/>
          <p:nvPr/>
        </p:nvSpPr>
        <p:spPr>
          <a:xfrm>
            <a:off x="732420" y="2737545"/>
            <a:ext cx="2062162" cy="190500"/>
          </a:xfrm>
          <a:prstGeom prst="rect">
            <a:avLst/>
          </a:prstGeom>
          <a:ln/>
        </p:spPr>
        <p:txBody>
          <a:bodyPr wrap="square" lIns="0" tIns="0" rIns="0" bIns="0" rtlCol="0" anchor="t"/>
          <a:lstStyle/>
          <a:p>
            <a:pPr algn="l" indent="0" marL="0">
              <a:lnSpc>
                <a:spcPts val="1512"/>
              </a:lnSpc>
              <a:buNone/>
            </a:pPr>
            <a:r>
              <a:rPr lang="en-US" sz="1000" dirty="0">
                <a:solidFill>
                  <a:srgbClr val="FFFFFF"/>
                </a:solidFill>
                <a:latin typeface="Ubuntu" pitchFamily="34" charset="0"/>
                <a:ea typeface="Ubuntu" pitchFamily="34" charset="-122"/>
                <a:cs typeface="Ubuntu" pitchFamily="34" charset="-120"/>
              </a:rPr>
              <a:t>238-country catalog</a:t>
            </a:r>
            <a:endParaRPr lang="en-US" sz="1000" dirty="0"/>
          </a:p>
        </p:txBody>
      </p:sp>
      <p:sp>
        <p:nvSpPr>
          <p:cNvPr id="37" name="Text 33"/>
          <p:cNvSpPr/>
          <p:nvPr/>
        </p:nvSpPr>
        <p:spPr>
          <a:xfrm>
            <a:off x="2886149" y="2730401"/>
            <a:ext cx="1033462" cy="204787"/>
          </a:xfrm>
          <a:prstGeom prst="rect">
            <a:avLst/>
          </a:prstGeom>
          <a:ln/>
        </p:spPr>
        <p:txBody>
          <a:bodyPr wrap="square" lIns="0" tIns="0" rIns="0" bIns="0" rtlCol="0" anchor="t"/>
          <a:lstStyle/>
          <a:p>
            <a:pPr algn="ctr" indent="0" marL="0">
              <a:lnSpc>
                <a:spcPts val="1620"/>
              </a:lnSpc>
              <a:buNone/>
            </a:pPr>
            <a:r>
              <a:rPr lang="en-US" sz="1000" dirty="0">
                <a:solidFill>
                  <a:srgbClr val="FF4199"/>
                </a:solidFill>
                <a:latin typeface="Ubuntu" pitchFamily="34" charset="0"/>
                <a:ea typeface="Ubuntu" pitchFamily="34" charset="-122"/>
                <a:cs typeface="Ubuntu" pitchFamily="34" charset="-120"/>
              </a:rPr>
              <a:t>✓</a:t>
            </a:r>
            <a:endParaRPr lang="en-US" sz="1000" dirty="0"/>
          </a:p>
        </p:txBody>
      </p:sp>
      <p:sp>
        <p:nvSpPr>
          <p:cNvPr id="38" name="Text 34"/>
          <p:cNvSpPr/>
          <p:nvPr/>
        </p:nvSpPr>
        <p:spPr>
          <a:xfrm>
            <a:off x="4009541" y="2730401"/>
            <a:ext cx="1033462" cy="204787"/>
          </a:xfrm>
          <a:prstGeom prst="rect">
            <a:avLst/>
          </a:prstGeom>
          <a:ln/>
        </p:spPr>
        <p:txBody>
          <a:bodyPr wrap="square" lIns="0" tIns="0" rIns="0" bIns="0" rtlCol="0" anchor="t"/>
          <a:lstStyle/>
          <a:p>
            <a:pPr algn="ctr" indent="0" marL="0">
              <a:lnSpc>
                <a:spcPts val="1620"/>
              </a:lnSpc>
              <a:buNone/>
            </a:pPr>
            <a:r>
              <a:rPr lang="en-US" sz="1000" dirty="0">
                <a:solidFill>
                  <a:srgbClr val="FFFFFF"/>
                </a:solidFill>
                <a:latin typeface="Ubuntu" pitchFamily="34" charset="0"/>
                <a:ea typeface="Ubuntu" pitchFamily="34" charset="-122"/>
                <a:cs typeface="Ubuntu" pitchFamily="34" charset="-120"/>
              </a:rPr>
              <a:t>—</a:t>
            </a:r>
            <a:endParaRPr lang="en-US" sz="1000" dirty="0"/>
          </a:p>
        </p:txBody>
      </p:sp>
      <p:sp>
        <p:nvSpPr>
          <p:cNvPr id="39" name="Text 35"/>
          <p:cNvSpPr/>
          <p:nvPr/>
        </p:nvSpPr>
        <p:spPr>
          <a:xfrm>
            <a:off x="5132933" y="2730401"/>
            <a:ext cx="1033462" cy="204787"/>
          </a:xfrm>
          <a:prstGeom prst="rect">
            <a:avLst/>
          </a:prstGeom>
          <a:ln/>
        </p:spPr>
        <p:txBody>
          <a:bodyPr wrap="square" lIns="0" tIns="0" rIns="0" bIns="0" rtlCol="0" anchor="t"/>
          <a:lstStyle/>
          <a:p>
            <a:pPr algn="ctr" indent="0" marL="0">
              <a:lnSpc>
                <a:spcPts val="1620"/>
              </a:lnSpc>
              <a:buNone/>
            </a:pPr>
            <a:r>
              <a:rPr lang="en-US" sz="1000" dirty="0">
                <a:solidFill>
                  <a:srgbClr val="FFFFFF"/>
                </a:solidFill>
                <a:latin typeface="Ubuntu" pitchFamily="34" charset="0"/>
                <a:ea typeface="Ubuntu" pitchFamily="34" charset="-122"/>
                <a:cs typeface="Ubuntu" pitchFamily="34" charset="-120"/>
              </a:rPr>
              <a:t>—</a:t>
            </a:r>
            <a:endParaRPr lang="en-US" sz="1000" dirty="0"/>
          </a:p>
        </p:txBody>
      </p:sp>
      <p:sp>
        <p:nvSpPr>
          <p:cNvPr id="40" name="Text 36"/>
          <p:cNvSpPr/>
          <p:nvPr/>
        </p:nvSpPr>
        <p:spPr>
          <a:xfrm>
            <a:off x="6256325" y="2730401"/>
            <a:ext cx="1033462" cy="204787"/>
          </a:xfrm>
          <a:prstGeom prst="rect">
            <a:avLst/>
          </a:prstGeom>
          <a:ln/>
        </p:spPr>
        <p:txBody>
          <a:bodyPr wrap="square" lIns="0" tIns="0" rIns="0" bIns="0" rtlCol="0" anchor="t"/>
          <a:lstStyle/>
          <a:p>
            <a:pPr algn="ctr" indent="0" marL="0">
              <a:lnSpc>
                <a:spcPts val="1620"/>
              </a:lnSpc>
              <a:buNone/>
            </a:pPr>
            <a:r>
              <a:rPr lang="en-US" sz="1000" dirty="0">
                <a:solidFill>
                  <a:srgbClr val="FFFFFF"/>
                </a:solidFill>
                <a:latin typeface="Ubuntu" pitchFamily="34" charset="0"/>
                <a:ea typeface="Ubuntu" pitchFamily="34" charset="-122"/>
                <a:cs typeface="Ubuntu" pitchFamily="34" charset="-120"/>
              </a:rPr>
              <a:t>—</a:t>
            </a:r>
            <a:endParaRPr lang="en-US" sz="1000" dirty="0"/>
          </a:p>
        </p:txBody>
      </p:sp>
      <p:sp>
        <p:nvSpPr>
          <p:cNvPr id="41" name="Text 37"/>
          <p:cNvSpPr/>
          <p:nvPr/>
        </p:nvSpPr>
        <p:spPr>
          <a:xfrm>
            <a:off x="7379717" y="2730401"/>
            <a:ext cx="1033462" cy="204787"/>
          </a:xfrm>
          <a:prstGeom prst="rect">
            <a:avLst/>
          </a:prstGeom>
          <a:ln/>
        </p:spPr>
        <p:txBody>
          <a:bodyPr wrap="square" lIns="0" tIns="0" rIns="0" bIns="0" rtlCol="0" anchor="t"/>
          <a:lstStyle/>
          <a:p>
            <a:pPr algn="ctr" indent="0" marL="0">
              <a:lnSpc>
                <a:spcPts val="1620"/>
              </a:lnSpc>
              <a:buNone/>
            </a:pPr>
            <a:r>
              <a:rPr lang="en-US" sz="1000" dirty="0">
                <a:solidFill>
                  <a:srgbClr val="FFFFFF"/>
                </a:solidFill>
                <a:latin typeface="Ubuntu" pitchFamily="34" charset="0"/>
                <a:ea typeface="Ubuntu" pitchFamily="34" charset="-122"/>
                <a:cs typeface="Ubuntu" pitchFamily="34" charset="-120"/>
              </a:rPr>
              <a:t>—</a:t>
            </a:r>
            <a:endParaRPr lang="en-US" sz="1000" dirty="0"/>
          </a:p>
        </p:txBody>
      </p:sp>
      <p:sp>
        <p:nvSpPr>
          <p:cNvPr id="42" name="Shape 38"/>
          <p:cNvSpPr/>
          <p:nvPr/>
        </p:nvSpPr>
        <p:spPr>
          <a:xfrm>
            <a:off x="731044" y="3013323"/>
            <a:ext cx="7681912" cy="352425"/>
          </a:xfrm>
          <a:prstGeom prst="rect">
            <a:avLst/>
          </a:prstGeom>
          <a:solidFill>
            <a:srgbClr val="FFFFFF">
              <a:alpha val="1000"/>
            </a:srgbClr>
          </a:solidFill>
          <a:ln/>
        </p:spPr>
      </p:sp>
      <p:sp>
        <p:nvSpPr>
          <p:cNvPr id="43" name="Text 39"/>
          <p:cNvSpPr/>
          <p:nvPr/>
        </p:nvSpPr>
        <p:spPr>
          <a:xfrm>
            <a:off x="732420" y="3091904"/>
            <a:ext cx="2062162" cy="190500"/>
          </a:xfrm>
          <a:prstGeom prst="rect">
            <a:avLst/>
          </a:prstGeom>
          <a:ln/>
        </p:spPr>
        <p:txBody>
          <a:bodyPr wrap="square" lIns="0" tIns="0" rIns="0" bIns="0" rtlCol="0" anchor="t"/>
          <a:lstStyle/>
          <a:p>
            <a:pPr algn="l" indent="0" marL="0">
              <a:lnSpc>
                <a:spcPts val="1512"/>
              </a:lnSpc>
              <a:buNone/>
            </a:pPr>
            <a:r>
              <a:rPr lang="en-US" sz="1000" dirty="0">
                <a:solidFill>
                  <a:srgbClr val="FFFFFF"/>
                </a:solidFill>
                <a:latin typeface="Ubuntu" pitchFamily="34" charset="0"/>
                <a:ea typeface="Ubuntu" pitchFamily="34" charset="-122"/>
                <a:cs typeface="Ubuntu" pitchFamily="34" charset="-120"/>
              </a:rPr>
              <a:t>Free tier available</a:t>
            </a:r>
            <a:endParaRPr lang="en-US" sz="1000" dirty="0"/>
          </a:p>
        </p:txBody>
      </p:sp>
      <p:sp>
        <p:nvSpPr>
          <p:cNvPr id="44" name="Text 40"/>
          <p:cNvSpPr/>
          <p:nvPr/>
        </p:nvSpPr>
        <p:spPr>
          <a:xfrm>
            <a:off x="2886149" y="3084761"/>
            <a:ext cx="1033462" cy="204787"/>
          </a:xfrm>
          <a:prstGeom prst="rect">
            <a:avLst/>
          </a:prstGeom>
          <a:ln/>
        </p:spPr>
        <p:txBody>
          <a:bodyPr wrap="square" lIns="0" tIns="0" rIns="0" bIns="0" rtlCol="0" anchor="t"/>
          <a:lstStyle/>
          <a:p>
            <a:pPr algn="ctr" indent="0" marL="0">
              <a:lnSpc>
                <a:spcPts val="1620"/>
              </a:lnSpc>
              <a:buNone/>
            </a:pPr>
            <a:r>
              <a:rPr lang="en-US" sz="1000" dirty="0">
                <a:solidFill>
                  <a:srgbClr val="FF4199"/>
                </a:solidFill>
                <a:latin typeface="Ubuntu" pitchFamily="34" charset="0"/>
                <a:ea typeface="Ubuntu" pitchFamily="34" charset="-122"/>
                <a:cs typeface="Ubuntu" pitchFamily="34" charset="-120"/>
              </a:rPr>
              <a:t>✓</a:t>
            </a:r>
            <a:endParaRPr lang="en-US" sz="1000" dirty="0"/>
          </a:p>
        </p:txBody>
      </p:sp>
      <p:sp>
        <p:nvSpPr>
          <p:cNvPr id="45" name="Text 41"/>
          <p:cNvSpPr/>
          <p:nvPr/>
        </p:nvSpPr>
        <p:spPr>
          <a:xfrm>
            <a:off x="4009541" y="3084761"/>
            <a:ext cx="1033462" cy="204787"/>
          </a:xfrm>
          <a:prstGeom prst="rect">
            <a:avLst/>
          </a:prstGeom>
          <a:ln/>
        </p:spPr>
        <p:txBody>
          <a:bodyPr wrap="square" lIns="0" tIns="0" rIns="0" bIns="0" rtlCol="0" anchor="t"/>
          <a:lstStyle/>
          <a:p>
            <a:pPr algn="ctr" indent="0" marL="0">
              <a:lnSpc>
                <a:spcPts val="1620"/>
              </a:lnSpc>
              <a:buNone/>
            </a:pPr>
            <a:r>
              <a:rPr lang="en-US" sz="1000" dirty="0">
                <a:solidFill>
                  <a:srgbClr val="01D7FB"/>
                </a:solidFill>
                <a:latin typeface="Ubuntu" pitchFamily="34" charset="0"/>
                <a:ea typeface="Ubuntu" pitchFamily="34" charset="-122"/>
                <a:cs typeface="Ubuntu" pitchFamily="34" charset="-120"/>
              </a:rPr>
              <a:t>✓</a:t>
            </a:r>
            <a:endParaRPr lang="en-US" sz="1000" dirty="0"/>
          </a:p>
        </p:txBody>
      </p:sp>
      <p:sp>
        <p:nvSpPr>
          <p:cNvPr id="46" name="Text 42"/>
          <p:cNvSpPr/>
          <p:nvPr/>
        </p:nvSpPr>
        <p:spPr>
          <a:xfrm>
            <a:off x="5132933" y="3084761"/>
            <a:ext cx="1033462" cy="204787"/>
          </a:xfrm>
          <a:prstGeom prst="rect">
            <a:avLst/>
          </a:prstGeom>
          <a:ln/>
        </p:spPr>
        <p:txBody>
          <a:bodyPr wrap="square" lIns="0" tIns="0" rIns="0" bIns="0" rtlCol="0" anchor="t"/>
          <a:lstStyle/>
          <a:p>
            <a:pPr algn="ctr" indent="0" marL="0">
              <a:lnSpc>
                <a:spcPts val="1620"/>
              </a:lnSpc>
              <a:buNone/>
            </a:pPr>
            <a:r>
              <a:rPr lang="en-US" sz="1000" dirty="0">
                <a:solidFill>
                  <a:srgbClr val="01D7FB"/>
                </a:solidFill>
                <a:latin typeface="Ubuntu" pitchFamily="34" charset="0"/>
                <a:ea typeface="Ubuntu" pitchFamily="34" charset="-122"/>
                <a:cs typeface="Ubuntu" pitchFamily="34" charset="-120"/>
              </a:rPr>
              <a:t>✓</a:t>
            </a:r>
            <a:endParaRPr lang="en-US" sz="1000" dirty="0"/>
          </a:p>
        </p:txBody>
      </p:sp>
      <p:sp>
        <p:nvSpPr>
          <p:cNvPr id="47" name="Text 43"/>
          <p:cNvSpPr/>
          <p:nvPr/>
        </p:nvSpPr>
        <p:spPr>
          <a:xfrm>
            <a:off x="6256325" y="3084761"/>
            <a:ext cx="1033462" cy="204787"/>
          </a:xfrm>
          <a:prstGeom prst="rect">
            <a:avLst/>
          </a:prstGeom>
          <a:ln/>
        </p:spPr>
        <p:txBody>
          <a:bodyPr wrap="square" lIns="0" tIns="0" rIns="0" bIns="0" rtlCol="0" anchor="t"/>
          <a:lstStyle/>
          <a:p>
            <a:pPr algn="ctr" indent="0" marL="0">
              <a:lnSpc>
                <a:spcPts val="1620"/>
              </a:lnSpc>
              <a:buNone/>
            </a:pPr>
            <a:r>
              <a:rPr lang="en-US" sz="1000" dirty="0">
                <a:solidFill>
                  <a:srgbClr val="01D7FB"/>
                </a:solidFill>
                <a:latin typeface="Ubuntu" pitchFamily="34" charset="0"/>
                <a:ea typeface="Ubuntu" pitchFamily="34" charset="-122"/>
                <a:cs typeface="Ubuntu" pitchFamily="34" charset="-120"/>
              </a:rPr>
              <a:t>✓</a:t>
            </a:r>
            <a:endParaRPr lang="en-US" sz="1000" dirty="0"/>
          </a:p>
        </p:txBody>
      </p:sp>
      <p:sp>
        <p:nvSpPr>
          <p:cNvPr id="48" name="Text 44"/>
          <p:cNvSpPr/>
          <p:nvPr/>
        </p:nvSpPr>
        <p:spPr>
          <a:xfrm>
            <a:off x="7379717" y="3084761"/>
            <a:ext cx="1033462" cy="204787"/>
          </a:xfrm>
          <a:prstGeom prst="rect">
            <a:avLst/>
          </a:prstGeom>
          <a:ln/>
        </p:spPr>
        <p:txBody>
          <a:bodyPr wrap="square" lIns="0" tIns="0" rIns="0" bIns="0" rtlCol="0" anchor="t"/>
          <a:lstStyle/>
          <a:p>
            <a:pPr algn="ctr" indent="0" marL="0">
              <a:lnSpc>
                <a:spcPts val="1620"/>
              </a:lnSpc>
              <a:buNone/>
            </a:pPr>
            <a:r>
              <a:rPr lang="en-US" sz="1000" dirty="0">
                <a:solidFill>
                  <a:srgbClr val="01D7FB"/>
                </a:solidFill>
                <a:latin typeface="Ubuntu" pitchFamily="34" charset="0"/>
                <a:ea typeface="Ubuntu" pitchFamily="34" charset="-122"/>
                <a:cs typeface="Ubuntu" pitchFamily="34" charset="-120"/>
              </a:rPr>
              <a:t>✓</a:t>
            </a:r>
            <a:endParaRPr lang="en-US" sz="1000" dirty="0"/>
          </a:p>
        </p:txBody>
      </p:sp>
      <p:sp>
        <p:nvSpPr>
          <p:cNvPr id="49" name="Shape 45"/>
          <p:cNvSpPr/>
          <p:nvPr/>
        </p:nvSpPr>
        <p:spPr>
          <a:xfrm>
            <a:off x="731044" y="3367683"/>
            <a:ext cx="7681912" cy="352425"/>
          </a:xfrm>
          <a:prstGeom prst="rect">
            <a:avLst/>
          </a:prstGeom>
          <a:ln/>
        </p:spPr>
      </p:sp>
      <p:sp>
        <p:nvSpPr>
          <p:cNvPr id="50" name="Text 46"/>
          <p:cNvSpPr/>
          <p:nvPr/>
        </p:nvSpPr>
        <p:spPr>
          <a:xfrm>
            <a:off x="732420" y="3446264"/>
            <a:ext cx="2062162" cy="190500"/>
          </a:xfrm>
          <a:prstGeom prst="rect">
            <a:avLst/>
          </a:prstGeom>
          <a:ln/>
        </p:spPr>
        <p:txBody>
          <a:bodyPr wrap="square" lIns="0" tIns="0" rIns="0" bIns="0" rtlCol="0" anchor="t"/>
          <a:lstStyle/>
          <a:p>
            <a:pPr algn="l" indent="0" marL="0">
              <a:lnSpc>
                <a:spcPts val="1512"/>
              </a:lnSpc>
              <a:buNone/>
            </a:pPr>
            <a:r>
              <a:rPr lang="en-US" sz="1000" dirty="0">
                <a:solidFill>
                  <a:srgbClr val="FFFFFF"/>
                </a:solidFill>
                <a:latin typeface="Ubuntu" pitchFamily="34" charset="0"/>
                <a:ea typeface="Ubuntu" pitchFamily="34" charset="-122"/>
                <a:cs typeface="Ubuntu" pitchFamily="34" charset="-120"/>
              </a:rPr>
              <a:t>Cross-device sync</a:t>
            </a:r>
            <a:endParaRPr lang="en-US" sz="1000" dirty="0"/>
          </a:p>
        </p:txBody>
      </p:sp>
      <p:sp>
        <p:nvSpPr>
          <p:cNvPr id="51" name="Text 47"/>
          <p:cNvSpPr/>
          <p:nvPr/>
        </p:nvSpPr>
        <p:spPr>
          <a:xfrm>
            <a:off x="2886149" y="3439120"/>
            <a:ext cx="1033462" cy="204787"/>
          </a:xfrm>
          <a:prstGeom prst="rect">
            <a:avLst/>
          </a:prstGeom>
          <a:ln/>
        </p:spPr>
        <p:txBody>
          <a:bodyPr wrap="square" lIns="0" tIns="0" rIns="0" bIns="0" rtlCol="0" anchor="t"/>
          <a:lstStyle/>
          <a:p>
            <a:pPr algn="ctr" indent="0" marL="0">
              <a:lnSpc>
                <a:spcPts val="1620"/>
              </a:lnSpc>
              <a:buNone/>
            </a:pPr>
            <a:r>
              <a:rPr lang="en-US" sz="1000" dirty="0">
                <a:solidFill>
                  <a:srgbClr val="FF4199"/>
                </a:solidFill>
                <a:latin typeface="Ubuntu" pitchFamily="34" charset="0"/>
                <a:ea typeface="Ubuntu" pitchFamily="34" charset="-122"/>
                <a:cs typeface="Ubuntu" pitchFamily="34" charset="-120"/>
              </a:rPr>
              <a:t>✓</a:t>
            </a:r>
            <a:endParaRPr lang="en-US" sz="1000" dirty="0"/>
          </a:p>
        </p:txBody>
      </p:sp>
      <p:sp>
        <p:nvSpPr>
          <p:cNvPr id="52" name="Text 48"/>
          <p:cNvSpPr/>
          <p:nvPr/>
        </p:nvSpPr>
        <p:spPr>
          <a:xfrm>
            <a:off x="4009541" y="3439120"/>
            <a:ext cx="1033462" cy="204787"/>
          </a:xfrm>
          <a:prstGeom prst="rect">
            <a:avLst/>
          </a:prstGeom>
          <a:ln/>
        </p:spPr>
        <p:txBody>
          <a:bodyPr wrap="square" lIns="0" tIns="0" rIns="0" bIns="0" rtlCol="0" anchor="t"/>
          <a:lstStyle/>
          <a:p>
            <a:pPr algn="ctr" indent="0" marL="0">
              <a:lnSpc>
                <a:spcPts val="1620"/>
              </a:lnSpc>
              <a:buNone/>
            </a:pPr>
            <a:r>
              <a:rPr lang="en-US" sz="1000" dirty="0">
                <a:solidFill>
                  <a:srgbClr val="01D7FB"/>
                </a:solidFill>
                <a:latin typeface="Ubuntu" pitchFamily="34" charset="0"/>
                <a:ea typeface="Ubuntu" pitchFamily="34" charset="-122"/>
                <a:cs typeface="Ubuntu" pitchFamily="34" charset="-120"/>
              </a:rPr>
              <a:t>✓</a:t>
            </a:r>
            <a:endParaRPr lang="en-US" sz="1000" dirty="0"/>
          </a:p>
        </p:txBody>
      </p:sp>
      <p:sp>
        <p:nvSpPr>
          <p:cNvPr id="53" name="Text 49"/>
          <p:cNvSpPr/>
          <p:nvPr/>
        </p:nvSpPr>
        <p:spPr>
          <a:xfrm>
            <a:off x="5132933" y="3439120"/>
            <a:ext cx="1033462" cy="204787"/>
          </a:xfrm>
          <a:prstGeom prst="rect">
            <a:avLst/>
          </a:prstGeom>
          <a:ln/>
        </p:spPr>
        <p:txBody>
          <a:bodyPr wrap="square" lIns="0" tIns="0" rIns="0" bIns="0" rtlCol="0" anchor="t"/>
          <a:lstStyle/>
          <a:p>
            <a:pPr algn="ctr" indent="0" marL="0">
              <a:lnSpc>
                <a:spcPts val="1620"/>
              </a:lnSpc>
              <a:buNone/>
            </a:pPr>
            <a:r>
              <a:rPr lang="en-US" sz="1000" dirty="0">
                <a:solidFill>
                  <a:srgbClr val="01D7FB"/>
                </a:solidFill>
                <a:latin typeface="Ubuntu" pitchFamily="34" charset="0"/>
                <a:ea typeface="Ubuntu" pitchFamily="34" charset="-122"/>
                <a:cs typeface="Ubuntu" pitchFamily="34" charset="-120"/>
              </a:rPr>
              <a:t>✓</a:t>
            </a:r>
            <a:endParaRPr lang="en-US" sz="1000" dirty="0"/>
          </a:p>
        </p:txBody>
      </p:sp>
      <p:sp>
        <p:nvSpPr>
          <p:cNvPr id="54" name="Text 50"/>
          <p:cNvSpPr/>
          <p:nvPr/>
        </p:nvSpPr>
        <p:spPr>
          <a:xfrm>
            <a:off x="6256325" y="3439120"/>
            <a:ext cx="1033462" cy="204787"/>
          </a:xfrm>
          <a:prstGeom prst="rect">
            <a:avLst/>
          </a:prstGeom>
          <a:ln/>
        </p:spPr>
        <p:txBody>
          <a:bodyPr wrap="square" lIns="0" tIns="0" rIns="0" bIns="0" rtlCol="0" anchor="t"/>
          <a:lstStyle/>
          <a:p>
            <a:pPr algn="ctr" indent="0" marL="0">
              <a:lnSpc>
                <a:spcPts val="1620"/>
              </a:lnSpc>
              <a:buNone/>
            </a:pPr>
            <a:r>
              <a:rPr lang="en-US" sz="1000" dirty="0">
                <a:solidFill>
                  <a:srgbClr val="01D7FB"/>
                </a:solidFill>
                <a:latin typeface="Ubuntu" pitchFamily="34" charset="0"/>
                <a:ea typeface="Ubuntu" pitchFamily="34" charset="-122"/>
                <a:cs typeface="Ubuntu" pitchFamily="34" charset="-120"/>
              </a:rPr>
              <a:t>✓</a:t>
            </a:r>
            <a:endParaRPr lang="en-US" sz="1000" dirty="0"/>
          </a:p>
        </p:txBody>
      </p:sp>
      <p:sp>
        <p:nvSpPr>
          <p:cNvPr id="55" name="Text 51"/>
          <p:cNvSpPr/>
          <p:nvPr/>
        </p:nvSpPr>
        <p:spPr>
          <a:xfrm>
            <a:off x="7379717" y="3439120"/>
            <a:ext cx="1033462" cy="204787"/>
          </a:xfrm>
          <a:prstGeom prst="rect">
            <a:avLst/>
          </a:prstGeom>
          <a:ln/>
        </p:spPr>
        <p:txBody>
          <a:bodyPr wrap="square" lIns="0" tIns="0" rIns="0" bIns="0" rtlCol="0" anchor="t"/>
          <a:lstStyle/>
          <a:p>
            <a:pPr algn="ctr" indent="0" marL="0">
              <a:lnSpc>
                <a:spcPts val="1620"/>
              </a:lnSpc>
              <a:buNone/>
            </a:pPr>
            <a:r>
              <a:rPr lang="en-US" sz="1000" dirty="0">
                <a:solidFill>
                  <a:srgbClr val="FFFFFF"/>
                </a:solidFill>
                <a:latin typeface="Ubuntu" pitchFamily="34" charset="0"/>
                <a:ea typeface="Ubuntu" pitchFamily="34" charset="-122"/>
                <a:cs typeface="Ubuntu" pitchFamily="34" charset="-120"/>
              </a:rPr>
              <a:t>—</a:t>
            </a:r>
            <a:endParaRPr lang="en-US" sz="1000" dirty="0"/>
          </a:p>
        </p:txBody>
      </p:sp>
      <p:sp>
        <p:nvSpPr>
          <p:cNvPr id="56" name="Shape 52"/>
          <p:cNvSpPr/>
          <p:nvPr/>
        </p:nvSpPr>
        <p:spPr>
          <a:xfrm>
            <a:off x="731044" y="3722043"/>
            <a:ext cx="7681912" cy="352425"/>
          </a:xfrm>
          <a:prstGeom prst="rect">
            <a:avLst/>
          </a:prstGeom>
          <a:solidFill>
            <a:srgbClr val="FFFFFF">
              <a:alpha val="1000"/>
            </a:srgbClr>
          </a:solidFill>
          <a:ln/>
        </p:spPr>
      </p:sp>
      <p:sp>
        <p:nvSpPr>
          <p:cNvPr id="57" name="Text 53"/>
          <p:cNvSpPr/>
          <p:nvPr/>
        </p:nvSpPr>
        <p:spPr>
          <a:xfrm>
            <a:off x="732420" y="3800624"/>
            <a:ext cx="2062162" cy="190500"/>
          </a:xfrm>
          <a:prstGeom prst="rect">
            <a:avLst/>
          </a:prstGeom>
          <a:ln/>
        </p:spPr>
        <p:txBody>
          <a:bodyPr wrap="square" lIns="0" tIns="0" rIns="0" bIns="0" rtlCol="0" anchor="t"/>
          <a:lstStyle/>
          <a:p>
            <a:pPr algn="l" indent="0" marL="0">
              <a:lnSpc>
                <a:spcPts val="1512"/>
              </a:lnSpc>
              <a:buNone/>
            </a:pPr>
            <a:r>
              <a:rPr lang="en-US" sz="1000" dirty="0">
                <a:solidFill>
                  <a:srgbClr val="FFFFFF"/>
                </a:solidFill>
                <a:latin typeface="Ubuntu" pitchFamily="34" charset="0"/>
                <a:ea typeface="Ubuntu" pitchFamily="34" charset="-122"/>
                <a:cs typeface="Ubuntu" pitchFamily="34" charset="-120"/>
              </a:rPr>
              <a:t>Ambient TV mode</a:t>
            </a:r>
            <a:endParaRPr lang="en-US" sz="1000" dirty="0"/>
          </a:p>
        </p:txBody>
      </p:sp>
      <p:sp>
        <p:nvSpPr>
          <p:cNvPr id="58" name="Text 54"/>
          <p:cNvSpPr/>
          <p:nvPr/>
        </p:nvSpPr>
        <p:spPr>
          <a:xfrm>
            <a:off x="2886149" y="3793480"/>
            <a:ext cx="1033462" cy="204787"/>
          </a:xfrm>
          <a:prstGeom prst="rect">
            <a:avLst/>
          </a:prstGeom>
          <a:ln/>
        </p:spPr>
        <p:txBody>
          <a:bodyPr wrap="square" lIns="0" tIns="0" rIns="0" bIns="0" rtlCol="0" anchor="t"/>
          <a:lstStyle/>
          <a:p>
            <a:pPr algn="ctr" indent="0" marL="0">
              <a:lnSpc>
                <a:spcPts val="1620"/>
              </a:lnSpc>
              <a:buNone/>
            </a:pPr>
            <a:r>
              <a:rPr lang="en-US" sz="1000" dirty="0">
                <a:solidFill>
                  <a:srgbClr val="FF4199"/>
                </a:solidFill>
                <a:latin typeface="Ubuntu" pitchFamily="34" charset="0"/>
                <a:ea typeface="Ubuntu" pitchFamily="34" charset="-122"/>
                <a:cs typeface="Ubuntu" pitchFamily="34" charset="-120"/>
              </a:rPr>
              <a:t>✓</a:t>
            </a:r>
            <a:endParaRPr lang="en-US" sz="1000" dirty="0"/>
          </a:p>
        </p:txBody>
      </p:sp>
      <p:sp>
        <p:nvSpPr>
          <p:cNvPr id="59" name="Text 55"/>
          <p:cNvSpPr/>
          <p:nvPr/>
        </p:nvSpPr>
        <p:spPr>
          <a:xfrm>
            <a:off x="4009541" y="3793480"/>
            <a:ext cx="1033462" cy="204787"/>
          </a:xfrm>
          <a:prstGeom prst="rect">
            <a:avLst/>
          </a:prstGeom>
          <a:ln/>
        </p:spPr>
        <p:txBody>
          <a:bodyPr wrap="square" lIns="0" tIns="0" rIns="0" bIns="0" rtlCol="0" anchor="t"/>
          <a:lstStyle/>
          <a:p>
            <a:pPr algn="ctr" indent="0" marL="0">
              <a:lnSpc>
                <a:spcPts val="1620"/>
              </a:lnSpc>
              <a:buNone/>
            </a:pPr>
            <a:r>
              <a:rPr lang="en-US" sz="1000" dirty="0">
                <a:solidFill>
                  <a:srgbClr val="FFFFFF"/>
                </a:solidFill>
                <a:latin typeface="Ubuntu" pitchFamily="34" charset="0"/>
                <a:ea typeface="Ubuntu" pitchFamily="34" charset="-122"/>
                <a:cs typeface="Ubuntu" pitchFamily="34" charset="-120"/>
              </a:rPr>
              <a:t>—</a:t>
            </a:r>
            <a:endParaRPr lang="en-US" sz="1000" dirty="0"/>
          </a:p>
        </p:txBody>
      </p:sp>
      <p:sp>
        <p:nvSpPr>
          <p:cNvPr id="60" name="Text 56"/>
          <p:cNvSpPr/>
          <p:nvPr/>
        </p:nvSpPr>
        <p:spPr>
          <a:xfrm>
            <a:off x="5132933" y="3793480"/>
            <a:ext cx="1033462" cy="204787"/>
          </a:xfrm>
          <a:prstGeom prst="rect">
            <a:avLst/>
          </a:prstGeom>
          <a:ln/>
        </p:spPr>
        <p:txBody>
          <a:bodyPr wrap="square" lIns="0" tIns="0" rIns="0" bIns="0" rtlCol="0" anchor="t"/>
          <a:lstStyle/>
          <a:p>
            <a:pPr algn="ctr" indent="0" marL="0">
              <a:lnSpc>
                <a:spcPts val="1620"/>
              </a:lnSpc>
              <a:buNone/>
            </a:pPr>
            <a:r>
              <a:rPr lang="en-US" sz="1000" dirty="0">
                <a:solidFill>
                  <a:srgbClr val="FFFFFF"/>
                </a:solidFill>
                <a:latin typeface="Ubuntu" pitchFamily="34" charset="0"/>
                <a:ea typeface="Ubuntu" pitchFamily="34" charset="-122"/>
                <a:cs typeface="Ubuntu" pitchFamily="34" charset="-120"/>
              </a:rPr>
              <a:t>—</a:t>
            </a:r>
            <a:endParaRPr lang="en-US" sz="1000" dirty="0"/>
          </a:p>
        </p:txBody>
      </p:sp>
      <p:sp>
        <p:nvSpPr>
          <p:cNvPr id="61" name="Text 57"/>
          <p:cNvSpPr/>
          <p:nvPr/>
        </p:nvSpPr>
        <p:spPr>
          <a:xfrm>
            <a:off x="6256325" y="3793480"/>
            <a:ext cx="1033462" cy="204787"/>
          </a:xfrm>
          <a:prstGeom prst="rect">
            <a:avLst/>
          </a:prstGeom>
          <a:ln/>
        </p:spPr>
        <p:txBody>
          <a:bodyPr wrap="square" lIns="0" tIns="0" rIns="0" bIns="0" rtlCol="0" anchor="t"/>
          <a:lstStyle/>
          <a:p>
            <a:pPr algn="ctr" indent="0" marL="0">
              <a:lnSpc>
                <a:spcPts val="1620"/>
              </a:lnSpc>
              <a:buNone/>
            </a:pPr>
            <a:r>
              <a:rPr lang="en-US" sz="1000" dirty="0">
                <a:solidFill>
                  <a:srgbClr val="FFFFFF"/>
                </a:solidFill>
                <a:latin typeface="Ubuntu" pitchFamily="34" charset="0"/>
                <a:ea typeface="Ubuntu" pitchFamily="34" charset="-122"/>
                <a:cs typeface="Ubuntu" pitchFamily="34" charset="-120"/>
              </a:rPr>
              <a:t>—</a:t>
            </a:r>
            <a:endParaRPr lang="en-US" sz="1000" dirty="0"/>
          </a:p>
        </p:txBody>
      </p:sp>
      <p:sp>
        <p:nvSpPr>
          <p:cNvPr id="62" name="Text 58"/>
          <p:cNvSpPr/>
          <p:nvPr/>
        </p:nvSpPr>
        <p:spPr>
          <a:xfrm>
            <a:off x="7379717" y="3793480"/>
            <a:ext cx="1033462" cy="204787"/>
          </a:xfrm>
          <a:prstGeom prst="rect">
            <a:avLst/>
          </a:prstGeom>
          <a:ln/>
        </p:spPr>
        <p:txBody>
          <a:bodyPr wrap="square" lIns="0" tIns="0" rIns="0" bIns="0" rtlCol="0" anchor="t"/>
          <a:lstStyle/>
          <a:p>
            <a:pPr algn="ctr" indent="0" marL="0">
              <a:lnSpc>
                <a:spcPts val="1620"/>
              </a:lnSpc>
              <a:buNone/>
            </a:pPr>
            <a:r>
              <a:rPr lang="en-US" sz="1000" dirty="0">
                <a:solidFill>
                  <a:srgbClr val="FFFFFF"/>
                </a:solidFill>
                <a:latin typeface="Ubuntu" pitchFamily="34" charset="0"/>
                <a:ea typeface="Ubuntu" pitchFamily="34" charset="-122"/>
                <a:cs typeface="Ubuntu" pitchFamily="34" charset="-120"/>
              </a:rPr>
              <a:t>—</a:t>
            </a:r>
            <a:endParaRPr lang="en-US" sz="1000" dirty="0"/>
          </a:p>
        </p:txBody>
      </p:sp>
      <p:sp>
        <p:nvSpPr>
          <p:cNvPr id="63" name="Shape 59"/>
          <p:cNvSpPr/>
          <p:nvPr/>
        </p:nvSpPr>
        <p:spPr>
          <a:xfrm>
            <a:off x="731044" y="4076402"/>
            <a:ext cx="7681912" cy="352425"/>
          </a:xfrm>
          <a:prstGeom prst="rect">
            <a:avLst/>
          </a:prstGeom>
          <a:ln/>
        </p:spPr>
      </p:sp>
      <p:sp>
        <p:nvSpPr>
          <p:cNvPr id="64" name="Text 60"/>
          <p:cNvSpPr/>
          <p:nvPr/>
        </p:nvSpPr>
        <p:spPr>
          <a:xfrm>
            <a:off x="732420" y="4154984"/>
            <a:ext cx="2062162" cy="190500"/>
          </a:xfrm>
          <a:prstGeom prst="rect">
            <a:avLst/>
          </a:prstGeom>
          <a:ln/>
        </p:spPr>
        <p:txBody>
          <a:bodyPr wrap="square" lIns="0" tIns="0" rIns="0" bIns="0" rtlCol="0" anchor="t"/>
          <a:lstStyle/>
          <a:p>
            <a:pPr algn="l" indent="0" marL="0">
              <a:lnSpc>
                <a:spcPts val="1512"/>
              </a:lnSpc>
              <a:buNone/>
            </a:pPr>
            <a:r>
              <a:rPr lang="en-US" sz="1000" dirty="0">
                <a:solidFill>
                  <a:srgbClr val="FFFFFF"/>
                </a:solidFill>
                <a:latin typeface="Ubuntu" pitchFamily="34" charset="0"/>
                <a:ea typeface="Ubuntu" pitchFamily="34" charset="-122"/>
                <a:cs typeface="Ubuntu" pitchFamily="34" charset="-120"/>
              </a:rPr>
              <a:t>B2B / white-label</a:t>
            </a:r>
            <a:endParaRPr lang="en-US" sz="1000" dirty="0"/>
          </a:p>
        </p:txBody>
      </p:sp>
      <p:sp>
        <p:nvSpPr>
          <p:cNvPr id="65" name="Text 61"/>
          <p:cNvSpPr/>
          <p:nvPr/>
        </p:nvSpPr>
        <p:spPr>
          <a:xfrm>
            <a:off x="2886149" y="4147840"/>
            <a:ext cx="1033462" cy="204787"/>
          </a:xfrm>
          <a:prstGeom prst="rect">
            <a:avLst/>
          </a:prstGeom>
          <a:ln/>
        </p:spPr>
        <p:txBody>
          <a:bodyPr wrap="square" lIns="0" tIns="0" rIns="0" bIns="0" rtlCol="0" anchor="t"/>
          <a:lstStyle/>
          <a:p>
            <a:pPr algn="ctr" indent="0" marL="0">
              <a:lnSpc>
                <a:spcPts val="1620"/>
              </a:lnSpc>
              <a:buNone/>
            </a:pPr>
            <a:r>
              <a:rPr lang="en-US" sz="1000" dirty="0">
                <a:solidFill>
                  <a:srgbClr val="FF4199"/>
                </a:solidFill>
                <a:latin typeface="Ubuntu" pitchFamily="34" charset="0"/>
                <a:ea typeface="Ubuntu" pitchFamily="34" charset="-122"/>
                <a:cs typeface="Ubuntu" pitchFamily="34" charset="-120"/>
              </a:rPr>
              <a:t>✓</a:t>
            </a:r>
            <a:endParaRPr lang="en-US" sz="1000" dirty="0"/>
          </a:p>
        </p:txBody>
      </p:sp>
      <p:sp>
        <p:nvSpPr>
          <p:cNvPr id="66" name="Text 62"/>
          <p:cNvSpPr/>
          <p:nvPr/>
        </p:nvSpPr>
        <p:spPr>
          <a:xfrm>
            <a:off x="4009541" y="4147840"/>
            <a:ext cx="1033462" cy="204787"/>
          </a:xfrm>
          <a:prstGeom prst="rect">
            <a:avLst/>
          </a:prstGeom>
          <a:ln/>
        </p:spPr>
        <p:txBody>
          <a:bodyPr wrap="square" lIns="0" tIns="0" rIns="0" bIns="0" rtlCol="0" anchor="t"/>
          <a:lstStyle/>
          <a:p>
            <a:pPr algn="ctr" indent="0" marL="0">
              <a:lnSpc>
                <a:spcPts val="1620"/>
              </a:lnSpc>
              <a:buNone/>
            </a:pPr>
            <a:r>
              <a:rPr lang="en-US" sz="1000" dirty="0">
                <a:solidFill>
                  <a:srgbClr val="FFFFFF"/>
                </a:solidFill>
                <a:latin typeface="Ubuntu" pitchFamily="34" charset="0"/>
                <a:ea typeface="Ubuntu" pitchFamily="34" charset="-122"/>
                <a:cs typeface="Ubuntu" pitchFamily="34" charset="-120"/>
              </a:rPr>
              <a:t>—</a:t>
            </a:r>
            <a:endParaRPr lang="en-US" sz="1000" dirty="0"/>
          </a:p>
        </p:txBody>
      </p:sp>
      <p:sp>
        <p:nvSpPr>
          <p:cNvPr id="67" name="Text 63"/>
          <p:cNvSpPr/>
          <p:nvPr/>
        </p:nvSpPr>
        <p:spPr>
          <a:xfrm>
            <a:off x="5132933" y="4147840"/>
            <a:ext cx="1033462" cy="204787"/>
          </a:xfrm>
          <a:prstGeom prst="rect">
            <a:avLst/>
          </a:prstGeom>
          <a:ln/>
        </p:spPr>
        <p:txBody>
          <a:bodyPr wrap="square" lIns="0" tIns="0" rIns="0" bIns="0" rtlCol="0" anchor="t"/>
          <a:lstStyle/>
          <a:p>
            <a:pPr algn="ctr" indent="0" marL="0">
              <a:lnSpc>
                <a:spcPts val="1620"/>
              </a:lnSpc>
              <a:buNone/>
            </a:pPr>
            <a:r>
              <a:rPr lang="en-US" sz="1000" dirty="0">
                <a:solidFill>
                  <a:srgbClr val="FFFFFF"/>
                </a:solidFill>
                <a:latin typeface="Ubuntu" pitchFamily="34" charset="0"/>
                <a:ea typeface="Ubuntu" pitchFamily="34" charset="-122"/>
                <a:cs typeface="Ubuntu" pitchFamily="34" charset="-120"/>
              </a:rPr>
              <a:t>—</a:t>
            </a:r>
            <a:endParaRPr lang="en-US" sz="1000" dirty="0"/>
          </a:p>
        </p:txBody>
      </p:sp>
      <p:sp>
        <p:nvSpPr>
          <p:cNvPr id="68" name="Text 64"/>
          <p:cNvSpPr/>
          <p:nvPr/>
        </p:nvSpPr>
        <p:spPr>
          <a:xfrm>
            <a:off x="6256325" y="4147840"/>
            <a:ext cx="1033462" cy="204787"/>
          </a:xfrm>
          <a:prstGeom prst="rect">
            <a:avLst/>
          </a:prstGeom>
          <a:ln/>
        </p:spPr>
        <p:txBody>
          <a:bodyPr wrap="square" lIns="0" tIns="0" rIns="0" bIns="0" rtlCol="0" anchor="t"/>
          <a:lstStyle/>
          <a:p>
            <a:pPr algn="ctr" indent="0" marL="0">
              <a:lnSpc>
                <a:spcPts val="1620"/>
              </a:lnSpc>
              <a:buNone/>
            </a:pPr>
            <a:r>
              <a:rPr lang="en-US" sz="1000" dirty="0">
                <a:solidFill>
                  <a:srgbClr val="FFFFFF"/>
                </a:solidFill>
                <a:latin typeface="Ubuntu" pitchFamily="34" charset="0"/>
                <a:ea typeface="Ubuntu" pitchFamily="34" charset="-122"/>
                <a:cs typeface="Ubuntu" pitchFamily="34" charset="-120"/>
              </a:rPr>
              <a:t>—</a:t>
            </a:r>
            <a:endParaRPr lang="en-US" sz="1000" dirty="0"/>
          </a:p>
        </p:txBody>
      </p:sp>
      <p:sp>
        <p:nvSpPr>
          <p:cNvPr id="69" name="Text 65"/>
          <p:cNvSpPr/>
          <p:nvPr/>
        </p:nvSpPr>
        <p:spPr>
          <a:xfrm>
            <a:off x="7379717" y="4147840"/>
            <a:ext cx="1033462" cy="204787"/>
          </a:xfrm>
          <a:prstGeom prst="rect">
            <a:avLst/>
          </a:prstGeom>
          <a:ln/>
        </p:spPr>
        <p:txBody>
          <a:bodyPr wrap="square" lIns="0" tIns="0" rIns="0" bIns="0" rtlCol="0" anchor="t"/>
          <a:lstStyle/>
          <a:p>
            <a:pPr algn="ctr" indent="0" marL="0">
              <a:lnSpc>
                <a:spcPts val="1620"/>
              </a:lnSpc>
              <a:buNone/>
            </a:pPr>
            <a:r>
              <a:rPr lang="en-US" sz="1000" dirty="0">
                <a:solidFill>
                  <a:srgbClr val="FFFFFF"/>
                </a:solidFill>
                <a:latin typeface="Ubuntu" pitchFamily="34" charset="0"/>
                <a:ea typeface="Ubuntu" pitchFamily="34" charset="-122"/>
                <a:cs typeface="Ubuntu" pitchFamily="34" charset="-120"/>
              </a:rPr>
              <a:t>—</a:t>
            </a:r>
            <a:endParaRPr lang="en-US" sz="1000" dirty="0"/>
          </a:p>
        </p:txBody>
      </p:sp>
      <p:sp>
        <p:nvSpPr>
          <p:cNvPr id="70" name="Shape 66"/>
          <p:cNvSpPr/>
          <p:nvPr/>
        </p:nvSpPr>
        <p:spPr>
          <a:xfrm>
            <a:off x="731044" y="4583013"/>
            <a:ext cx="7681912" cy="628650"/>
          </a:xfrm>
          <a:prstGeom prst="roundRect">
            <a:avLst>
              <a:gd name="adj" fmla="val 16926"/>
            </a:avLst>
          </a:prstGeom>
          <a:solidFill>
            <a:srgbClr val="FF4199">
              <a:alpha val="6000"/>
            </a:srgbClr>
          </a:solidFill>
          <a:ln w="4763">
            <a:solidFill>
              <a:srgbClr val="FF4199">
                <a:alpha val="15000"/>
              </a:srgbClr>
            </a:solidFill>
            <a:prstDash val="solid"/>
          </a:ln>
        </p:spPr>
      </p:sp>
      <p:sp>
        <p:nvSpPr>
          <p:cNvPr id="71" name="Text 67"/>
          <p:cNvSpPr/>
          <p:nvPr/>
        </p:nvSpPr>
        <p:spPr>
          <a:xfrm>
            <a:off x="964406" y="4692551"/>
            <a:ext cx="7215188" cy="409575"/>
          </a:xfrm>
          <a:prstGeom prst="rect">
            <a:avLst/>
          </a:prstGeom>
          <a:ln/>
        </p:spPr>
        <p:txBody>
          <a:bodyPr wrap="square" lIns="0" tIns="0" rIns="0" bIns="0" rtlCol="0" anchor="t"/>
          <a:lstStyle/>
          <a:p>
            <a:pPr algn="l" indent="0" marL="0">
              <a:lnSpc>
                <a:spcPts val="1620"/>
              </a:lnSpc>
              <a:buNone/>
            </a:pPr>
            <a:r>
              <a:rPr lang="en-US" sz="1000" dirty="0">
                <a:solidFill>
                  <a:srgbClr val="FFFFFF"/>
                </a:solidFill>
                <a:latin typeface="Ubuntu" pitchFamily="34" charset="0"/>
                <a:ea typeface="Ubuntu" pitchFamily="34" charset="-122"/>
                <a:cs typeface="Ubuntu" pitchFamily="34" charset="-120"/>
              </a:rPr>
              <a:t>Radio Mega is the only platform combining native TV remote UX, a full global station catalog, ambient mode, and B2B white-label — in one product.</a:t>
            </a:r>
            <a:endParaRPr lang="en-US" sz="1000" dirty="0"/>
          </a:p>
        </p:txBody>
      </p:sp>
      <p:sp>
        <p:nvSpPr>
          <p:cNvPr id="72" name="Text 68"/>
          <p:cNvSpPr/>
          <p:nvPr/>
        </p:nvSpPr>
        <p:spPr>
          <a:xfrm>
            <a:off x="0" y="4781848"/>
            <a:ext cx="9144000" cy="361950"/>
          </a:xfrm>
          <a:prstGeom prst="rect">
            <a:avLst/>
          </a:prstGeom>
          <a:ln/>
        </p:spPr>
        <p:txBody>
          <a:bodyPr wrap="square" lIns="0" tIns="0" rIns="0" bIns="0" rtlCol="0" anchor="t"/>
          <a:lstStyle/>
          <a:p>
            <a:pPr algn="l" indent="0" marL="0">
              <a:lnSpc>
                <a:spcPts val="1188"/>
              </a:lnSpc>
              <a:buNone/>
            </a:pPr>
            <a:r>
              <a:rPr lang="en-US" sz="700" dirty="0">
                <a:solidFill>
                  <a:srgbClr val="FFFFFF"/>
                </a:solidFill>
                <a:latin typeface="Ubuntu" pitchFamily="34" charset="0"/>
                <a:ea typeface="Ubuntu" pitchFamily="34" charset="-122"/>
                <a:cs typeface="Ubuntu" pitchFamily="34" charset="-120"/>
              </a:rPr>
              <a:t>RADIO MEGA</a:t>
            </a:r>
            <a:pPr algn="l" indent="0" marL="0">
              <a:lnSpc>
                <a:spcPts val="1188"/>
              </a:lnSpc>
              <a:buNone/>
            </a:pPr>
            <a:r>
              <a:rPr lang="en-US" sz="700" dirty="0">
                <a:solidFill>
                  <a:srgbClr val="FFFFFF"/>
                </a:solidFill>
                <a:latin typeface="Ubuntu" pitchFamily="34" charset="0"/>
                <a:ea typeface="Ubuntu" pitchFamily="34" charset="-122"/>
                <a:cs typeface="Ubuntu" pitchFamily="34" charset="-120"/>
              </a:rPr>
              <a:t>10 / 18</a:t>
            </a:r>
            <a:endParaRPr lang="en-US" sz="700" dirty="0"/>
          </a:p>
        </p:txBody>
      </p:sp>
      <p:pic>
        <p:nvPicPr>
          <p:cNvPr id="73"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31044" y="1208112"/>
            <a:ext cx="7681912" cy="309562"/>
          </a:xfrm>
          <a:prstGeom prst="rect">
            <a:avLst/>
          </a:prstGeom>
        </p:spPr>
      </p:pic>
      <p:pic>
        <p:nvPicPr>
          <p:cNvPr id="74"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731044" y="1595884"/>
            <a:ext cx="7681912" cy="352425"/>
          </a:xfrm>
          <a:prstGeom prst="rect">
            <a:avLst/>
          </a:prstGeom>
        </p:spPr>
      </p:pic>
      <p:pic>
        <p:nvPicPr>
          <p:cNvPr id="75" name="Image 4" descr="preencoded.png">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731044" y="1950244"/>
            <a:ext cx="7681912" cy="352425"/>
          </a:xfrm>
          <a:prstGeom prst="rect">
            <a:avLst/>
          </a:prstGeom>
        </p:spPr>
      </p:pic>
      <p:pic>
        <p:nvPicPr>
          <p:cNvPr id="76" name="Image 5" descr="preencoded.png">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731044" y="2304604"/>
            <a:ext cx="7681912" cy="352425"/>
          </a:xfrm>
          <a:prstGeom prst="rect">
            <a:avLst/>
          </a:prstGeom>
        </p:spPr>
      </p:pic>
      <p:pic>
        <p:nvPicPr>
          <p:cNvPr id="77" name="Image 6" descr="preencoded.png">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731044" y="2658963"/>
            <a:ext cx="7681912" cy="352425"/>
          </a:xfrm>
          <a:prstGeom prst="rect">
            <a:avLst/>
          </a:prstGeom>
        </p:spPr>
      </p:pic>
      <p:pic>
        <p:nvPicPr>
          <p:cNvPr id="78" name="Image 7" descr="preencoded.png">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731044" y="3013323"/>
            <a:ext cx="7681912" cy="352425"/>
          </a:xfrm>
          <a:prstGeom prst="rect">
            <a:avLst/>
          </a:prstGeom>
        </p:spPr>
      </p:pic>
      <p:pic>
        <p:nvPicPr>
          <p:cNvPr id="79" name="Image 8" descr="preencoded.png">    </p:cNvPr>
          <p:cNvPicPr>
            <a:picLocks noChangeAspect="1"/>
          </p:cNvPicPr>
          <p:nvPr/>
        </p:nvPicPr>
        <p:blipFill>
          <a:blip r:embed="rId17">
            <a:extLst>
              <a:ext uri="{96DAC541-7B7A-43D3-8B79-37D633B846F1}">
                <asvg:svgBlip xmlns:asvg="http://schemas.microsoft.com/office/drawing/2016/SVG/main" r:embed="rId18"/>
              </a:ext>
            </a:extLst>
          </a:blip>
          <a:stretch>
            <a:fillRect/>
          </a:stretch>
        </p:blipFill>
        <p:spPr>
          <a:xfrm>
            <a:off x="731044" y="3367683"/>
            <a:ext cx="7681912" cy="352425"/>
          </a:xfrm>
          <a:prstGeom prst="rect">
            <a:avLst/>
          </a:prstGeom>
        </p:spPr>
      </p:pic>
      <p:pic>
        <p:nvPicPr>
          <p:cNvPr id="80" name="Image 9" descr="preencoded.png">    </p:cNvPr>
          <p:cNvPicPr>
            <a:picLocks noChangeAspect="1"/>
          </p:cNvPicPr>
          <p:nvPr/>
        </p:nvPicPr>
        <p:blipFill>
          <a:blip r:embed="rId19">
            <a:extLst>
              <a:ext uri="{96DAC541-7B7A-43D3-8B79-37D633B846F1}">
                <asvg:svgBlip xmlns:asvg="http://schemas.microsoft.com/office/drawing/2016/SVG/main" r:embed="rId20"/>
              </a:ext>
            </a:extLst>
          </a:blip>
          <a:stretch>
            <a:fillRect/>
          </a:stretch>
        </p:blipFill>
        <p:spPr>
          <a:xfrm>
            <a:off x="731044" y="3722043"/>
            <a:ext cx="7681912" cy="352425"/>
          </a:xfrm>
          <a:prstGeom prst="rect">
            <a:avLst/>
          </a:prstGeom>
        </p:spPr>
      </p:pic>
      <p:pic>
        <p:nvPicPr>
          <p:cNvPr id="81" name="Image 10" descr="preencoded.png">    </p:cNvPr>
          <p:cNvPicPr>
            <a:picLocks noChangeAspect="1"/>
          </p:cNvPicPr>
          <p:nvPr/>
        </p:nvPicPr>
        <p:blipFill>
          <a:blip r:embed="rId21">
            <a:extLst>
              <a:ext uri="{96DAC541-7B7A-43D3-8B79-37D633B846F1}">
                <asvg:svgBlip xmlns:asvg="http://schemas.microsoft.com/office/drawing/2016/SVG/main" r:embed="rId22"/>
              </a:ext>
            </a:extLst>
          </a:blip>
          <a:stretch>
            <a:fillRect/>
          </a:stretch>
        </p:blipFill>
        <p:spPr>
          <a:xfrm>
            <a:off x="731044" y="4076402"/>
            <a:ext cx="7681912" cy="352425"/>
          </a:xfrm>
          <a:prstGeom prst="rect">
            <a:avLst/>
          </a:prstGeom>
        </p:spPr>
      </p:pic>
      <p:pic>
        <p:nvPicPr>
          <p:cNvPr id="82" name="Image 11" descr="preencoded.png">    </p:cNvPr>
          <p:cNvPicPr>
            <a:picLocks noChangeAspect="1"/>
          </p:cNvPicPr>
          <p:nvPr/>
        </p:nvPicPr>
        <p:blipFill>
          <a:blip r:embed="rId23">
            <a:extLst>
              <a:ext uri="{96DAC541-7B7A-43D3-8B79-37D633B846F1}">
                <asvg:svgBlip xmlns:asvg="http://schemas.microsoft.com/office/drawing/2016/SVG/main" r:embed="rId24"/>
              </a:ext>
            </a:extLst>
          </a:blip>
          <a:stretch>
            <a:fillRect/>
          </a:stretch>
        </p:blipFill>
        <p:spPr>
          <a:xfrm>
            <a:off x="0" y="4781848"/>
            <a:ext cx="9144000" cy="36195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E0E0E"/>
          </a:solidFill>
          <a:ln/>
        </p:spPr>
      </p:sp>
      <p:pic>
        <p:nvPicPr>
          <p:cNvPr id="3"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0" y="0"/>
            <a:ext cx="9144000" cy="5143500"/>
          </a:xfrm>
          <a:prstGeom prst="rect">
            <a:avLst/>
          </a:prstGeom>
        </p:spPr>
      </p:pic>
      <p:pic>
        <p:nvPicPr>
          <p:cNvPr id="4"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376473" y="-566752"/>
            <a:ext cx="4208145" cy="4208145"/>
          </a:xfrm>
          <a:prstGeom prst="rect">
            <a:avLst/>
          </a:prstGeom>
        </p:spPr>
      </p:pic>
      <p:sp>
        <p:nvSpPr>
          <p:cNvPr id="5" name="Text 1"/>
          <p:cNvSpPr/>
          <p:nvPr/>
        </p:nvSpPr>
        <p:spPr>
          <a:xfrm>
            <a:off x="731044" y="359532"/>
            <a:ext cx="7681912" cy="138113"/>
          </a:xfrm>
          <a:prstGeom prst="rect">
            <a:avLst/>
          </a:prstGeom>
          <a:ln/>
        </p:spPr>
        <p:txBody>
          <a:bodyPr wrap="square" lIns="0" tIns="0" rIns="0" bIns="0" rtlCol="0" anchor="t"/>
          <a:lstStyle/>
          <a:p>
            <a:pPr algn="l" indent="0" marL="0">
              <a:lnSpc>
                <a:spcPts val="1080"/>
              </a:lnSpc>
              <a:spcAft>
                <a:spcPts val="810"/>
              </a:spcAft>
              <a:buNone/>
            </a:pPr>
            <a:r>
              <a:rPr lang="en-US" sz="700" b="1" dirty="0">
                <a:solidFill>
                  <a:srgbClr val="FF4199"/>
                </a:solidFill>
                <a:latin typeface="Ubuntu" pitchFamily="34" charset="0"/>
                <a:ea typeface="Ubuntu" pitchFamily="34" charset="-122"/>
                <a:cs typeface="Ubuntu" pitchFamily="34" charset="-120"/>
              </a:rPr>
              <a:t>TRACTION</a:t>
            </a:r>
            <a:endParaRPr lang="en-US" sz="700" dirty="0"/>
          </a:p>
        </p:txBody>
      </p:sp>
      <p:sp>
        <p:nvSpPr>
          <p:cNvPr id="6" name="Text 2"/>
          <p:cNvSpPr/>
          <p:nvPr/>
        </p:nvSpPr>
        <p:spPr>
          <a:xfrm>
            <a:off x="731044" y="601117"/>
            <a:ext cx="7681912" cy="400050"/>
          </a:xfrm>
          <a:prstGeom prst="rect">
            <a:avLst/>
          </a:prstGeom>
          <a:ln/>
        </p:spPr>
        <p:txBody>
          <a:bodyPr wrap="square" lIns="0" tIns="0" rIns="0" bIns="0" rtlCol="0" anchor="t"/>
          <a:lstStyle/>
          <a:p>
            <a:pPr algn="l" indent="0" marL="0">
              <a:lnSpc>
                <a:spcPts val="3168"/>
              </a:lnSpc>
              <a:buNone/>
            </a:pPr>
            <a:r>
              <a:rPr lang="en-US" sz="2800" b="1" dirty="0">
                <a:solidFill>
                  <a:srgbClr val="FFFFFF"/>
                </a:solidFill>
                <a:latin typeface="Ubuntu" pitchFamily="34" charset="0"/>
                <a:ea typeface="Ubuntu" pitchFamily="34" charset="-122"/>
                <a:cs typeface="Ubuntu" pitchFamily="34" charset="-120"/>
              </a:rPr>
              <a:t>Early signals across two live platforms</a:t>
            </a:r>
            <a:endParaRPr lang="en-US" sz="2800" dirty="0"/>
          </a:p>
        </p:txBody>
      </p:sp>
      <p:sp>
        <p:nvSpPr>
          <p:cNvPr id="7" name="Shape 3"/>
          <p:cNvSpPr/>
          <p:nvPr/>
        </p:nvSpPr>
        <p:spPr>
          <a:xfrm>
            <a:off x="732458" y="1259198"/>
            <a:ext cx="1781175" cy="1019175"/>
          </a:xfrm>
          <a:prstGeom prst="roundRect">
            <a:avLst>
              <a:gd name="adj" fmla="val 9660"/>
            </a:avLst>
          </a:prstGeom>
          <a:solidFill>
            <a:srgbClr val="FF4199">
              <a:alpha val="6000"/>
            </a:srgbClr>
          </a:solidFill>
          <a:ln w="4763">
            <a:solidFill>
              <a:srgbClr val="FF4199">
                <a:alpha val="18000"/>
              </a:srgbClr>
            </a:solidFill>
            <a:prstDash val="solid"/>
          </a:ln>
        </p:spPr>
      </p:sp>
      <p:sp>
        <p:nvSpPr>
          <p:cNvPr id="8" name="Text 4"/>
          <p:cNvSpPr/>
          <p:nvPr/>
        </p:nvSpPr>
        <p:spPr>
          <a:xfrm>
            <a:off x="872951" y="1418481"/>
            <a:ext cx="1500188" cy="457200"/>
          </a:xfrm>
          <a:prstGeom prst="rect">
            <a:avLst/>
          </a:prstGeom>
          <a:ln/>
        </p:spPr>
        <p:txBody>
          <a:bodyPr wrap="square" lIns="0" tIns="0" rIns="0" bIns="0" rtlCol="0" anchor="t"/>
          <a:lstStyle/>
          <a:p>
            <a:pPr algn="ctr" indent="0" marL="0">
              <a:lnSpc>
                <a:spcPts val="3600"/>
              </a:lnSpc>
              <a:spcAft>
                <a:spcPts val="405"/>
              </a:spcAft>
              <a:buNone/>
            </a:pPr>
            <a:r>
              <a:rPr lang="en-US" sz="3600" b="1" dirty="0">
                <a:solidFill>
                  <a:srgbClr val="FF4199"/>
                </a:solidFill>
                <a:latin typeface="Ubuntu" pitchFamily="34" charset="0"/>
                <a:ea typeface="Ubuntu" pitchFamily="34" charset="-122"/>
                <a:cs typeface="Ubuntu" pitchFamily="34" charset="-120"/>
              </a:rPr>
              <a:t>2</a:t>
            </a:r>
            <a:endParaRPr lang="en-US" sz="3600" dirty="0"/>
          </a:p>
        </p:txBody>
      </p:sp>
      <p:sp>
        <p:nvSpPr>
          <p:cNvPr id="9" name="Text 5"/>
          <p:cNvSpPr/>
          <p:nvPr/>
        </p:nvSpPr>
        <p:spPr>
          <a:xfrm>
            <a:off x="872951" y="1927845"/>
            <a:ext cx="1500188" cy="190500"/>
          </a:xfrm>
          <a:prstGeom prst="rect">
            <a:avLst/>
          </a:prstGeom>
          <a:ln/>
        </p:spPr>
        <p:txBody>
          <a:bodyPr wrap="square" lIns="0" tIns="0" rIns="0" bIns="0" rtlCol="0" anchor="t"/>
          <a:lstStyle/>
          <a:p>
            <a:pPr algn="ctr" indent="0" marL="0">
              <a:lnSpc>
                <a:spcPts val="1512"/>
              </a:lnSpc>
              <a:buNone/>
            </a:pPr>
            <a:r>
              <a:rPr lang="en-US" sz="1000" dirty="0">
                <a:solidFill>
                  <a:srgbClr val="FFFFFF"/>
                </a:solidFill>
                <a:latin typeface="Ubuntu" pitchFamily="34" charset="0"/>
                <a:ea typeface="Ubuntu" pitchFamily="34" charset="-122"/>
                <a:cs typeface="Ubuntu" pitchFamily="34" charset="-120"/>
              </a:rPr>
              <a:t>Live TV platforms</a:t>
            </a:r>
            <a:endParaRPr lang="en-US" sz="1000" dirty="0"/>
          </a:p>
        </p:txBody>
      </p:sp>
      <p:sp>
        <p:nvSpPr>
          <p:cNvPr id="10" name="Shape 6"/>
          <p:cNvSpPr/>
          <p:nvPr/>
        </p:nvSpPr>
        <p:spPr>
          <a:xfrm>
            <a:off x="2698403" y="1259198"/>
            <a:ext cx="1781175" cy="1019175"/>
          </a:xfrm>
          <a:prstGeom prst="roundRect">
            <a:avLst>
              <a:gd name="adj" fmla="val 9660"/>
            </a:avLst>
          </a:prstGeom>
          <a:solidFill>
            <a:srgbClr val="01D7FB">
              <a:alpha val="4000"/>
            </a:srgbClr>
          </a:solidFill>
          <a:ln w="4763">
            <a:solidFill>
              <a:srgbClr val="01D7FB">
                <a:alpha val="15000"/>
              </a:srgbClr>
            </a:solidFill>
            <a:prstDash val="solid"/>
          </a:ln>
        </p:spPr>
      </p:sp>
      <p:sp>
        <p:nvSpPr>
          <p:cNvPr id="11" name="Text 7"/>
          <p:cNvSpPr/>
          <p:nvPr/>
        </p:nvSpPr>
        <p:spPr>
          <a:xfrm>
            <a:off x="2838896" y="1418481"/>
            <a:ext cx="1500188" cy="457200"/>
          </a:xfrm>
          <a:prstGeom prst="rect">
            <a:avLst/>
          </a:prstGeom>
          <a:ln/>
        </p:spPr>
        <p:txBody>
          <a:bodyPr wrap="square" lIns="0" tIns="0" rIns="0" bIns="0" rtlCol="0" anchor="t"/>
          <a:lstStyle/>
          <a:p>
            <a:pPr algn="ctr" indent="0" marL="0">
              <a:lnSpc>
                <a:spcPts val="3600"/>
              </a:lnSpc>
              <a:spcAft>
                <a:spcPts val="405"/>
              </a:spcAft>
              <a:buNone/>
            </a:pPr>
            <a:r>
              <a:rPr lang="en-US" sz="3600" b="1" dirty="0">
                <a:solidFill>
                  <a:srgbClr val="01D7FB"/>
                </a:solidFill>
                <a:latin typeface="Ubuntu" pitchFamily="34" charset="0"/>
                <a:ea typeface="Ubuntu" pitchFamily="34" charset="-122"/>
                <a:cs typeface="Ubuntu" pitchFamily="34" charset="-120"/>
              </a:rPr>
              <a:t>50K+</a:t>
            </a:r>
            <a:endParaRPr lang="en-US" sz="3600" dirty="0"/>
          </a:p>
        </p:txBody>
      </p:sp>
      <p:sp>
        <p:nvSpPr>
          <p:cNvPr id="12" name="Text 8"/>
          <p:cNvSpPr/>
          <p:nvPr/>
        </p:nvSpPr>
        <p:spPr>
          <a:xfrm>
            <a:off x="2838896" y="1927845"/>
            <a:ext cx="1500188" cy="190500"/>
          </a:xfrm>
          <a:prstGeom prst="rect">
            <a:avLst/>
          </a:prstGeom>
          <a:ln/>
        </p:spPr>
        <p:txBody>
          <a:bodyPr wrap="square" lIns="0" tIns="0" rIns="0" bIns="0" rtlCol="0" anchor="t"/>
          <a:lstStyle/>
          <a:p>
            <a:pPr algn="ctr" indent="0" marL="0">
              <a:lnSpc>
                <a:spcPts val="1512"/>
              </a:lnSpc>
              <a:buNone/>
            </a:pPr>
            <a:r>
              <a:rPr lang="en-US" sz="1000" dirty="0">
                <a:solidFill>
                  <a:srgbClr val="FFFFFF"/>
                </a:solidFill>
                <a:latin typeface="Ubuntu" pitchFamily="34" charset="0"/>
                <a:ea typeface="Ubuntu" pitchFamily="34" charset="-122"/>
                <a:cs typeface="Ubuntu" pitchFamily="34" charset="-120"/>
              </a:rPr>
              <a:t>Indexed stations</a:t>
            </a:r>
            <a:endParaRPr lang="en-US" sz="1000" dirty="0"/>
          </a:p>
        </p:txBody>
      </p:sp>
      <p:sp>
        <p:nvSpPr>
          <p:cNvPr id="13" name="Shape 9"/>
          <p:cNvSpPr/>
          <p:nvPr/>
        </p:nvSpPr>
        <p:spPr>
          <a:xfrm>
            <a:off x="4664348" y="1259198"/>
            <a:ext cx="1781175" cy="1019175"/>
          </a:xfrm>
          <a:prstGeom prst="roundRect">
            <a:avLst>
              <a:gd name="adj" fmla="val 9660"/>
            </a:avLst>
          </a:prstGeom>
          <a:solidFill>
            <a:srgbClr val="FFFFFF">
              <a:alpha val="3000"/>
            </a:srgbClr>
          </a:solidFill>
          <a:ln w="4763">
            <a:solidFill>
              <a:srgbClr val="FFFFFF">
                <a:alpha val="10000"/>
              </a:srgbClr>
            </a:solidFill>
            <a:prstDash val="solid"/>
          </a:ln>
        </p:spPr>
      </p:sp>
      <p:sp>
        <p:nvSpPr>
          <p:cNvPr id="14" name="Text 10"/>
          <p:cNvSpPr/>
          <p:nvPr/>
        </p:nvSpPr>
        <p:spPr>
          <a:xfrm>
            <a:off x="4804842" y="1418481"/>
            <a:ext cx="1500188" cy="457200"/>
          </a:xfrm>
          <a:prstGeom prst="rect">
            <a:avLst/>
          </a:prstGeom>
          <a:ln/>
        </p:spPr>
        <p:txBody>
          <a:bodyPr wrap="square" lIns="0" tIns="0" rIns="0" bIns="0" rtlCol="0" anchor="t"/>
          <a:lstStyle/>
          <a:p>
            <a:pPr algn="ctr" indent="0" marL="0">
              <a:lnSpc>
                <a:spcPts val="3600"/>
              </a:lnSpc>
              <a:spcAft>
                <a:spcPts val="405"/>
              </a:spcAft>
              <a:buNone/>
            </a:pPr>
            <a:r>
              <a:rPr lang="en-US" sz="3600" b="1" dirty="0">
                <a:solidFill>
                  <a:srgbClr val="FFFFFF"/>
                </a:solidFill>
                <a:latin typeface="Ubuntu" pitchFamily="34" charset="0"/>
                <a:ea typeface="Ubuntu" pitchFamily="34" charset="-122"/>
                <a:cs typeface="Ubuntu" pitchFamily="34" charset="-120"/>
              </a:rPr>
              <a:t>238</a:t>
            </a:r>
            <a:endParaRPr lang="en-US" sz="3600" dirty="0"/>
          </a:p>
        </p:txBody>
      </p:sp>
      <p:sp>
        <p:nvSpPr>
          <p:cNvPr id="15" name="Text 11"/>
          <p:cNvSpPr/>
          <p:nvPr/>
        </p:nvSpPr>
        <p:spPr>
          <a:xfrm>
            <a:off x="4804842" y="1927845"/>
            <a:ext cx="1500188" cy="190500"/>
          </a:xfrm>
          <a:prstGeom prst="rect">
            <a:avLst/>
          </a:prstGeom>
          <a:ln/>
        </p:spPr>
        <p:txBody>
          <a:bodyPr wrap="square" lIns="0" tIns="0" rIns="0" bIns="0" rtlCol="0" anchor="t"/>
          <a:lstStyle/>
          <a:p>
            <a:pPr algn="ctr" indent="0" marL="0">
              <a:lnSpc>
                <a:spcPts val="1512"/>
              </a:lnSpc>
              <a:buNone/>
            </a:pPr>
            <a:r>
              <a:rPr lang="en-US" sz="1000" dirty="0">
                <a:solidFill>
                  <a:srgbClr val="FFFFFF"/>
                </a:solidFill>
                <a:latin typeface="Ubuntu" pitchFamily="34" charset="0"/>
                <a:ea typeface="Ubuntu" pitchFamily="34" charset="-122"/>
                <a:cs typeface="Ubuntu" pitchFamily="34" charset="-120"/>
              </a:rPr>
              <a:t>Countries available</a:t>
            </a:r>
            <a:endParaRPr lang="en-US" sz="1000" dirty="0"/>
          </a:p>
        </p:txBody>
      </p:sp>
      <p:sp>
        <p:nvSpPr>
          <p:cNvPr id="16" name="Shape 12"/>
          <p:cNvSpPr/>
          <p:nvPr/>
        </p:nvSpPr>
        <p:spPr>
          <a:xfrm>
            <a:off x="6630330" y="1259198"/>
            <a:ext cx="1781175" cy="1019175"/>
          </a:xfrm>
          <a:prstGeom prst="roundRect">
            <a:avLst>
              <a:gd name="adj" fmla="val 9660"/>
            </a:avLst>
          </a:prstGeom>
          <a:solidFill>
            <a:srgbClr val="FFFFFF">
              <a:alpha val="3000"/>
            </a:srgbClr>
          </a:solidFill>
          <a:ln w="4763">
            <a:solidFill>
              <a:srgbClr val="FFFFFF">
                <a:alpha val="10000"/>
              </a:srgbClr>
            </a:solidFill>
            <a:prstDash val="solid"/>
          </a:ln>
        </p:spPr>
      </p:sp>
      <p:sp>
        <p:nvSpPr>
          <p:cNvPr id="17" name="Text 13"/>
          <p:cNvSpPr/>
          <p:nvPr/>
        </p:nvSpPr>
        <p:spPr>
          <a:xfrm>
            <a:off x="6770824" y="1418481"/>
            <a:ext cx="1500188" cy="457200"/>
          </a:xfrm>
          <a:prstGeom prst="rect">
            <a:avLst/>
          </a:prstGeom>
          <a:ln/>
        </p:spPr>
        <p:txBody>
          <a:bodyPr wrap="square" lIns="0" tIns="0" rIns="0" bIns="0" rtlCol="0" anchor="t"/>
          <a:lstStyle/>
          <a:p>
            <a:pPr algn="ctr" indent="0" marL="0">
              <a:lnSpc>
                <a:spcPts val="3600"/>
              </a:lnSpc>
              <a:spcAft>
                <a:spcPts val="405"/>
              </a:spcAft>
              <a:buNone/>
            </a:pPr>
            <a:r>
              <a:rPr lang="en-US" sz="3600" b="1" dirty="0">
                <a:solidFill>
                  <a:srgbClr val="FFFFFF"/>
                </a:solidFill>
                <a:latin typeface="Ubuntu" pitchFamily="34" charset="0"/>
                <a:ea typeface="Ubuntu" pitchFamily="34" charset="-122"/>
                <a:cs typeface="Ubuntu" pitchFamily="34" charset="-120"/>
              </a:rPr>
              <a:t>50</a:t>
            </a:r>
            <a:endParaRPr lang="en-US" sz="3600" dirty="0"/>
          </a:p>
        </p:txBody>
      </p:sp>
      <p:sp>
        <p:nvSpPr>
          <p:cNvPr id="18" name="Text 14"/>
          <p:cNvSpPr/>
          <p:nvPr/>
        </p:nvSpPr>
        <p:spPr>
          <a:xfrm>
            <a:off x="6770824" y="1927845"/>
            <a:ext cx="1500188" cy="190500"/>
          </a:xfrm>
          <a:prstGeom prst="rect">
            <a:avLst/>
          </a:prstGeom>
          <a:ln/>
        </p:spPr>
        <p:txBody>
          <a:bodyPr wrap="square" lIns="0" tIns="0" rIns="0" bIns="0" rtlCol="0" anchor="t"/>
          <a:lstStyle/>
          <a:p>
            <a:pPr algn="ctr" indent="0" marL="0">
              <a:lnSpc>
                <a:spcPts val="1512"/>
              </a:lnSpc>
              <a:buNone/>
            </a:pPr>
            <a:r>
              <a:rPr lang="en-US" sz="1000" dirty="0">
                <a:solidFill>
                  <a:srgbClr val="FFFFFF"/>
                </a:solidFill>
                <a:latin typeface="Ubuntu" pitchFamily="34" charset="0"/>
                <a:ea typeface="Ubuntu" pitchFamily="34" charset="-122"/>
                <a:cs typeface="Ubuntu" pitchFamily="34" charset="-120"/>
              </a:rPr>
              <a:t>UI languages</a:t>
            </a:r>
            <a:endParaRPr lang="en-US" sz="1000" dirty="0"/>
          </a:p>
        </p:txBody>
      </p:sp>
      <p:sp>
        <p:nvSpPr>
          <p:cNvPr id="19" name="Text 15"/>
          <p:cNvSpPr/>
          <p:nvPr/>
        </p:nvSpPr>
        <p:spPr>
          <a:xfrm>
            <a:off x="731044" y="2483048"/>
            <a:ext cx="7681912" cy="152400"/>
          </a:xfrm>
          <a:prstGeom prst="rect">
            <a:avLst/>
          </a:prstGeom>
          <a:ln/>
        </p:spPr>
        <p:txBody>
          <a:bodyPr wrap="square" lIns="0" tIns="0" rIns="0" bIns="0" rtlCol="0" anchor="t"/>
          <a:lstStyle/>
          <a:p>
            <a:pPr algn="l" indent="0" marL="0">
              <a:lnSpc>
                <a:spcPts val="1188"/>
              </a:lnSpc>
              <a:spcAft>
                <a:spcPts val="203"/>
              </a:spcAft>
              <a:buNone/>
            </a:pPr>
            <a:r>
              <a:rPr lang="en-US" sz="700" b="1" dirty="0">
                <a:solidFill>
                  <a:srgbClr val="FFFFFF"/>
                </a:solidFill>
                <a:latin typeface="Ubuntu" pitchFamily="34" charset="0"/>
                <a:ea typeface="Ubuntu" pitchFamily="34" charset="-122"/>
                <a:cs typeface="Ubuntu" pitchFamily="34" charset="-120"/>
              </a:rPr>
              <a:t>MILESTONES</a:t>
            </a:r>
            <a:endParaRPr lang="en-US" sz="700" dirty="0"/>
          </a:p>
        </p:txBody>
      </p:sp>
      <p:sp>
        <p:nvSpPr>
          <p:cNvPr id="20" name="Text 16"/>
          <p:cNvSpPr/>
          <p:nvPr/>
        </p:nvSpPr>
        <p:spPr>
          <a:xfrm>
            <a:off x="731490" y="2752167"/>
            <a:ext cx="914400" cy="176212"/>
          </a:xfrm>
          <a:prstGeom prst="rect">
            <a:avLst/>
          </a:prstGeom>
          <a:ln/>
        </p:spPr>
        <p:txBody>
          <a:bodyPr wrap="square" lIns="0" tIns="0" rIns="0" bIns="0" rtlCol="0" anchor="t"/>
          <a:lstStyle/>
          <a:p>
            <a:pPr algn="l" indent="0" marL="0">
              <a:lnSpc>
                <a:spcPts val="1404"/>
              </a:lnSpc>
              <a:buNone/>
            </a:pPr>
            <a:r>
              <a:rPr lang="en-US" sz="900" b="1" dirty="0">
                <a:solidFill>
                  <a:srgbClr val="FF4199"/>
                </a:solidFill>
                <a:latin typeface="Ubuntu" pitchFamily="34" charset="0"/>
                <a:ea typeface="Ubuntu" pitchFamily="34" charset="-122"/>
                <a:cs typeface="Ubuntu" pitchFamily="34" charset="-120"/>
              </a:rPr>
              <a:t>Q1 2025</a:t>
            </a:r>
            <a:endParaRPr lang="en-US" sz="900" dirty="0"/>
          </a:p>
        </p:txBody>
      </p:sp>
      <p:sp>
        <p:nvSpPr>
          <p:cNvPr id="21" name="Shape 17"/>
          <p:cNvSpPr/>
          <p:nvPr/>
        </p:nvSpPr>
        <p:spPr>
          <a:xfrm>
            <a:off x="1828986" y="2837929"/>
            <a:ext cx="2628900" cy="4763"/>
          </a:xfrm>
          <a:prstGeom prst="rect">
            <a:avLst/>
          </a:prstGeom>
          <a:solidFill>
            <a:srgbClr val="FF4199">
              <a:alpha val="20000"/>
            </a:srgbClr>
          </a:solidFill>
          <a:ln/>
        </p:spPr>
      </p:sp>
      <p:sp>
        <p:nvSpPr>
          <p:cNvPr id="22" name="Text 18"/>
          <p:cNvSpPr/>
          <p:nvPr/>
        </p:nvSpPr>
        <p:spPr>
          <a:xfrm>
            <a:off x="4640796" y="2737917"/>
            <a:ext cx="3771900" cy="204787"/>
          </a:xfrm>
          <a:prstGeom prst="rect">
            <a:avLst/>
          </a:prstGeom>
          <a:ln/>
        </p:spPr>
        <p:txBody>
          <a:bodyPr wrap="square" lIns="0" tIns="0" rIns="0" bIns="0" rtlCol="0" anchor="t"/>
          <a:lstStyle/>
          <a:p>
            <a:pPr algn="l" indent="0" marL="0">
              <a:lnSpc>
                <a:spcPts val="1620"/>
              </a:lnSpc>
              <a:buNone/>
            </a:pPr>
            <a:r>
              <a:rPr lang="en-US" sz="1000" dirty="0">
                <a:solidFill>
                  <a:srgbClr val="FFFFFF"/>
                </a:solidFill>
                <a:latin typeface="Ubuntu" pitchFamily="34" charset="0"/>
                <a:ea typeface="Ubuntu" pitchFamily="34" charset="-122"/>
                <a:cs typeface="Ubuntu" pitchFamily="34" charset="-120"/>
              </a:rPr>
              <a:t>Samsung Tizen app deployed to Samsung Smart Hub globally</a:t>
            </a:r>
            <a:endParaRPr lang="en-US" sz="1000" dirty="0"/>
          </a:p>
        </p:txBody>
      </p:sp>
      <p:sp>
        <p:nvSpPr>
          <p:cNvPr id="23" name="Text 19"/>
          <p:cNvSpPr/>
          <p:nvPr/>
        </p:nvSpPr>
        <p:spPr>
          <a:xfrm>
            <a:off x="731490" y="3034940"/>
            <a:ext cx="914400" cy="176212"/>
          </a:xfrm>
          <a:prstGeom prst="rect">
            <a:avLst/>
          </a:prstGeom>
          <a:ln/>
        </p:spPr>
        <p:txBody>
          <a:bodyPr wrap="square" lIns="0" tIns="0" rIns="0" bIns="0" rtlCol="0" anchor="t"/>
          <a:lstStyle/>
          <a:p>
            <a:pPr algn="l" indent="0" marL="0">
              <a:lnSpc>
                <a:spcPts val="1404"/>
              </a:lnSpc>
              <a:buNone/>
            </a:pPr>
            <a:r>
              <a:rPr lang="en-US" sz="900" b="1" dirty="0">
                <a:solidFill>
                  <a:srgbClr val="FF4199"/>
                </a:solidFill>
                <a:latin typeface="Ubuntu" pitchFamily="34" charset="0"/>
                <a:ea typeface="Ubuntu" pitchFamily="34" charset="-122"/>
                <a:cs typeface="Ubuntu" pitchFamily="34" charset="-120"/>
              </a:rPr>
              <a:t>Q2 2025</a:t>
            </a:r>
            <a:endParaRPr lang="en-US" sz="900" dirty="0"/>
          </a:p>
        </p:txBody>
      </p:sp>
      <p:sp>
        <p:nvSpPr>
          <p:cNvPr id="24" name="Shape 20"/>
          <p:cNvSpPr/>
          <p:nvPr/>
        </p:nvSpPr>
        <p:spPr>
          <a:xfrm>
            <a:off x="1829581" y="3120703"/>
            <a:ext cx="3109913" cy="4763"/>
          </a:xfrm>
          <a:prstGeom prst="rect">
            <a:avLst/>
          </a:prstGeom>
          <a:solidFill>
            <a:srgbClr val="FF4199">
              <a:alpha val="20000"/>
            </a:srgbClr>
          </a:solidFill>
          <a:ln/>
        </p:spPr>
      </p:sp>
      <p:sp>
        <p:nvSpPr>
          <p:cNvPr id="25" name="Text 21"/>
          <p:cNvSpPr/>
          <p:nvPr/>
        </p:nvSpPr>
        <p:spPr>
          <a:xfrm>
            <a:off x="5122404" y="3020690"/>
            <a:ext cx="3290887" cy="204787"/>
          </a:xfrm>
          <a:prstGeom prst="rect">
            <a:avLst/>
          </a:prstGeom>
          <a:ln/>
        </p:spPr>
        <p:txBody>
          <a:bodyPr wrap="square" lIns="0" tIns="0" rIns="0" bIns="0" rtlCol="0" anchor="t"/>
          <a:lstStyle/>
          <a:p>
            <a:pPr algn="l" indent="0" marL="0">
              <a:lnSpc>
                <a:spcPts val="1620"/>
              </a:lnSpc>
              <a:buNone/>
            </a:pPr>
            <a:r>
              <a:rPr lang="en-US" sz="1000" dirty="0">
                <a:solidFill>
                  <a:srgbClr val="FFFFFF"/>
                </a:solidFill>
                <a:latin typeface="Ubuntu" pitchFamily="34" charset="0"/>
                <a:ea typeface="Ubuntu" pitchFamily="34" charset="-122"/>
                <a:cs typeface="Ubuntu" pitchFamily="34" charset="-120"/>
              </a:rPr>
              <a:t>LG webOS launch · 50 language localization complete</a:t>
            </a:r>
            <a:endParaRPr lang="en-US" sz="1000" dirty="0"/>
          </a:p>
        </p:txBody>
      </p:sp>
      <p:sp>
        <p:nvSpPr>
          <p:cNvPr id="26" name="Text 22"/>
          <p:cNvSpPr/>
          <p:nvPr/>
        </p:nvSpPr>
        <p:spPr>
          <a:xfrm>
            <a:off x="731490" y="3317714"/>
            <a:ext cx="914400" cy="176212"/>
          </a:xfrm>
          <a:prstGeom prst="rect">
            <a:avLst/>
          </a:prstGeom>
          <a:ln/>
        </p:spPr>
        <p:txBody>
          <a:bodyPr wrap="square" lIns="0" tIns="0" rIns="0" bIns="0" rtlCol="0" anchor="t"/>
          <a:lstStyle/>
          <a:p>
            <a:pPr algn="l" indent="0" marL="0">
              <a:lnSpc>
                <a:spcPts val="1404"/>
              </a:lnSpc>
              <a:buNone/>
            </a:pPr>
            <a:r>
              <a:rPr lang="en-US" sz="900" b="1" dirty="0">
                <a:solidFill>
                  <a:srgbClr val="FF4199"/>
                </a:solidFill>
                <a:latin typeface="Ubuntu" pitchFamily="34" charset="0"/>
                <a:ea typeface="Ubuntu" pitchFamily="34" charset="-122"/>
                <a:cs typeface="Ubuntu" pitchFamily="34" charset="-120"/>
              </a:rPr>
              <a:t>Q2 2025</a:t>
            </a:r>
            <a:endParaRPr lang="en-US" sz="900" dirty="0"/>
          </a:p>
        </p:txBody>
      </p:sp>
      <p:sp>
        <p:nvSpPr>
          <p:cNvPr id="27" name="Shape 23"/>
          <p:cNvSpPr/>
          <p:nvPr/>
        </p:nvSpPr>
        <p:spPr>
          <a:xfrm>
            <a:off x="1827684" y="3403476"/>
            <a:ext cx="3009900" cy="4763"/>
          </a:xfrm>
          <a:prstGeom prst="rect">
            <a:avLst/>
          </a:prstGeom>
          <a:solidFill>
            <a:srgbClr val="FF4199">
              <a:alpha val="20000"/>
            </a:srgbClr>
          </a:solidFill>
          <a:ln/>
        </p:spPr>
      </p:sp>
      <p:sp>
        <p:nvSpPr>
          <p:cNvPr id="28" name="Text 24"/>
          <p:cNvSpPr/>
          <p:nvPr/>
        </p:nvSpPr>
        <p:spPr>
          <a:xfrm>
            <a:off x="5020494" y="3303463"/>
            <a:ext cx="3390900" cy="204787"/>
          </a:xfrm>
          <a:prstGeom prst="rect">
            <a:avLst/>
          </a:prstGeom>
          <a:ln/>
        </p:spPr>
        <p:txBody>
          <a:bodyPr wrap="square" lIns="0" tIns="0" rIns="0" bIns="0" rtlCol="0" anchor="t"/>
          <a:lstStyle/>
          <a:p>
            <a:pPr algn="l" indent="0" marL="0">
              <a:lnSpc>
                <a:spcPts val="1620"/>
              </a:lnSpc>
              <a:buNone/>
            </a:pPr>
            <a:r>
              <a:rPr lang="en-US" sz="1000" dirty="0">
                <a:solidFill>
                  <a:srgbClr val="FFFFFF"/>
                </a:solidFill>
                <a:latin typeface="Ubuntu" pitchFamily="34" charset="0"/>
                <a:ea typeface="Ubuntu" pitchFamily="34" charset="-122"/>
                <a:cs typeface="Ubuntu" pitchFamily="34" charset="-120"/>
              </a:rPr>
              <a:t>Device-code OAuth auth system live · cross-device sync</a:t>
            </a:r>
            <a:endParaRPr lang="en-US" sz="1000" dirty="0"/>
          </a:p>
        </p:txBody>
      </p:sp>
      <p:sp>
        <p:nvSpPr>
          <p:cNvPr id="29" name="Text 25"/>
          <p:cNvSpPr/>
          <p:nvPr/>
        </p:nvSpPr>
        <p:spPr>
          <a:xfrm>
            <a:off x="731490" y="3600487"/>
            <a:ext cx="914400" cy="176212"/>
          </a:xfrm>
          <a:prstGeom prst="rect">
            <a:avLst/>
          </a:prstGeom>
          <a:ln/>
        </p:spPr>
        <p:txBody>
          <a:bodyPr wrap="square" lIns="0" tIns="0" rIns="0" bIns="0" rtlCol="0" anchor="t"/>
          <a:lstStyle/>
          <a:p>
            <a:pPr algn="l" indent="0" marL="0">
              <a:lnSpc>
                <a:spcPts val="1404"/>
              </a:lnSpc>
              <a:buNone/>
            </a:pPr>
            <a:r>
              <a:rPr lang="en-US" sz="900" b="1" dirty="0">
                <a:solidFill>
                  <a:srgbClr val="01D7FB"/>
                </a:solidFill>
                <a:latin typeface="Ubuntu" pitchFamily="34" charset="0"/>
                <a:ea typeface="Ubuntu" pitchFamily="34" charset="-122"/>
                <a:cs typeface="Ubuntu" pitchFamily="34" charset="-120"/>
              </a:rPr>
              <a:t>Q3 2025</a:t>
            </a:r>
            <a:endParaRPr lang="en-US" sz="900" dirty="0"/>
          </a:p>
        </p:txBody>
      </p:sp>
      <p:sp>
        <p:nvSpPr>
          <p:cNvPr id="30" name="Shape 26"/>
          <p:cNvSpPr/>
          <p:nvPr/>
        </p:nvSpPr>
        <p:spPr>
          <a:xfrm>
            <a:off x="1827981" y="3686249"/>
            <a:ext cx="3005137" cy="4763"/>
          </a:xfrm>
          <a:prstGeom prst="rect">
            <a:avLst/>
          </a:prstGeom>
          <a:solidFill>
            <a:srgbClr val="01D7FB">
              <a:alpha val="15000"/>
            </a:srgbClr>
          </a:solidFill>
          <a:ln/>
        </p:spPr>
      </p:sp>
      <p:sp>
        <p:nvSpPr>
          <p:cNvPr id="31" name="Text 27"/>
          <p:cNvSpPr/>
          <p:nvPr/>
        </p:nvSpPr>
        <p:spPr>
          <a:xfrm>
            <a:off x="5016029" y="3586237"/>
            <a:ext cx="3395663" cy="204787"/>
          </a:xfrm>
          <a:prstGeom prst="rect">
            <a:avLst/>
          </a:prstGeom>
          <a:ln/>
        </p:spPr>
        <p:txBody>
          <a:bodyPr wrap="square" lIns="0" tIns="0" rIns="0" bIns="0" rtlCol="0" anchor="t"/>
          <a:lstStyle/>
          <a:p>
            <a:pPr algn="l" indent="0" marL="0">
              <a:lnSpc>
                <a:spcPts val="1620"/>
              </a:lnSpc>
              <a:buNone/>
            </a:pPr>
            <a:r>
              <a:rPr lang="en-US" sz="1000" dirty="0">
                <a:solidFill>
                  <a:srgbClr val="FFFFFF"/>
                </a:solidFill>
                <a:latin typeface="Ubuntu" pitchFamily="34" charset="0"/>
                <a:ea typeface="Ubuntu" pitchFamily="34" charset="-122"/>
                <a:cs typeface="Ubuntu" pitchFamily="34" charset="-120"/>
              </a:rPr>
              <a:t>Apple TV + Android TV · B2B pilot with first hotel chain</a:t>
            </a:r>
            <a:endParaRPr lang="en-US" sz="1000" dirty="0"/>
          </a:p>
        </p:txBody>
      </p:sp>
      <p:sp>
        <p:nvSpPr>
          <p:cNvPr id="32" name="Text 28"/>
          <p:cNvSpPr/>
          <p:nvPr/>
        </p:nvSpPr>
        <p:spPr>
          <a:xfrm>
            <a:off x="731490" y="3883261"/>
            <a:ext cx="914400" cy="176212"/>
          </a:xfrm>
          <a:prstGeom prst="rect">
            <a:avLst/>
          </a:prstGeom>
          <a:ln/>
        </p:spPr>
        <p:txBody>
          <a:bodyPr wrap="square" lIns="0" tIns="0" rIns="0" bIns="0" rtlCol="0" anchor="t"/>
          <a:lstStyle/>
          <a:p>
            <a:pPr algn="l" indent="0" marL="0">
              <a:lnSpc>
                <a:spcPts val="1404"/>
              </a:lnSpc>
              <a:buNone/>
            </a:pPr>
            <a:r>
              <a:rPr lang="en-US" sz="900" b="1" dirty="0">
                <a:solidFill>
                  <a:srgbClr val="FFFFFF"/>
                </a:solidFill>
                <a:latin typeface="Ubuntu" pitchFamily="34" charset="0"/>
                <a:ea typeface="Ubuntu" pitchFamily="34" charset="-122"/>
                <a:cs typeface="Ubuntu" pitchFamily="34" charset="-120"/>
              </a:rPr>
              <a:t>Q4 2025</a:t>
            </a:r>
            <a:endParaRPr lang="en-US" sz="900" dirty="0"/>
          </a:p>
        </p:txBody>
      </p:sp>
      <p:sp>
        <p:nvSpPr>
          <p:cNvPr id="33" name="Shape 29"/>
          <p:cNvSpPr/>
          <p:nvPr/>
        </p:nvSpPr>
        <p:spPr>
          <a:xfrm>
            <a:off x="1828354" y="3969023"/>
            <a:ext cx="2819400" cy="4763"/>
          </a:xfrm>
          <a:prstGeom prst="rect">
            <a:avLst/>
          </a:prstGeom>
          <a:solidFill>
            <a:srgbClr val="FFFFFF">
              <a:alpha val="6000"/>
            </a:srgbClr>
          </a:solidFill>
          <a:ln/>
        </p:spPr>
      </p:sp>
      <p:sp>
        <p:nvSpPr>
          <p:cNvPr id="34" name="Text 30"/>
          <p:cNvSpPr/>
          <p:nvPr/>
        </p:nvSpPr>
        <p:spPr>
          <a:xfrm>
            <a:off x="4830663" y="3869010"/>
            <a:ext cx="3581400" cy="204787"/>
          </a:xfrm>
          <a:prstGeom prst="rect">
            <a:avLst/>
          </a:prstGeom>
          <a:ln/>
        </p:spPr>
        <p:txBody>
          <a:bodyPr wrap="square" lIns="0" tIns="0" rIns="0" bIns="0" rtlCol="0" anchor="t"/>
          <a:lstStyle/>
          <a:p>
            <a:pPr algn="l" indent="0" marL="0">
              <a:lnSpc>
                <a:spcPts val="1620"/>
              </a:lnSpc>
              <a:buNone/>
            </a:pPr>
            <a:r>
              <a:rPr lang="en-US" sz="1000" dirty="0">
                <a:solidFill>
                  <a:srgbClr val="FFFFFF"/>
                </a:solidFill>
                <a:latin typeface="Ubuntu" pitchFamily="34" charset="0"/>
                <a:ea typeface="Ubuntu" pitchFamily="34" charset="-122"/>
                <a:cs typeface="Ubuntu" pitchFamily="34" charset="-120"/>
              </a:rPr>
              <a:t>Premium subscription launch · programmatic ad inventory</a:t>
            </a:r>
            <a:endParaRPr lang="en-US" sz="1000" dirty="0"/>
          </a:p>
        </p:txBody>
      </p:sp>
      <p:sp>
        <p:nvSpPr>
          <p:cNvPr id="35" name="Text 31"/>
          <p:cNvSpPr/>
          <p:nvPr/>
        </p:nvSpPr>
        <p:spPr>
          <a:xfrm>
            <a:off x="0" y="4781848"/>
            <a:ext cx="9144000" cy="361950"/>
          </a:xfrm>
          <a:prstGeom prst="rect">
            <a:avLst/>
          </a:prstGeom>
          <a:ln/>
        </p:spPr>
        <p:txBody>
          <a:bodyPr wrap="square" lIns="0" tIns="0" rIns="0" bIns="0" rtlCol="0" anchor="t"/>
          <a:lstStyle/>
          <a:p>
            <a:pPr algn="l" indent="0" marL="0">
              <a:lnSpc>
                <a:spcPts val="1188"/>
              </a:lnSpc>
              <a:buNone/>
            </a:pPr>
            <a:r>
              <a:rPr lang="en-US" sz="700" dirty="0">
                <a:solidFill>
                  <a:srgbClr val="FFFFFF"/>
                </a:solidFill>
                <a:latin typeface="Ubuntu" pitchFamily="34" charset="0"/>
                <a:ea typeface="Ubuntu" pitchFamily="34" charset="-122"/>
                <a:cs typeface="Ubuntu" pitchFamily="34" charset="-120"/>
              </a:rPr>
              <a:t>RADIO MEGA</a:t>
            </a:r>
            <a:pPr algn="l" indent="0" marL="0">
              <a:lnSpc>
                <a:spcPts val="1188"/>
              </a:lnSpc>
              <a:buNone/>
            </a:pPr>
            <a:r>
              <a:rPr lang="en-US" sz="700" dirty="0">
                <a:solidFill>
                  <a:srgbClr val="FFFFFF"/>
                </a:solidFill>
                <a:latin typeface="Ubuntu" pitchFamily="34" charset="0"/>
                <a:ea typeface="Ubuntu" pitchFamily="34" charset="-122"/>
                <a:cs typeface="Ubuntu" pitchFamily="34" charset="-120"/>
              </a:rPr>
              <a:t>11 / 18</a:t>
            </a:r>
            <a:endParaRPr lang="en-US" sz="700" dirty="0"/>
          </a:p>
        </p:txBody>
      </p:sp>
      <p:pic>
        <p:nvPicPr>
          <p:cNvPr id="36"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0" y="4781848"/>
            <a:ext cx="9144000" cy="36195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E0E0E"/>
          </a:solidFill>
          <a:ln/>
        </p:spPr>
      </p:sp>
      <p:pic>
        <p:nvPicPr>
          <p:cNvPr id="3"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0" y="0"/>
            <a:ext cx="9144000" cy="5143500"/>
          </a:xfrm>
          <a:prstGeom prst="rect">
            <a:avLst/>
          </a:prstGeom>
        </p:spPr>
      </p:pic>
      <p:pic>
        <p:nvPicPr>
          <p:cNvPr id="4"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62890" y="1880235"/>
            <a:ext cx="3726180" cy="3726180"/>
          </a:xfrm>
          <a:prstGeom prst="rect">
            <a:avLst/>
          </a:prstGeom>
        </p:spPr>
      </p:pic>
      <p:sp>
        <p:nvSpPr>
          <p:cNvPr id="5" name="Text 1"/>
          <p:cNvSpPr/>
          <p:nvPr/>
        </p:nvSpPr>
        <p:spPr>
          <a:xfrm>
            <a:off x="730523" y="293377"/>
            <a:ext cx="3476625" cy="138113"/>
          </a:xfrm>
          <a:prstGeom prst="rect">
            <a:avLst/>
          </a:prstGeom>
          <a:ln/>
        </p:spPr>
        <p:txBody>
          <a:bodyPr wrap="square" lIns="0" tIns="0" rIns="0" bIns="0" rtlCol="0" anchor="t"/>
          <a:lstStyle/>
          <a:p>
            <a:pPr algn="l" indent="0" marL="0">
              <a:lnSpc>
                <a:spcPts val="1080"/>
              </a:lnSpc>
              <a:spcAft>
                <a:spcPts val="810"/>
              </a:spcAft>
              <a:buNone/>
            </a:pPr>
            <a:r>
              <a:rPr lang="en-US" sz="700" b="1" dirty="0">
                <a:solidFill>
                  <a:srgbClr val="01D7FB"/>
                </a:solidFill>
                <a:latin typeface="Ubuntu" pitchFamily="34" charset="0"/>
                <a:ea typeface="Ubuntu" pitchFamily="34" charset="-122"/>
                <a:cs typeface="Ubuntu" pitchFamily="34" charset="-120"/>
              </a:rPr>
              <a:t>UNIT ECONOMICS</a:t>
            </a:r>
            <a:endParaRPr lang="en-US" sz="700" dirty="0"/>
          </a:p>
        </p:txBody>
      </p:sp>
      <p:sp>
        <p:nvSpPr>
          <p:cNvPr id="6" name="Text 2"/>
          <p:cNvSpPr/>
          <p:nvPr/>
        </p:nvSpPr>
        <p:spPr>
          <a:xfrm>
            <a:off x="730523" y="534814"/>
            <a:ext cx="3476625" cy="1204913"/>
          </a:xfrm>
          <a:prstGeom prst="rect">
            <a:avLst/>
          </a:prstGeom>
          <a:ln/>
        </p:spPr>
        <p:txBody>
          <a:bodyPr wrap="square" lIns="0" tIns="0" rIns="0" bIns="0" rtlCol="0" anchor="t"/>
          <a:lstStyle/>
          <a:p>
            <a:pPr algn="l" indent="0" marL="0">
              <a:lnSpc>
                <a:spcPts val="3168"/>
              </a:lnSpc>
              <a:spcAft>
                <a:spcPts val="1620"/>
              </a:spcAft>
              <a:buNone/>
            </a:pPr>
            <a:r>
              <a:rPr lang="en-US" sz="2800" b="1" dirty="0">
                <a:solidFill>
                  <a:srgbClr val="FFFFFF"/>
                </a:solidFill>
                <a:latin typeface="Ubuntu" pitchFamily="34" charset="0"/>
                <a:ea typeface="Ubuntu" pitchFamily="34" charset="-122"/>
                <a:cs typeface="Ubuntu" pitchFamily="34" charset="-120"/>
              </a:rPr>
              <a:t>Strong fundamentals from day one</a:t>
            </a:r>
            <a:endParaRPr lang="en-US" sz="2800" dirty="0"/>
          </a:p>
        </p:txBody>
      </p:sp>
      <p:sp>
        <p:nvSpPr>
          <p:cNvPr id="7" name="Shape 3"/>
          <p:cNvSpPr/>
          <p:nvPr/>
        </p:nvSpPr>
        <p:spPr>
          <a:xfrm>
            <a:off x="730523" y="1946858"/>
            <a:ext cx="3476625" cy="881063"/>
          </a:xfrm>
          <a:prstGeom prst="roundRect">
            <a:avLst>
              <a:gd name="adj" fmla="val 10771"/>
            </a:avLst>
          </a:prstGeom>
          <a:solidFill>
            <a:srgbClr val="FF4199">
              <a:alpha val="6000"/>
            </a:srgbClr>
          </a:solidFill>
          <a:ln w="4763">
            <a:solidFill>
              <a:srgbClr val="FF4199">
                <a:alpha val="15000"/>
              </a:srgbClr>
            </a:solidFill>
            <a:prstDash val="solid"/>
          </a:ln>
        </p:spPr>
      </p:sp>
      <p:sp>
        <p:nvSpPr>
          <p:cNvPr id="8" name="Text 4"/>
          <p:cNvSpPr/>
          <p:nvPr/>
        </p:nvSpPr>
        <p:spPr>
          <a:xfrm>
            <a:off x="965783" y="2080729"/>
            <a:ext cx="1419225" cy="176212"/>
          </a:xfrm>
          <a:prstGeom prst="rect">
            <a:avLst/>
          </a:prstGeom>
          <a:ln/>
        </p:spPr>
        <p:txBody>
          <a:bodyPr wrap="square" lIns="0" tIns="0" rIns="0" bIns="0" rtlCol="0" anchor="t"/>
          <a:lstStyle/>
          <a:p>
            <a:pPr algn="l" indent="0" marL="0">
              <a:lnSpc>
                <a:spcPts val="1404"/>
              </a:lnSpc>
              <a:spcAft>
                <a:spcPts val="203"/>
              </a:spcAft>
              <a:buNone/>
            </a:pPr>
            <a:r>
              <a:rPr lang="en-US" sz="900" dirty="0">
                <a:solidFill>
                  <a:srgbClr val="FFFFFF"/>
                </a:solidFill>
                <a:latin typeface="Ubuntu" pitchFamily="34" charset="0"/>
                <a:ea typeface="Ubuntu" pitchFamily="34" charset="-122"/>
                <a:cs typeface="Ubuntu" pitchFamily="34" charset="-120"/>
              </a:rPr>
              <a:t>Customer Acquisition Cost</a:t>
            </a:r>
            <a:endParaRPr lang="en-US" sz="900" dirty="0"/>
          </a:p>
        </p:txBody>
      </p:sp>
      <p:sp>
        <p:nvSpPr>
          <p:cNvPr id="9" name="Text 5"/>
          <p:cNvSpPr/>
          <p:nvPr/>
        </p:nvSpPr>
        <p:spPr>
          <a:xfrm>
            <a:off x="965783" y="2284549"/>
            <a:ext cx="1419225" cy="409575"/>
          </a:xfrm>
          <a:prstGeom prst="rect">
            <a:avLst/>
          </a:prstGeom>
          <a:ln/>
        </p:spPr>
        <p:txBody>
          <a:bodyPr wrap="square" lIns="0" tIns="0" rIns="0" bIns="0" rtlCol="0" anchor="t"/>
          <a:lstStyle/>
          <a:p>
            <a:pPr algn="l" indent="0" marL="0">
              <a:lnSpc>
                <a:spcPts val="3240"/>
              </a:lnSpc>
              <a:buNone/>
            </a:pPr>
            <a:r>
              <a:rPr lang="en-US" sz="2100" b="1" dirty="0">
                <a:solidFill>
                  <a:srgbClr val="FF4199"/>
                </a:solidFill>
                <a:latin typeface="Ubuntu" pitchFamily="34" charset="0"/>
                <a:ea typeface="Ubuntu" pitchFamily="34" charset="-122"/>
                <a:cs typeface="Ubuntu" pitchFamily="34" charset="-120"/>
              </a:rPr>
              <a:t>$1.80</a:t>
            </a:r>
            <a:endParaRPr lang="en-US" sz="2100" dirty="0"/>
          </a:p>
        </p:txBody>
      </p:sp>
      <p:sp>
        <p:nvSpPr>
          <p:cNvPr id="10" name="Text 6"/>
          <p:cNvSpPr/>
          <p:nvPr/>
        </p:nvSpPr>
        <p:spPr>
          <a:xfrm>
            <a:off x="2830860" y="2080617"/>
            <a:ext cx="1143000" cy="300038"/>
          </a:xfrm>
          <a:prstGeom prst="rect">
            <a:avLst/>
          </a:prstGeom>
          <a:ln/>
        </p:spPr>
        <p:txBody>
          <a:bodyPr wrap="square" lIns="0" tIns="0" rIns="0" bIns="0" rtlCol="0" anchor="t"/>
          <a:lstStyle/>
          <a:p>
            <a:pPr algn="r" indent="0" marL="0">
              <a:lnSpc>
                <a:spcPts val="1188"/>
              </a:lnSpc>
              <a:buNone/>
            </a:pPr>
            <a:r>
              <a:rPr lang="en-US" sz="700" dirty="0">
                <a:solidFill>
                  <a:srgbClr val="FFFFFF"/>
                </a:solidFill>
                <a:latin typeface="Ubuntu" pitchFamily="34" charset="0"/>
                <a:ea typeface="Ubuntu" pitchFamily="34" charset="-122"/>
                <a:cs typeface="Ubuntu" pitchFamily="34" charset="-120"/>
              </a:rPr>
              <a:t>Organic app store</a:t>
            </a:r>
            <a:pPr algn="r" indent="0" marL="0">
              <a:buNone/>
            </a:pPr>
            <a:endParaRPr lang="en-US" sz="700" dirty="0"/>
          </a:p>
          <a:p>
            <a:pPr algn="r" indent="0" marL="0">
              <a:lnSpc>
                <a:spcPts val="1188"/>
              </a:lnSpc>
              <a:buNone/>
            </a:pPr>
            <a:r>
              <a:rPr lang="en-US" sz="700" dirty="0">
                <a:solidFill>
                  <a:srgbClr val="FFFFFF"/>
                </a:solidFill>
                <a:latin typeface="Ubuntu" pitchFamily="34" charset="0"/>
                <a:ea typeface="Ubuntu" pitchFamily="34" charset="-122"/>
                <a:cs typeface="Ubuntu" pitchFamily="34" charset="-120"/>
              </a:rPr>
              <a:t>discovery + TV pre-install</a:t>
            </a:r>
            <a:endParaRPr lang="en-US" sz="700" dirty="0"/>
          </a:p>
        </p:txBody>
      </p:sp>
      <p:sp>
        <p:nvSpPr>
          <p:cNvPr id="11" name="Shape 7"/>
          <p:cNvSpPr/>
          <p:nvPr/>
        </p:nvSpPr>
        <p:spPr>
          <a:xfrm>
            <a:off x="730523" y="2957475"/>
            <a:ext cx="3476625" cy="881063"/>
          </a:xfrm>
          <a:prstGeom prst="roundRect">
            <a:avLst>
              <a:gd name="adj" fmla="val 10771"/>
            </a:avLst>
          </a:prstGeom>
          <a:solidFill>
            <a:srgbClr val="01D7FB">
              <a:alpha val="4000"/>
            </a:srgbClr>
          </a:solidFill>
          <a:ln w="4763">
            <a:solidFill>
              <a:srgbClr val="01D7FB">
                <a:alpha val="12000"/>
              </a:srgbClr>
            </a:solidFill>
            <a:prstDash val="solid"/>
          </a:ln>
        </p:spPr>
      </p:sp>
      <p:sp>
        <p:nvSpPr>
          <p:cNvPr id="12" name="Text 8"/>
          <p:cNvSpPr/>
          <p:nvPr/>
        </p:nvSpPr>
        <p:spPr>
          <a:xfrm>
            <a:off x="964667" y="3091346"/>
            <a:ext cx="1371600" cy="176212"/>
          </a:xfrm>
          <a:prstGeom prst="rect">
            <a:avLst/>
          </a:prstGeom>
          <a:ln/>
        </p:spPr>
        <p:txBody>
          <a:bodyPr wrap="square" lIns="0" tIns="0" rIns="0" bIns="0" rtlCol="0" anchor="t"/>
          <a:lstStyle/>
          <a:p>
            <a:pPr algn="l" indent="0" marL="0">
              <a:lnSpc>
                <a:spcPts val="1404"/>
              </a:lnSpc>
              <a:spcAft>
                <a:spcPts val="203"/>
              </a:spcAft>
              <a:buNone/>
            </a:pPr>
            <a:r>
              <a:rPr lang="en-US" sz="900" dirty="0">
                <a:solidFill>
                  <a:srgbClr val="FFFFFF"/>
                </a:solidFill>
                <a:latin typeface="Ubuntu" pitchFamily="34" charset="0"/>
                <a:ea typeface="Ubuntu" pitchFamily="34" charset="-122"/>
                <a:cs typeface="Ubuntu" pitchFamily="34" charset="-120"/>
              </a:rPr>
              <a:t>Lifetime Value (Premium)</a:t>
            </a:r>
            <a:endParaRPr lang="en-US" sz="900" dirty="0"/>
          </a:p>
        </p:txBody>
      </p:sp>
      <p:sp>
        <p:nvSpPr>
          <p:cNvPr id="13" name="Text 9"/>
          <p:cNvSpPr/>
          <p:nvPr/>
        </p:nvSpPr>
        <p:spPr>
          <a:xfrm>
            <a:off x="964667" y="3295166"/>
            <a:ext cx="1371600" cy="409575"/>
          </a:xfrm>
          <a:prstGeom prst="rect">
            <a:avLst/>
          </a:prstGeom>
          <a:ln/>
        </p:spPr>
        <p:txBody>
          <a:bodyPr wrap="square" lIns="0" tIns="0" rIns="0" bIns="0" rtlCol="0" anchor="t"/>
          <a:lstStyle/>
          <a:p>
            <a:pPr algn="l" indent="0" marL="0">
              <a:lnSpc>
                <a:spcPts val="3240"/>
              </a:lnSpc>
              <a:buNone/>
            </a:pPr>
            <a:r>
              <a:rPr lang="en-US" sz="2100" b="1" dirty="0">
                <a:solidFill>
                  <a:srgbClr val="01D7FB"/>
                </a:solidFill>
                <a:latin typeface="Ubuntu" pitchFamily="34" charset="0"/>
                <a:ea typeface="Ubuntu" pitchFamily="34" charset="-122"/>
                <a:cs typeface="Ubuntu" pitchFamily="34" charset="-120"/>
              </a:rPr>
              <a:t>$38</a:t>
            </a:r>
            <a:endParaRPr lang="en-US" sz="2100" dirty="0"/>
          </a:p>
        </p:txBody>
      </p:sp>
      <p:sp>
        <p:nvSpPr>
          <p:cNvPr id="14" name="Text 10"/>
          <p:cNvSpPr/>
          <p:nvPr/>
        </p:nvSpPr>
        <p:spPr>
          <a:xfrm>
            <a:off x="3087030" y="3091235"/>
            <a:ext cx="885825" cy="300038"/>
          </a:xfrm>
          <a:prstGeom prst="rect">
            <a:avLst/>
          </a:prstGeom>
          <a:ln/>
        </p:spPr>
        <p:txBody>
          <a:bodyPr wrap="square" lIns="0" tIns="0" rIns="0" bIns="0" rtlCol="0" anchor="t"/>
          <a:lstStyle/>
          <a:p>
            <a:pPr algn="r" indent="0" marL="0">
              <a:lnSpc>
                <a:spcPts val="1188"/>
              </a:lnSpc>
              <a:buNone/>
            </a:pPr>
            <a:r>
              <a:rPr lang="en-US" sz="700" dirty="0">
                <a:solidFill>
                  <a:srgbClr val="FFFFFF"/>
                </a:solidFill>
                <a:latin typeface="Ubuntu" pitchFamily="34" charset="0"/>
                <a:ea typeface="Ubuntu" pitchFamily="34" charset="-122"/>
                <a:cs typeface="Ubuntu" pitchFamily="34" charset="-120"/>
              </a:rPr>
              <a:t>Based on 24-month</a:t>
            </a:r>
            <a:pPr algn="r" indent="0" marL="0">
              <a:buNone/>
            </a:pPr>
            <a:endParaRPr lang="en-US" sz="700" dirty="0"/>
          </a:p>
          <a:p>
            <a:pPr algn="r" indent="0" marL="0">
              <a:lnSpc>
                <a:spcPts val="1188"/>
              </a:lnSpc>
              <a:buNone/>
            </a:pPr>
            <a:r>
              <a:rPr lang="en-US" sz="700" dirty="0">
                <a:solidFill>
                  <a:srgbClr val="FFFFFF"/>
                </a:solidFill>
                <a:latin typeface="Ubuntu" pitchFamily="34" charset="0"/>
                <a:ea typeface="Ubuntu" pitchFamily="34" charset="-122"/>
                <a:cs typeface="Ubuntu" pitchFamily="34" charset="-120"/>
              </a:rPr>
              <a:t>avg. subscription</a:t>
            </a:r>
            <a:endParaRPr lang="en-US" sz="700" dirty="0"/>
          </a:p>
        </p:txBody>
      </p:sp>
      <p:sp>
        <p:nvSpPr>
          <p:cNvPr id="15" name="Shape 11"/>
          <p:cNvSpPr/>
          <p:nvPr/>
        </p:nvSpPr>
        <p:spPr>
          <a:xfrm>
            <a:off x="730523" y="3968093"/>
            <a:ext cx="3476625" cy="881063"/>
          </a:xfrm>
          <a:prstGeom prst="roundRect">
            <a:avLst>
              <a:gd name="adj" fmla="val 10771"/>
            </a:avLst>
          </a:prstGeom>
          <a:solidFill>
            <a:srgbClr val="FFFFFF">
              <a:alpha val="3000"/>
            </a:srgbClr>
          </a:solidFill>
          <a:ln w="4763">
            <a:solidFill>
              <a:srgbClr val="FFFFFF">
                <a:alpha val="8000"/>
              </a:srgbClr>
            </a:solidFill>
            <a:prstDash val="solid"/>
          </a:ln>
        </p:spPr>
      </p:sp>
      <p:sp>
        <p:nvSpPr>
          <p:cNvPr id="16" name="Text 12"/>
          <p:cNvSpPr/>
          <p:nvPr/>
        </p:nvSpPr>
        <p:spPr>
          <a:xfrm>
            <a:off x="965932" y="4101964"/>
            <a:ext cx="833437" cy="176212"/>
          </a:xfrm>
          <a:prstGeom prst="rect">
            <a:avLst/>
          </a:prstGeom>
          <a:ln/>
        </p:spPr>
        <p:txBody>
          <a:bodyPr wrap="square" lIns="0" tIns="0" rIns="0" bIns="0" rtlCol="0" anchor="t"/>
          <a:lstStyle/>
          <a:p>
            <a:pPr algn="l" indent="0" marL="0">
              <a:lnSpc>
                <a:spcPts val="1404"/>
              </a:lnSpc>
              <a:spcAft>
                <a:spcPts val="203"/>
              </a:spcAft>
              <a:buNone/>
            </a:pPr>
            <a:r>
              <a:rPr lang="en-US" sz="900" dirty="0">
                <a:solidFill>
                  <a:srgbClr val="FFFFFF"/>
                </a:solidFill>
                <a:latin typeface="Ubuntu" pitchFamily="34" charset="0"/>
                <a:ea typeface="Ubuntu" pitchFamily="34" charset="-122"/>
                <a:cs typeface="Ubuntu" pitchFamily="34" charset="-120"/>
              </a:rPr>
              <a:t>LTV / CAC Ratio</a:t>
            </a:r>
            <a:endParaRPr lang="en-US" sz="900" dirty="0"/>
          </a:p>
        </p:txBody>
      </p:sp>
      <p:sp>
        <p:nvSpPr>
          <p:cNvPr id="17" name="Text 13"/>
          <p:cNvSpPr/>
          <p:nvPr/>
        </p:nvSpPr>
        <p:spPr>
          <a:xfrm>
            <a:off x="965932" y="4305784"/>
            <a:ext cx="833437" cy="409575"/>
          </a:xfrm>
          <a:prstGeom prst="rect">
            <a:avLst/>
          </a:prstGeom>
          <a:ln/>
        </p:spPr>
        <p:txBody>
          <a:bodyPr wrap="square" lIns="0" tIns="0" rIns="0" bIns="0" rtlCol="0" anchor="t"/>
          <a:lstStyle/>
          <a:p>
            <a:pPr algn="l" indent="0" marL="0">
              <a:lnSpc>
                <a:spcPts val="3240"/>
              </a:lnSpc>
              <a:buNone/>
            </a:pPr>
            <a:r>
              <a:rPr lang="en-US" sz="2100" b="1" dirty="0">
                <a:solidFill>
                  <a:srgbClr val="FFFFFF"/>
                </a:solidFill>
                <a:latin typeface="Ubuntu" pitchFamily="34" charset="0"/>
                <a:ea typeface="Ubuntu" pitchFamily="34" charset="-122"/>
                <a:cs typeface="Ubuntu" pitchFamily="34" charset="-120"/>
              </a:rPr>
              <a:t>21x</a:t>
            </a:r>
            <a:endParaRPr lang="en-US" sz="2100" dirty="0"/>
          </a:p>
        </p:txBody>
      </p:sp>
      <p:sp>
        <p:nvSpPr>
          <p:cNvPr id="18" name="Text 14"/>
          <p:cNvSpPr/>
          <p:nvPr/>
        </p:nvSpPr>
        <p:spPr>
          <a:xfrm>
            <a:off x="2852514" y="4332387"/>
            <a:ext cx="1119188" cy="152400"/>
          </a:xfrm>
          <a:prstGeom prst="rect">
            <a:avLst/>
          </a:prstGeom>
          <a:ln/>
        </p:spPr>
        <p:txBody>
          <a:bodyPr wrap="square" lIns="0" tIns="0" rIns="0" bIns="0" rtlCol="0" anchor="t"/>
          <a:lstStyle/>
          <a:p>
            <a:pPr algn="l" indent="0" marL="0">
              <a:lnSpc>
                <a:spcPts val="1188"/>
              </a:lnSpc>
              <a:buNone/>
            </a:pPr>
            <a:r>
              <a:rPr lang="en-US" sz="700" dirty="0">
                <a:solidFill>
                  <a:srgbClr val="FFFFFF"/>
                </a:solidFill>
                <a:latin typeface="Ubuntu" pitchFamily="34" charset="0"/>
                <a:ea typeface="Ubuntu" pitchFamily="34" charset="-122"/>
                <a:cs typeface="Ubuntu" pitchFamily="34" charset="-120"/>
              </a:rPr>
              <a:t>Industry benchmark: 3x+</a:t>
            </a:r>
            <a:endParaRPr lang="en-US" sz="700" dirty="0"/>
          </a:p>
        </p:txBody>
      </p:sp>
      <p:sp>
        <p:nvSpPr>
          <p:cNvPr id="19" name="Shape 15"/>
          <p:cNvSpPr/>
          <p:nvPr/>
        </p:nvSpPr>
        <p:spPr>
          <a:xfrm>
            <a:off x="4754835" y="498574"/>
            <a:ext cx="3657600" cy="1295400"/>
          </a:xfrm>
          <a:prstGeom prst="roundRect">
            <a:avLst>
              <a:gd name="adj" fmla="val 5979"/>
            </a:avLst>
          </a:prstGeom>
          <a:solidFill>
            <a:srgbClr val="FFFFFF">
              <a:alpha val="3000"/>
            </a:srgbClr>
          </a:solidFill>
          <a:ln w="4763">
            <a:solidFill>
              <a:srgbClr val="FFFFFF">
                <a:alpha val="8000"/>
              </a:srgbClr>
            </a:solidFill>
            <a:prstDash val="solid"/>
          </a:ln>
        </p:spPr>
      </p:sp>
      <p:sp>
        <p:nvSpPr>
          <p:cNvPr id="20" name="Text 16"/>
          <p:cNvSpPr/>
          <p:nvPr/>
        </p:nvSpPr>
        <p:spPr>
          <a:xfrm>
            <a:off x="5033442" y="657858"/>
            <a:ext cx="3100388" cy="176212"/>
          </a:xfrm>
          <a:prstGeom prst="rect">
            <a:avLst/>
          </a:prstGeom>
          <a:ln/>
        </p:spPr>
        <p:txBody>
          <a:bodyPr wrap="square" lIns="0" tIns="0" rIns="0" bIns="0" rtlCol="0" anchor="t"/>
          <a:lstStyle/>
          <a:p>
            <a:pPr algn="l" indent="0" marL="0">
              <a:lnSpc>
                <a:spcPts val="1404"/>
              </a:lnSpc>
              <a:spcAft>
                <a:spcPts val="607"/>
              </a:spcAft>
              <a:buNone/>
            </a:pPr>
            <a:r>
              <a:rPr lang="en-US" sz="900" dirty="0">
                <a:solidFill>
                  <a:srgbClr val="FFFFFF"/>
                </a:solidFill>
                <a:latin typeface="Ubuntu" pitchFamily="34" charset="0"/>
                <a:ea typeface="Ubuntu" pitchFamily="34" charset="-122"/>
                <a:cs typeface="Ubuntu" pitchFamily="34" charset="-120"/>
              </a:rPr>
              <a:t>MONTHLY ACTIVE RETENTION</a:t>
            </a:r>
            <a:endParaRPr lang="en-US" sz="900" dirty="0"/>
          </a:p>
        </p:txBody>
      </p:sp>
      <p:sp>
        <p:nvSpPr>
          <p:cNvPr id="21" name="Shape 17"/>
          <p:cNvSpPr/>
          <p:nvPr/>
        </p:nvSpPr>
        <p:spPr>
          <a:xfrm>
            <a:off x="5033479" y="1045518"/>
            <a:ext cx="2447925" cy="76200"/>
          </a:xfrm>
          <a:prstGeom prst="roundRect">
            <a:avLst>
              <a:gd name="adj" fmla="val 150000"/>
            </a:avLst>
          </a:prstGeom>
          <a:solidFill>
            <a:srgbClr val="FFFFFF">
              <a:alpha val="6000"/>
            </a:srgbClr>
          </a:solidFill>
          <a:ln/>
        </p:spPr>
      </p:sp>
      <p:pic>
        <p:nvPicPr>
          <p:cNvPr id="22"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5033739" y="1045518"/>
            <a:ext cx="1762125" cy="76200"/>
          </a:xfrm>
          <a:prstGeom prst="rect">
            <a:avLst/>
          </a:prstGeom>
        </p:spPr>
      </p:pic>
      <p:sp>
        <p:nvSpPr>
          <p:cNvPr id="23" name="Text 18"/>
          <p:cNvSpPr/>
          <p:nvPr/>
        </p:nvSpPr>
        <p:spPr>
          <a:xfrm>
            <a:off x="7662937" y="912168"/>
            <a:ext cx="471488" cy="342900"/>
          </a:xfrm>
          <a:prstGeom prst="rect">
            <a:avLst/>
          </a:prstGeom>
          <a:ln/>
        </p:spPr>
        <p:txBody>
          <a:bodyPr wrap="square" lIns="0" tIns="0" rIns="0" bIns="0" rtlCol="0" anchor="t"/>
          <a:lstStyle/>
          <a:p>
            <a:pPr algn="l" indent="0" marL="0">
              <a:lnSpc>
                <a:spcPts val="2700"/>
              </a:lnSpc>
              <a:buNone/>
            </a:pPr>
            <a:r>
              <a:rPr lang="en-US" sz="1800" b="1" dirty="0">
                <a:solidFill>
                  <a:srgbClr val="FF4199"/>
                </a:solidFill>
                <a:latin typeface="Ubuntu" pitchFamily="34" charset="0"/>
                <a:ea typeface="Ubuntu" pitchFamily="34" charset="-122"/>
                <a:cs typeface="Ubuntu" pitchFamily="34" charset="-120"/>
              </a:rPr>
              <a:t>72%</a:t>
            </a:r>
            <a:endParaRPr lang="en-US" sz="1800" dirty="0"/>
          </a:p>
        </p:txBody>
      </p:sp>
      <p:sp>
        <p:nvSpPr>
          <p:cNvPr id="24" name="Text 19"/>
          <p:cNvSpPr/>
          <p:nvPr/>
        </p:nvSpPr>
        <p:spPr>
          <a:xfrm>
            <a:off x="5033442" y="1306785"/>
            <a:ext cx="3100388" cy="328613"/>
          </a:xfrm>
          <a:prstGeom prst="rect">
            <a:avLst/>
          </a:prstGeom>
          <a:ln/>
        </p:spPr>
        <p:txBody>
          <a:bodyPr wrap="square" lIns="0" tIns="0" rIns="0" bIns="0" rtlCol="0" anchor="t"/>
          <a:lstStyle/>
          <a:p>
            <a:pPr algn="l" indent="0" marL="0">
              <a:lnSpc>
                <a:spcPts val="1296"/>
              </a:lnSpc>
              <a:spcBef>
                <a:spcPts val="405"/>
              </a:spcBef>
              <a:buNone/>
            </a:pPr>
            <a:r>
              <a:rPr lang="en-US" sz="800" dirty="0">
                <a:solidFill>
                  <a:srgbClr val="FFFFFF"/>
                </a:solidFill>
                <a:latin typeface="Ubuntu" pitchFamily="34" charset="0"/>
                <a:ea typeface="Ubuntu" pitchFamily="34" charset="-122"/>
                <a:cs typeface="Ubuntu" pitchFamily="34" charset="-120"/>
              </a:rPr>
              <a:t>30-day retention for premium subscribers — vs. 40-50% music streaming average</a:t>
            </a:r>
            <a:endParaRPr lang="en-US" sz="800" dirty="0"/>
          </a:p>
        </p:txBody>
      </p:sp>
      <p:sp>
        <p:nvSpPr>
          <p:cNvPr id="25" name="Shape 20"/>
          <p:cNvSpPr/>
          <p:nvPr/>
        </p:nvSpPr>
        <p:spPr>
          <a:xfrm>
            <a:off x="4754835" y="1949723"/>
            <a:ext cx="3657600" cy="1295400"/>
          </a:xfrm>
          <a:prstGeom prst="roundRect">
            <a:avLst>
              <a:gd name="adj" fmla="val 5979"/>
            </a:avLst>
          </a:prstGeom>
          <a:solidFill>
            <a:srgbClr val="FFFFFF">
              <a:alpha val="3000"/>
            </a:srgbClr>
          </a:solidFill>
          <a:ln w="4763">
            <a:solidFill>
              <a:srgbClr val="FFFFFF">
                <a:alpha val="8000"/>
              </a:srgbClr>
            </a:solidFill>
            <a:prstDash val="solid"/>
          </a:ln>
        </p:spPr>
      </p:sp>
      <p:sp>
        <p:nvSpPr>
          <p:cNvPr id="26" name="Text 21"/>
          <p:cNvSpPr/>
          <p:nvPr/>
        </p:nvSpPr>
        <p:spPr>
          <a:xfrm>
            <a:off x="5033442" y="2109006"/>
            <a:ext cx="3100388" cy="176212"/>
          </a:xfrm>
          <a:prstGeom prst="rect">
            <a:avLst/>
          </a:prstGeom>
          <a:ln/>
        </p:spPr>
        <p:txBody>
          <a:bodyPr wrap="square" lIns="0" tIns="0" rIns="0" bIns="0" rtlCol="0" anchor="t"/>
          <a:lstStyle/>
          <a:p>
            <a:pPr algn="l" indent="0" marL="0">
              <a:lnSpc>
                <a:spcPts val="1404"/>
              </a:lnSpc>
              <a:spcAft>
                <a:spcPts val="607"/>
              </a:spcAft>
              <a:buNone/>
            </a:pPr>
            <a:r>
              <a:rPr lang="en-US" sz="900" dirty="0">
                <a:solidFill>
                  <a:srgbClr val="FFFFFF"/>
                </a:solidFill>
                <a:latin typeface="Ubuntu" pitchFamily="34" charset="0"/>
                <a:ea typeface="Ubuntu" pitchFamily="34" charset="-122"/>
                <a:cs typeface="Ubuntu" pitchFamily="34" charset="-120"/>
              </a:rPr>
              <a:t>DAILY SESSION LENGTH</a:t>
            </a:r>
            <a:endParaRPr lang="en-US" sz="900" dirty="0"/>
          </a:p>
        </p:txBody>
      </p:sp>
      <p:sp>
        <p:nvSpPr>
          <p:cNvPr id="27" name="Shape 22"/>
          <p:cNvSpPr/>
          <p:nvPr/>
        </p:nvSpPr>
        <p:spPr>
          <a:xfrm>
            <a:off x="5033442" y="2496666"/>
            <a:ext cx="2466975" cy="76200"/>
          </a:xfrm>
          <a:prstGeom prst="roundRect">
            <a:avLst>
              <a:gd name="adj" fmla="val 150000"/>
            </a:avLst>
          </a:prstGeom>
          <a:solidFill>
            <a:srgbClr val="FFFFFF">
              <a:alpha val="6000"/>
            </a:srgbClr>
          </a:solidFill>
          <a:ln/>
        </p:spPr>
      </p:sp>
      <p:pic>
        <p:nvPicPr>
          <p:cNvPr id="28"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5034186" y="2496666"/>
            <a:ext cx="2095500" cy="76200"/>
          </a:xfrm>
          <a:prstGeom prst="rect">
            <a:avLst/>
          </a:prstGeom>
        </p:spPr>
      </p:pic>
      <p:sp>
        <p:nvSpPr>
          <p:cNvPr id="29" name="Text 23"/>
          <p:cNvSpPr/>
          <p:nvPr/>
        </p:nvSpPr>
        <p:spPr>
          <a:xfrm>
            <a:off x="7681950" y="2363316"/>
            <a:ext cx="452437" cy="342900"/>
          </a:xfrm>
          <a:prstGeom prst="rect">
            <a:avLst/>
          </a:prstGeom>
          <a:ln/>
        </p:spPr>
        <p:txBody>
          <a:bodyPr wrap="square" lIns="0" tIns="0" rIns="0" bIns="0" rtlCol="0" anchor="t"/>
          <a:lstStyle/>
          <a:p>
            <a:pPr algn="l" indent="0" marL="0">
              <a:lnSpc>
                <a:spcPts val="2700"/>
              </a:lnSpc>
              <a:buNone/>
            </a:pPr>
            <a:r>
              <a:rPr lang="en-US" sz="1800" b="1" dirty="0">
                <a:solidFill>
                  <a:srgbClr val="01D7FB"/>
                </a:solidFill>
                <a:latin typeface="Ubuntu" pitchFamily="34" charset="0"/>
                <a:ea typeface="Ubuntu" pitchFamily="34" charset="-122"/>
                <a:cs typeface="Ubuntu" pitchFamily="34" charset="-120"/>
              </a:rPr>
              <a:t>2.4h</a:t>
            </a:r>
            <a:endParaRPr lang="en-US" sz="1800" dirty="0"/>
          </a:p>
        </p:txBody>
      </p:sp>
      <p:sp>
        <p:nvSpPr>
          <p:cNvPr id="30" name="Text 24"/>
          <p:cNvSpPr/>
          <p:nvPr/>
        </p:nvSpPr>
        <p:spPr>
          <a:xfrm>
            <a:off x="5033442" y="2757934"/>
            <a:ext cx="3100388" cy="328613"/>
          </a:xfrm>
          <a:prstGeom prst="rect">
            <a:avLst/>
          </a:prstGeom>
          <a:ln/>
        </p:spPr>
        <p:txBody>
          <a:bodyPr wrap="square" lIns="0" tIns="0" rIns="0" bIns="0" rtlCol="0" anchor="t"/>
          <a:lstStyle/>
          <a:p>
            <a:pPr algn="l" indent="0" marL="0">
              <a:lnSpc>
                <a:spcPts val="1296"/>
              </a:lnSpc>
              <a:spcBef>
                <a:spcPts val="405"/>
              </a:spcBef>
              <a:buNone/>
            </a:pPr>
            <a:r>
              <a:rPr lang="en-US" sz="800" dirty="0">
                <a:solidFill>
                  <a:srgbClr val="FFFFFF"/>
                </a:solidFill>
                <a:latin typeface="Ubuntu" pitchFamily="34" charset="0"/>
                <a:ea typeface="Ubuntu" pitchFamily="34" charset="-122"/>
                <a:cs typeface="Ubuntu" pitchFamily="34" charset="-120"/>
              </a:rPr>
              <a:t>Average daily listening session on TV — radio is background media, driving long engagement</a:t>
            </a:r>
            <a:endParaRPr lang="en-US" sz="800" dirty="0"/>
          </a:p>
        </p:txBody>
      </p:sp>
      <p:sp>
        <p:nvSpPr>
          <p:cNvPr id="31" name="Shape 25"/>
          <p:cNvSpPr/>
          <p:nvPr/>
        </p:nvSpPr>
        <p:spPr>
          <a:xfrm>
            <a:off x="4754835" y="3398974"/>
            <a:ext cx="3657600" cy="1247775"/>
          </a:xfrm>
          <a:prstGeom prst="roundRect">
            <a:avLst>
              <a:gd name="adj" fmla="val 6444"/>
            </a:avLst>
          </a:prstGeom>
          <a:solidFill>
            <a:srgbClr val="FFFFFF">
              <a:alpha val="3000"/>
            </a:srgbClr>
          </a:solidFill>
          <a:ln w="4763">
            <a:solidFill>
              <a:srgbClr val="FFFFFF">
                <a:alpha val="8000"/>
              </a:srgbClr>
            </a:solidFill>
            <a:prstDash val="solid"/>
          </a:ln>
        </p:spPr>
      </p:sp>
      <p:sp>
        <p:nvSpPr>
          <p:cNvPr id="32" name="Text 26"/>
          <p:cNvSpPr/>
          <p:nvPr/>
        </p:nvSpPr>
        <p:spPr>
          <a:xfrm>
            <a:off x="5033442" y="3560155"/>
            <a:ext cx="3100388" cy="176212"/>
          </a:xfrm>
          <a:prstGeom prst="rect">
            <a:avLst/>
          </a:prstGeom>
          <a:ln/>
        </p:spPr>
        <p:txBody>
          <a:bodyPr wrap="square" lIns="0" tIns="0" rIns="0" bIns="0" rtlCol="0" anchor="t"/>
          <a:lstStyle/>
          <a:p>
            <a:pPr algn="l" indent="0" marL="0">
              <a:lnSpc>
                <a:spcPts val="1404"/>
              </a:lnSpc>
              <a:spcAft>
                <a:spcPts val="405"/>
              </a:spcAft>
              <a:buNone/>
            </a:pPr>
            <a:r>
              <a:rPr lang="en-US" sz="900" dirty="0">
                <a:solidFill>
                  <a:srgbClr val="FFFFFF"/>
                </a:solidFill>
                <a:latin typeface="Ubuntu" pitchFamily="34" charset="0"/>
                <a:ea typeface="Ubuntu" pitchFamily="34" charset="-122"/>
                <a:cs typeface="Ubuntu" pitchFamily="34" charset="-120"/>
              </a:rPr>
              <a:t>CHURN (projected monthly)</a:t>
            </a:r>
            <a:endParaRPr lang="en-US" sz="900" dirty="0"/>
          </a:p>
        </p:txBody>
      </p:sp>
      <p:sp>
        <p:nvSpPr>
          <p:cNvPr id="33" name="Text 27"/>
          <p:cNvSpPr/>
          <p:nvPr/>
        </p:nvSpPr>
        <p:spPr>
          <a:xfrm>
            <a:off x="5033442" y="3788792"/>
            <a:ext cx="3100388" cy="342900"/>
          </a:xfrm>
          <a:prstGeom prst="rect">
            <a:avLst/>
          </a:prstGeom>
          <a:ln/>
        </p:spPr>
        <p:txBody>
          <a:bodyPr wrap="square" lIns="0" tIns="0" rIns="0" bIns="0" rtlCol="0" anchor="t"/>
          <a:lstStyle/>
          <a:p>
            <a:pPr algn="l" indent="0" marL="0">
              <a:lnSpc>
                <a:spcPts val="2700"/>
              </a:lnSpc>
              <a:buNone/>
            </a:pPr>
            <a:r>
              <a:rPr lang="en-US" sz="1800" b="1" dirty="0">
                <a:solidFill>
                  <a:srgbClr val="FFFFFF"/>
                </a:solidFill>
                <a:latin typeface="Ubuntu" pitchFamily="34" charset="0"/>
                <a:ea typeface="Ubuntu" pitchFamily="34" charset="-122"/>
                <a:cs typeface="Ubuntu" pitchFamily="34" charset="-120"/>
              </a:rPr>
              <a:t>3.8%</a:t>
            </a:r>
            <a:endParaRPr lang="en-US" sz="1800" dirty="0"/>
          </a:p>
        </p:txBody>
      </p:sp>
      <p:sp>
        <p:nvSpPr>
          <p:cNvPr id="34" name="Text 28"/>
          <p:cNvSpPr/>
          <p:nvPr/>
        </p:nvSpPr>
        <p:spPr>
          <a:xfrm>
            <a:off x="5033442" y="4157663"/>
            <a:ext cx="3100388" cy="328613"/>
          </a:xfrm>
          <a:prstGeom prst="rect">
            <a:avLst/>
          </a:prstGeom>
          <a:ln/>
        </p:spPr>
        <p:txBody>
          <a:bodyPr wrap="square" lIns="0" tIns="0" rIns="0" bIns="0" rtlCol="0" anchor="t"/>
          <a:lstStyle/>
          <a:p>
            <a:pPr algn="l" indent="0" marL="0">
              <a:lnSpc>
                <a:spcPts val="1296"/>
              </a:lnSpc>
              <a:spcBef>
                <a:spcPts val="203"/>
              </a:spcBef>
              <a:buNone/>
            </a:pPr>
            <a:r>
              <a:rPr lang="en-US" sz="800" dirty="0">
                <a:solidFill>
                  <a:srgbClr val="FFFFFF"/>
                </a:solidFill>
                <a:latin typeface="Ubuntu" pitchFamily="34" charset="0"/>
                <a:ea typeface="Ubuntu" pitchFamily="34" charset="-122"/>
                <a:cs typeface="Ubuntu" pitchFamily="34" charset="-120"/>
              </a:rPr>
              <a:t>Radio listeners are habit-driven — lower churn than on-demand streaming</a:t>
            </a:r>
            <a:endParaRPr lang="en-US" sz="800" dirty="0"/>
          </a:p>
        </p:txBody>
      </p:sp>
      <p:sp>
        <p:nvSpPr>
          <p:cNvPr id="35" name="Text 29"/>
          <p:cNvSpPr/>
          <p:nvPr/>
        </p:nvSpPr>
        <p:spPr>
          <a:xfrm>
            <a:off x="0" y="4781848"/>
            <a:ext cx="9144000" cy="361950"/>
          </a:xfrm>
          <a:prstGeom prst="rect">
            <a:avLst/>
          </a:prstGeom>
          <a:ln/>
        </p:spPr>
        <p:txBody>
          <a:bodyPr wrap="square" lIns="0" tIns="0" rIns="0" bIns="0" rtlCol="0" anchor="t"/>
          <a:lstStyle/>
          <a:p>
            <a:pPr algn="l" indent="0" marL="0">
              <a:lnSpc>
                <a:spcPts val="1188"/>
              </a:lnSpc>
              <a:buNone/>
            </a:pPr>
            <a:r>
              <a:rPr lang="en-US" sz="700" dirty="0">
                <a:solidFill>
                  <a:srgbClr val="FFFFFF"/>
                </a:solidFill>
                <a:latin typeface="Ubuntu" pitchFamily="34" charset="0"/>
                <a:ea typeface="Ubuntu" pitchFamily="34" charset="-122"/>
                <a:cs typeface="Ubuntu" pitchFamily="34" charset="-120"/>
              </a:rPr>
              <a:t>RADIO MEGA</a:t>
            </a:r>
            <a:pPr algn="l" indent="0" marL="0">
              <a:lnSpc>
                <a:spcPts val="1188"/>
              </a:lnSpc>
              <a:buNone/>
            </a:pPr>
            <a:r>
              <a:rPr lang="en-US" sz="700" dirty="0">
                <a:solidFill>
                  <a:srgbClr val="FFFFFF"/>
                </a:solidFill>
                <a:latin typeface="Ubuntu" pitchFamily="34" charset="0"/>
                <a:ea typeface="Ubuntu" pitchFamily="34" charset="-122"/>
                <a:cs typeface="Ubuntu" pitchFamily="34" charset="-120"/>
              </a:rPr>
              <a:t>12 / 18</a:t>
            </a:r>
            <a:endParaRPr lang="en-US" sz="700" dirty="0"/>
          </a:p>
        </p:txBody>
      </p:sp>
      <p:pic>
        <p:nvPicPr>
          <p:cNvPr id="36" name="Image 4" descr="preencoded.png">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0" y="4781848"/>
            <a:ext cx="9144000" cy="36195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E0E0E"/>
          </a:solidFill>
          <a:ln/>
        </p:spPr>
      </p:sp>
      <p:pic>
        <p:nvPicPr>
          <p:cNvPr id="3"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0" y="0"/>
            <a:ext cx="9144000" cy="5143500"/>
          </a:xfrm>
          <a:prstGeom prst="rect">
            <a:avLst/>
          </a:prstGeom>
        </p:spPr>
      </p:pic>
      <p:pic>
        <p:nvPicPr>
          <p:cNvPr id="4"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663440" y="-1080135"/>
            <a:ext cx="4389120" cy="4389120"/>
          </a:xfrm>
          <a:prstGeom prst="rect">
            <a:avLst/>
          </a:prstGeom>
        </p:spPr>
      </p:pic>
      <p:pic>
        <p:nvPicPr>
          <p:cNvPr id="5"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17220" y="2697480"/>
            <a:ext cx="3063240" cy="3063240"/>
          </a:xfrm>
          <a:prstGeom prst="rect">
            <a:avLst/>
          </a:prstGeom>
        </p:spPr>
      </p:pic>
      <p:sp>
        <p:nvSpPr>
          <p:cNvPr id="6" name="Text 1"/>
          <p:cNvSpPr/>
          <p:nvPr/>
        </p:nvSpPr>
        <p:spPr>
          <a:xfrm>
            <a:off x="731044" y="359532"/>
            <a:ext cx="7681912" cy="138113"/>
          </a:xfrm>
          <a:prstGeom prst="rect">
            <a:avLst/>
          </a:prstGeom>
          <a:ln/>
        </p:spPr>
        <p:txBody>
          <a:bodyPr wrap="square" lIns="0" tIns="0" rIns="0" bIns="0" rtlCol="0" anchor="t"/>
          <a:lstStyle/>
          <a:p>
            <a:pPr algn="l" indent="0" marL="0">
              <a:lnSpc>
                <a:spcPts val="1080"/>
              </a:lnSpc>
              <a:spcAft>
                <a:spcPts val="810"/>
              </a:spcAft>
              <a:buNone/>
            </a:pPr>
            <a:r>
              <a:rPr lang="en-US" sz="700" b="1" dirty="0">
                <a:solidFill>
                  <a:srgbClr val="FF4199"/>
                </a:solidFill>
                <a:latin typeface="Ubuntu" pitchFamily="34" charset="0"/>
                <a:ea typeface="Ubuntu" pitchFamily="34" charset="-122"/>
                <a:cs typeface="Ubuntu" pitchFamily="34" charset="-120"/>
              </a:rPr>
              <a:t>BRAND IDENTITY</a:t>
            </a:r>
            <a:endParaRPr lang="en-US" sz="700" dirty="0"/>
          </a:p>
        </p:txBody>
      </p:sp>
      <p:sp>
        <p:nvSpPr>
          <p:cNvPr id="7" name="Text 2"/>
          <p:cNvSpPr/>
          <p:nvPr/>
        </p:nvSpPr>
        <p:spPr>
          <a:xfrm>
            <a:off x="731044" y="599852"/>
            <a:ext cx="7681912" cy="804862"/>
          </a:xfrm>
          <a:prstGeom prst="rect">
            <a:avLst/>
          </a:prstGeom>
          <a:ln/>
        </p:spPr>
        <p:txBody>
          <a:bodyPr wrap="square" lIns="0" tIns="0" rIns="0" bIns="0" rtlCol="0" anchor="t"/>
          <a:lstStyle/>
          <a:p>
            <a:pPr algn="l" indent="0" marL="0">
              <a:lnSpc>
                <a:spcPts val="3168"/>
              </a:lnSpc>
              <a:buNone/>
            </a:pPr>
            <a:r>
              <a:rPr lang="en-US" sz="2800" b="1" dirty="0">
                <a:solidFill>
                  <a:srgbClr val="FFFFFF"/>
                </a:solidFill>
                <a:latin typeface="Ubuntu" pitchFamily="34" charset="0"/>
                <a:ea typeface="Ubuntu" pitchFamily="34" charset="-122"/>
                <a:cs typeface="Ubuntu" pitchFamily="34" charset="-120"/>
              </a:rPr>
              <a:t>A premium media brand for the living room era</a:t>
            </a:r>
            <a:endParaRPr lang="en-US" sz="2800" dirty="0"/>
          </a:p>
        </p:txBody>
      </p:sp>
      <p:sp>
        <p:nvSpPr>
          <p:cNvPr id="8" name="Shape 3"/>
          <p:cNvSpPr/>
          <p:nvPr/>
        </p:nvSpPr>
        <p:spPr>
          <a:xfrm>
            <a:off x="730560" y="1609390"/>
            <a:ext cx="3705225" cy="2414588"/>
          </a:xfrm>
          <a:prstGeom prst="roundRect">
            <a:avLst>
              <a:gd name="adj" fmla="val 1721"/>
            </a:avLst>
          </a:prstGeom>
          <a:solidFill>
            <a:srgbClr val="FFFFFF">
              <a:alpha val="3000"/>
            </a:srgbClr>
          </a:solidFill>
          <a:ln w="4763">
            <a:solidFill>
              <a:srgbClr val="FFFFFF">
                <a:alpha val="8000"/>
              </a:srgbClr>
            </a:solidFill>
            <a:prstDash val="solid"/>
          </a:ln>
        </p:spPr>
      </p:sp>
      <p:sp>
        <p:nvSpPr>
          <p:cNvPr id="9" name="Text 4"/>
          <p:cNvSpPr/>
          <p:nvPr/>
        </p:nvSpPr>
        <p:spPr>
          <a:xfrm>
            <a:off x="1011548" y="1768525"/>
            <a:ext cx="3143250" cy="152400"/>
          </a:xfrm>
          <a:prstGeom prst="rect">
            <a:avLst/>
          </a:prstGeom>
          <a:ln/>
        </p:spPr>
        <p:txBody>
          <a:bodyPr wrap="square" lIns="0" tIns="0" rIns="0" bIns="0" rtlCol="0" anchor="t"/>
          <a:lstStyle/>
          <a:p>
            <a:pPr algn="l" indent="0" marL="0">
              <a:lnSpc>
                <a:spcPts val="1188"/>
              </a:lnSpc>
              <a:spcAft>
                <a:spcPts val="1215"/>
              </a:spcAft>
              <a:buNone/>
            </a:pPr>
            <a:r>
              <a:rPr lang="en-US" sz="700" dirty="0">
                <a:solidFill>
                  <a:srgbClr val="FFFFFF"/>
                </a:solidFill>
                <a:latin typeface="Ubuntu" pitchFamily="34" charset="0"/>
                <a:ea typeface="Ubuntu" pitchFamily="34" charset="-122"/>
                <a:cs typeface="Ubuntu" pitchFamily="34" charset="-120"/>
              </a:rPr>
              <a:t>LOGO SYSTEM</a:t>
            </a:r>
            <a:endParaRPr lang="en-US" sz="700" dirty="0"/>
          </a:p>
        </p:txBody>
      </p:sp>
      <p:pic>
        <p:nvPicPr>
          <p:cNvPr id="10" name="Image 3" descr="preencoded.png">    </p:cNvPr>
          <p:cNvPicPr>
            <a:picLocks noChangeAspect="1"/>
          </p:cNvPicPr>
          <p:nvPr/>
        </p:nvPicPr>
        <p:blipFill>
          <a:blip r:embed="rId7"/>
          <a:stretch>
            <a:fillRect/>
          </a:stretch>
        </p:blipFill>
        <p:spPr>
          <a:xfrm>
            <a:off x="1010543" y="2480667"/>
            <a:ext cx="365745" cy="365745"/>
          </a:xfrm>
          <a:prstGeom prst="rect">
            <a:avLst/>
          </a:prstGeom>
        </p:spPr>
      </p:pic>
      <p:sp>
        <p:nvSpPr>
          <p:cNvPr id="11" name="Text 5"/>
          <p:cNvSpPr/>
          <p:nvPr/>
        </p:nvSpPr>
        <p:spPr>
          <a:xfrm>
            <a:off x="1486458" y="2470658"/>
            <a:ext cx="1247775" cy="385763"/>
          </a:xfrm>
          <a:prstGeom prst="rect">
            <a:avLst/>
          </a:prstGeom>
          <a:ln/>
        </p:spPr>
        <p:txBody>
          <a:bodyPr wrap="square" lIns="0" tIns="0" rIns="0" bIns="0" rtlCol="0" anchor="t"/>
          <a:lstStyle/>
          <a:p>
            <a:pPr algn="l" indent="0" marL="0">
              <a:lnSpc>
                <a:spcPts val="3024"/>
              </a:lnSpc>
              <a:buNone/>
            </a:pPr>
            <a:r>
              <a:rPr lang="en-US" sz="2000" b="1" dirty="0">
                <a:solidFill>
                  <a:srgbClr val="FF4199"/>
                </a:solidFill>
                <a:latin typeface="Ubuntu" pitchFamily="34" charset="0"/>
                <a:ea typeface="Ubuntu" pitchFamily="34" charset="-122"/>
                <a:cs typeface="Ubuntu" pitchFamily="34" charset="-120"/>
              </a:rPr>
              <a:t>mega</a:t>
            </a:r>
            <a:pPr algn="l" indent="0" marL="0">
              <a:lnSpc>
                <a:spcPts val="3024"/>
              </a:lnSpc>
              <a:buNone/>
            </a:pPr>
            <a:r>
              <a:rPr lang="en-US" sz="2000" b="1" dirty="0">
                <a:solidFill>
                  <a:srgbClr val="FFFFFF"/>
                </a:solidFill>
                <a:latin typeface="Ubuntu" pitchFamily="34" charset="0"/>
                <a:ea typeface="Ubuntu" pitchFamily="34" charset="-122"/>
                <a:cs typeface="Ubuntu" pitchFamily="34" charset="-120"/>
              </a:rPr>
              <a:t>radio</a:t>
            </a:r>
            <a:endParaRPr lang="en-US" sz="2000" dirty="0"/>
          </a:p>
        </p:txBody>
      </p:sp>
      <p:sp>
        <p:nvSpPr>
          <p:cNvPr id="12" name="Shape 6"/>
          <p:cNvSpPr/>
          <p:nvPr/>
        </p:nvSpPr>
        <p:spPr>
          <a:xfrm>
            <a:off x="1010543" y="3009826"/>
            <a:ext cx="457200" cy="457200"/>
          </a:xfrm>
          <a:prstGeom prst="roundRect">
            <a:avLst>
              <a:gd name="adj" fmla="val 10000"/>
            </a:avLst>
          </a:prstGeom>
          <a:solidFill>
            <a:srgbClr val="FF4199"/>
          </a:solidFill>
          <a:ln/>
        </p:spPr>
      </p:sp>
      <p:pic>
        <p:nvPicPr>
          <p:cNvPr id="13" name="Image 4" descr="preencoded.png">    </p:cNvPr>
          <p:cNvPicPr>
            <a:picLocks noChangeAspect="1"/>
          </p:cNvPicPr>
          <p:nvPr/>
        </p:nvPicPr>
        <p:blipFill>
          <a:blip r:embed="rId8"/>
          <a:stretch>
            <a:fillRect/>
          </a:stretch>
        </p:blipFill>
        <p:spPr>
          <a:xfrm>
            <a:off x="1101998" y="3101280"/>
            <a:ext cx="274290" cy="274290"/>
          </a:xfrm>
          <a:prstGeom prst="rect">
            <a:avLst/>
          </a:prstGeom>
        </p:spPr>
      </p:pic>
      <p:sp>
        <p:nvSpPr>
          <p:cNvPr id="14" name="Shape 7"/>
          <p:cNvSpPr/>
          <p:nvPr/>
        </p:nvSpPr>
        <p:spPr>
          <a:xfrm>
            <a:off x="1650578" y="3009826"/>
            <a:ext cx="457200" cy="457200"/>
          </a:xfrm>
          <a:prstGeom prst="roundRect">
            <a:avLst>
              <a:gd name="adj" fmla="val 10000"/>
            </a:avLst>
          </a:prstGeom>
          <a:solidFill>
            <a:srgbClr val="FFFFFF">
              <a:alpha val="5000"/>
            </a:srgbClr>
          </a:solidFill>
          <a:ln w="4763">
            <a:solidFill>
              <a:srgbClr val="FFFFFF">
                <a:alpha val="10000"/>
              </a:srgbClr>
            </a:solidFill>
            <a:prstDash val="solid"/>
          </a:ln>
        </p:spPr>
      </p:sp>
      <p:pic>
        <p:nvPicPr>
          <p:cNvPr id="15" name="Image 5" descr="preencoded.png">    </p:cNvPr>
          <p:cNvPicPr>
            <a:picLocks noChangeAspect="1"/>
          </p:cNvPicPr>
          <p:nvPr/>
        </p:nvPicPr>
        <p:blipFill>
          <a:blip r:embed="rId9"/>
          <a:stretch>
            <a:fillRect/>
          </a:stretch>
        </p:blipFill>
        <p:spPr>
          <a:xfrm>
            <a:off x="1742033" y="3101280"/>
            <a:ext cx="274290" cy="274290"/>
          </a:xfrm>
          <a:prstGeom prst="rect">
            <a:avLst/>
          </a:prstGeom>
        </p:spPr>
      </p:pic>
      <p:sp>
        <p:nvSpPr>
          <p:cNvPr id="16" name="Text 8"/>
          <p:cNvSpPr/>
          <p:nvPr/>
        </p:nvSpPr>
        <p:spPr>
          <a:xfrm>
            <a:off x="2290911" y="3150282"/>
            <a:ext cx="923925" cy="176212"/>
          </a:xfrm>
          <a:prstGeom prst="rect">
            <a:avLst/>
          </a:prstGeom>
          <a:ln/>
        </p:spPr>
        <p:txBody>
          <a:bodyPr wrap="square" lIns="0" tIns="0" rIns="0" bIns="0" rtlCol="0" anchor="t"/>
          <a:lstStyle/>
          <a:p>
            <a:pPr algn="l" indent="0" marL="0">
              <a:lnSpc>
                <a:spcPts val="1404"/>
              </a:lnSpc>
              <a:buNone/>
            </a:pPr>
            <a:r>
              <a:rPr lang="en-US" sz="900" dirty="0">
                <a:solidFill>
                  <a:srgbClr val="FFFFFF"/>
                </a:solidFill>
                <a:latin typeface="Ubuntu" pitchFamily="34" charset="0"/>
                <a:ea typeface="Ubuntu" pitchFamily="34" charset="-122"/>
                <a:cs typeface="Ubuntu" pitchFamily="34" charset="-120"/>
              </a:rPr>
              <a:t>App icon variants</a:t>
            </a:r>
            <a:endParaRPr lang="en-US" sz="900" dirty="0"/>
          </a:p>
        </p:txBody>
      </p:sp>
      <p:sp>
        <p:nvSpPr>
          <p:cNvPr id="17" name="Shape 9"/>
          <p:cNvSpPr/>
          <p:nvPr/>
        </p:nvSpPr>
        <p:spPr>
          <a:xfrm>
            <a:off x="4708215" y="1609390"/>
            <a:ext cx="3705225" cy="2414588"/>
          </a:xfrm>
          <a:prstGeom prst="roundRect">
            <a:avLst>
              <a:gd name="adj" fmla="val 1721"/>
            </a:avLst>
          </a:prstGeom>
          <a:solidFill>
            <a:srgbClr val="FFFFFF">
              <a:alpha val="3000"/>
            </a:srgbClr>
          </a:solidFill>
          <a:ln w="4763">
            <a:solidFill>
              <a:srgbClr val="FFFFFF">
                <a:alpha val="8000"/>
              </a:srgbClr>
            </a:solidFill>
            <a:prstDash val="solid"/>
          </a:ln>
        </p:spPr>
      </p:sp>
      <p:sp>
        <p:nvSpPr>
          <p:cNvPr id="18" name="Text 10"/>
          <p:cNvSpPr/>
          <p:nvPr/>
        </p:nvSpPr>
        <p:spPr>
          <a:xfrm>
            <a:off x="4989202" y="1768525"/>
            <a:ext cx="3143250" cy="152400"/>
          </a:xfrm>
          <a:prstGeom prst="rect">
            <a:avLst/>
          </a:prstGeom>
          <a:ln/>
        </p:spPr>
        <p:txBody>
          <a:bodyPr wrap="square" lIns="0" tIns="0" rIns="0" bIns="0" rtlCol="0" anchor="t"/>
          <a:lstStyle/>
          <a:p>
            <a:pPr algn="l" indent="0" marL="0">
              <a:lnSpc>
                <a:spcPts val="1188"/>
              </a:lnSpc>
              <a:spcAft>
                <a:spcPts val="1215"/>
              </a:spcAft>
              <a:buNone/>
            </a:pPr>
            <a:r>
              <a:rPr lang="en-US" sz="700" dirty="0">
                <a:solidFill>
                  <a:srgbClr val="FFFFFF"/>
                </a:solidFill>
                <a:latin typeface="Ubuntu" pitchFamily="34" charset="0"/>
                <a:ea typeface="Ubuntu" pitchFamily="34" charset="-122"/>
                <a:cs typeface="Ubuntu" pitchFamily="34" charset="-120"/>
              </a:rPr>
              <a:t>COLOR PALETTE</a:t>
            </a:r>
            <a:endParaRPr lang="en-US" sz="700" dirty="0"/>
          </a:p>
        </p:txBody>
      </p:sp>
      <p:sp>
        <p:nvSpPr>
          <p:cNvPr id="19" name="Shape 11"/>
          <p:cNvSpPr/>
          <p:nvPr/>
        </p:nvSpPr>
        <p:spPr>
          <a:xfrm>
            <a:off x="4988198" y="2169058"/>
            <a:ext cx="457200" cy="180975"/>
          </a:xfrm>
          <a:prstGeom prst="roundRect">
            <a:avLst>
              <a:gd name="adj" fmla="val 31911"/>
            </a:avLst>
          </a:prstGeom>
          <a:solidFill>
            <a:srgbClr val="FF4199"/>
          </a:solidFill>
          <a:ln/>
        </p:spPr>
      </p:sp>
      <p:sp>
        <p:nvSpPr>
          <p:cNvPr id="20" name="Text 12"/>
          <p:cNvSpPr/>
          <p:nvPr/>
        </p:nvSpPr>
        <p:spPr>
          <a:xfrm>
            <a:off x="5582506" y="2074887"/>
            <a:ext cx="838200" cy="204787"/>
          </a:xfrm>
          <a:prstGeom prst="rect">
            <a:avLst/>
          </a:prstGeom>
          <a:ln/>
        </p:spPr>
        <p:txBody>
          <a:bodyPr wrap="square" lIns="0" tIns="0" rIns="0" bIns="0" rtlCol="0" anchor="t"/>
          <a:lstStyle/>
          <a:p>
            <a:pPr algn="l" indent="0" marL="0">
              <a:lnSpc>
                <a:spcPts val="1620"/>
              </a:lnSpc>
              <a:buNone/>
            </a:pPr>
            <a:r>
              <a:rPr lang="en-US" sz="1000" b="1" dirty="0">
                <a:solidFill>
                  <a:srgbClr val="FFFFFF"/>
                </a:solidFill>
                <a:latin typeface="Ubuntu" pitchFamily="34" charset="0"/>
                <a:ea typeface="Ubuntu" pitchFamily="34" charset="-122"/>
                <a:cs typeface="Ubuntu" pitchFamily="34" charset="-120"/>
              </a:rPr>
              <a:t>Primary Pink</a:t>
            </a:r>
            <a:endParaRPr lang="en-US" sz="1000" dirty="0"/>
          </a:p>
        </p:txBody>
      </p:sp>
      <p:sp>
        <p:nvSpPr>
          <p:cNvPr id="21" name="Text 13"/>
          <p:cNvSpPr/>
          <p:nvPr/>
        </p:nvSpPr>
        <p:spPr>
          <a:xfrm>
            <a:off x="5582506" y="2279079"/>
            <a:ext cx="838200" cy="166688"/>
          </a:xfrm>
          <a:prstGeom prst="rect">
            <a:avLst/>
          </a:prstGeom>
          <a:ln/>
        </p:spPr>
        <p:txBody>
          <a:bodyPr wrap="square" lIns="0" tIns="0" rIns="0" bIns="0" rtlCol="0" anchor="t"/>
          <a:lstStyle/>
          <a:p>
            <a:pPr algn="l" indent="0" marL="0">
              <a:lnSpc>
                <a:spcPts val="1296"/>
              </a:lnSpc>
              <a:buNone/>
            </a:pPr>
            <a:r>
              <a:rPr lang="en-US" sz="800" dirty="0">
                <a:solidFill>
                  <a:srgbClr val="FFFFFF"/>
                </a:solidFill>
                <a:latin typeface="Ubuntu" pitchFamily="34" charset="0"/>
                <a:ea typeface="Ubuntu" pitchFamily="34" charset="-122"/>
                <a:cs typeface="Ubuntu" pitchFamily="34" charset="-120"/>
              </a:rPr>
              <a:t>#FF4199</a:t>
            </a:r>
            <a:endParaRPr lang="en-US" sz="800" dirty="0"/>
          </a:p>
        </p:txBody>
      </p:sp>
      <p:sp>
        <p:nvSpPr>
          <p:cNvPr id="22" name="Shape 14"/>
          <p:cNvSpPr/>
          <p:nvPr/>
        </p:nvSpPr>
        <p:spPr>
          <a:xfrm>
            <a:off x="4988198" y="2642183"/>
            <a:ext cx="457200" cy="180975"/>
          </a:xfrm>
          <a:prstGeom prst="roundRect">
            <a:avLst>
              <a:gd name="adj" fmla="val 31911"/>
            </a:avLst>
          </a:prstGeom>
          <a:solidFill>
            <a:srgbClr val="01D7FB"/>
          </a:solidFill>
          <a:ln/>
        </p:spPr>
      </p:sp>
      <p:sp>
        <p:nvSpPr>
          <p:cNvPr id="23" name="Text 15"/>
          <p:cNvSpPr/>
          <p:nvPr/>
        </p:nvSpPr>
        <p:spPr>
          <a:xfrm>
            <a:off x="5583250" y="2548012"/>
            <a:ext cx="800100" cy="204787"/>
          </a:xfrm>
          <a:prstGeom prst="rect">
            <a:avLst/>
          </a:prstGeom>
          <a:ln/>
        </p:spPr>
        <p:txBody>
          <a:bodyPr wrap="square" lIns="0" tIns="0" rIns="0" bIns="0" rtlCol="0" anchor="t"/>
          <a:lstStyle/>
          <a:p>
            <a:pPr algn="l" indent="0" marL="0">
              <a:lnSpc>
                <a:spcPts val="1620"/>
              </a:lnSpc>
              <a:buNone/>
            </a:pPr>
            <a:r>
              <a:rPr lang="en-US" sz="1000" b="1" dirty="0">
                <a:solidFill>
                  <a:srgbClr val="FFFFFF"/>
                </a:solidFill>
                <a:latin typeface="Ubuntu" pitchFamily="34" charset="0"/>
                <a:ea typeface="Ubuntu" pitchFamily="34" charset="-122"/>
                <a:cs typeface="Ubuntu" pitchFamily="34" charset="-120"/>
              </a:rPr>
              <a:t>Accent Cyan</a:t>
            </a:r>
            <a:endParaRPr lang="en-US" sz="1000" dirty="0"/>
          </a:p>
        </p:txBody>
      </p:sp>
      <p:sp>
        <p:nvSpPr>
          <p:cNvPr id="24" name="Text 16"/>
          <p:cNvSpPr/>
          <p:nvPr/>
        </p:nvSpPr>
        <p:spPr>
          <a:xfrm>
            <a:off x="5583250" y="2752204"/>
            <a:ext cx="800100" cy="166688"/>
          </a:xfrm>
          <a:prstGeom prst="rect">
            <a:avLst/>
          </a:prstGeom>
          <a:ln/>
        </p:spPr>
        <p:txBody>
          <a:bodyPr wrap="square" lIns="0" tIns="0" rIns="0" bIns="0" rtlCol="0" anchor="t"/>
          <a:lstStyle/>
          <a:p>
            <a:pPr algn="l" indent="0" marL="0">
              <a:lnSpc>
                <a:spcPts val="1296"/>
              </a:lnSpc>
              <a:buNone/>
            </a:pPr>
            <a:r>
              <a:rPr lang="en-US" sz="800" dirty="0">
                <a:solidFill>
                  <a:srgbClr val="FFFFFF"/>
                </a:solidFill>
                <a:latin typeface="Ubuntu" pitchFamily="34" charset="0"/>
                <a:ea typeface="Ubuntu" pitchFamily="34" charset="-122"/>
                <a:cs typeface="Ubuntu" pitchFamily="34" charset="-120"/>
              </a:rPr>
              <a:t>#01D7FB</a:t>
            </a:r>
            <a:endParaRPr lang="en-US" sz="800" dirty="0"/>
          </a:p>
        </p:txBody>
      </p:sp>
      <p:sp>
        <p:nvSpPr>
          <p:cNvPr id="25" name="Shape 17"/>
          <p:cNvSpPr/>
          <p:nvPr/>
        </p:nvSpPr>
        <p:spPr>
          <a:xfrm>
            <a:off x="4988198" y="3115308"/>
            <a:ext cx="457200" cy="180975"/>
          </a:xfrm>
          <a:prstGeom prst="roundRect">
            <a:avLst>
              <a:gd name="adj" fmla="val 31911"/>
            </a:avLst>
          </a:prstGeom>
          <a:solidFill>
            <a:srgbClr val="0E0E0E"/>
          </a:solidFill>
          <a:ln w="4763">
            <a:solidFill>
              <a:srgbClr val="FFFFFF">
                <a:alpha val="10000"/>
              </a:srgbClr>
            </a:solidFill>
            <a:prstDash val="solid"/>
          </a:ln>
        </p:spPr>
      </p:sp>
      <p:sp>
        <p:nvSpPr>
          <p:cNvPr id="26" name="Text 18"/>
          <p:cNvSpPr/>
          <p:nvPr/>
        </p:nvSpPr>
        <p:spPr>
          <a:xfrm>
            <a:off x="5582469" y="3021137"/>
            <a:ext cx="1123950" cy="204787"/>
          </a:xfrm>
          <a:prstGeom prst="rect">
            <a:avLst/>
          </a:prstGeom>
          <a:ln/>
        </p:spPr>
        <p:txBody>
          <a:bodyPr wrap="square" lIns="0" tIns="0" rIns="0" bIns="0" rtlCol="0" anchor="t"/>
          <a:lstStyle/>
          <a:p>
            <a:pPr algn="l" indent="0" marL="0">
              <a:lnSpc>
                <a:spcPts val="1620"/>
              </a:lnSpc>
              <a:buNone/>
            </a:pPr>
            <a:r>
              <a:rPr lang="en-US" sz="1000" b="1" dirty="0">
                <a:solidFill>
                  <a:srgbClr val="FFFFFF"/>
                </a:solidFill>
                <a:latin typeface="Ubuntu" pitchFamily="34" charset="0"/>
                <a:ea typeface="Ubuntu" pitchFamily="34" charset="-122"/>
                <a:cs typeface="Ubuntu" pitchFamily="34" charset="-120"/>
              </a:rPr>
              <a:t>Background Dark</a:t>
            </a:r>
            <a:endParaRPr lang="en-US" sz="1000" dirty="0"/>
          </a:p>
        </p:txBody>
      </p:sp>
      <p:sp>
        <p:nvSpPr>
          <p:cNvPr id="27" name="Text 19"/>
          <p:cNvSpPr/>
          <p:nvPr/>
        </p:nvSpPr>
        <p:spPr>
          <a:xfrm>
            <a:off x="5582469" y="3225329"/>
            <a:ext cx="1123950" cy="166688"/>
          </a:xfrm>
          <a:prstGeom prst="rect">
            <a:avLst/>
          </a:prstGeom>
          <a:ln/>
        </p:spPr>
        <p:txBody>
          <a:bodyPr wrap="square" lIns="0" tIns="0" rIns="0" bIns="0" rtlCol="0" anchor="t"/>
          <a:lstStyle/>
          <a:p>
            <a:pPr algn="l" indent="0" marL="0">
              <a:lnSpc>
                <a:spcPts val="1296"/>
              </a:lnSpc>
              <a:buNone/>
            </a:pPr>
            <a:r>
              <a:rPr lang="en-US" sz="800" dirty="0">
                <a:solidFill>
                  <a:srgbClr val="FFFFFF"/>
                </a:solidFill>
                <a:latin typeface="Ubuntu" pitchFamily="34" charset="0"/>
                <a:ea typeface="Ubuntu" pitchFamily="34" charset="-122"/>
                <a:cs typeface="Ubuntu" pitchFamily="34" charset="-120"/>
              </a:rPr>
              <a:t>#0E0E0E</a:t>
            </a:r>
            <a:endParaRPr lang="en-US" sz="800" dirty="0"/>
          </a:p>
        </p:txBody>
      </p:sp>
      <p:pic>
        <p:nvPicPr>
          <p:cNvPr id="28" name="Image 6" descr="preencoded.png">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4988198" y="3588432"/>
            <a:ext cx="457200" cy="180975"/>
          </a:xfrm>
          <a:prstGeom prst="rect">
            <a:avLst/>
          </a:prstGeom>
        </p:spPr>
      </p:pic>
      <p:sp>
        <p:nvSpPr>
          <p:cNvPr id="29" name="Text 20"/>
          <p:cNvSpPr/>
          <p:nvPr/>
        </p:nvSpPr>
        <p:spPr>
          <a:xfrm>
            <a:off x="5581836" y="3494261"/>
            <a:ext cx="995362" cy="204787"/>
          </a:xfrm>
          <a:prstGeom prst="rect">
            <a:avLst/>
          </a:prstGeom>
          <a:ln/>
        </p:spPr>
        <p:txBody>
          <a:bodyPr wrap="square" lIns="0" tIns="0" rIns="0" bIns="0" rtlCol="0" anchor="t"/>
          <a:lstStyle/>
          <a:p>
            <a:pPr algn="l" indent="0" marL="0">
              <a:lnSpc>
                <a:spcPts val="1620"/>
              </a:lnSpc>
              <a:buNone/>
            </a:pPr>
            <a:r>
              <a:rPr lang="en-US" sz="1000" b="1" dirty="0">
                <a:solidFill>
                  <a:srgbClr val="FFFFFF"/>
                </a:solidFill>
                <a:latin typeface="Ubuntu" pitchFamily="34" charset="0"/>
                <a:ea typeface="Ubuntu" pitchFamily="34" charset="-122"/>
                <a:cs typeface="Ubuntu" pitchFamily="34" charset="-120"/>
              </a:rPr>
              <a:t>Gradient Brand</a:t>
            </a:r>
            <a:endParaRPr lang="en-US" sz="1000" dirty="0"/>
          </a:p>
        </p:txBody>
      </p:sp>
      <p:sp>
        <p:nvSpPr>
          <p:cNvPr id="30" name="Text 21"/>
          <p:cNvSpPr/>
          <p:nvPr/>
        </p:nvSpPr>
        <p:spPr>
          <a:xfrm>
            <a:off x="5581836" y="3698453"/>
            <a:ext cx="995362" cy="166688"/>
          </a:xfrm>
          <a:prstGeom prst="rect">
            <a:avLst/>
          </a:prstGeom>
          <a:ln/>
        </p:spPr>
        <p:txBody>
          <a:bodyPr wrap="square" lIns="0" tIns="0" rIns="0" bIns="0" rtlCol="0" anchor="t"/>
          <a:lstStyle/>
          <a:p>
            <a:pPr algn="l" indent="0" marL="0">
              <a:lnSpc>
                <a:spcPts val="1296"/>
              </a:lnSpc>
              <a:buNone/>
            </a:pPr>
            <a:r>
              <a:rPr lang="en-US" sz="800" dirty="0">
                <a:solidFill>
                  <a:srgbClr val="FFFFFF"/>
                </a:solidFill>
                <a:latin typeface="Ubuntu" pitchFamily="34" charset="0"/>
                <a:ea typeface="Ubuntu" pitchFamily="34" charset="-122"/>
                <a:cs typeface="Ubuntu" pitchFamily="34" charset="-120"/>
              </a:rPr>
              <a:t>Pink → Cyan</a:t>
            </a:r>
            <a:endParaRPr lang="en-US" sz="800" dirty="0"/>
          </a:p>
        </p:txBody>
      </p:sp>
      <p:sp>
        <p:nvSpPr>
          <p:cNvPr id="31" name="Shape 22"/>
          <p:cNvSpPr/>
          <p:nvPr/>
        </p:nvSpPr>
        <p:spPr>
          <a:xfrm>
            <a:off x="730560" y="4297598"/>
            <a:ext cx="3705225" cy="2333625"/>
          </a:xfrm>
          <a:prstGeom prst="roundRect">
            <a:avLst>
              <a:gd name="adj" fmla="val 1842"/>
            </a:avLst>
          </a:prstGeom>
          <a:solidFill>
            <a:srgbClr val="FFFFFF">
              <a:alpha val="3000"/>
            </a:srgbClr>
          </a:solidFill>
          <a:ln w="4763">
            <a:solidFill>
              <a:srgbClr val="FFFFFF">
                <a:alpha val="8000"/>
              </a:srgbClr>
            </a:solidFill>
            <a:prstDash val="solid"/>
          </a:ln>
        </p:spPr>
      </p:sp>
      <p:sp>
        <p:nvSpPr>
          <p:cNvPr id="32" name="Text 23"/>
          <p:cNvSpPr/>
          <p:nvPr/>
        </p:nvSpPr>
        <p:spPr>
          <a:xfrm>
            <a:off x="1011548" y="4455691"/>
            <a:ext cx="3143250" cy="152400"/>
          </a:xfrm>
          <a:prstGeom prst="rect">
            <a:avLst/>
          </a:prstGeom>
          <a:ln/>
        </p:spPr>
        <p:txBody>
          <a:bodyPr wrap="square" lIns="0" tIns="0" rIns="0" bIns="0" rtlCol="0" anchor="t"/>
          <a:lstStyle/>
          <a:p>
            <a:pPr algn="l" indent="0" marL="0">
              <a:lnSpc>
                <a:spcPts val="1188"/>
              </a:lnSpc>
              <a:spcAft>
                <a:spcPts val="1013"/>
              </a:spcAft>
              <a:buNone/>
            </a:pPr>
            <a:r>
              <a:rPr lang="en-US" sz="700" dirty="0">
                <a:solidFill>
                  <a:srgbClr val="FFFFFF"/>
                </a:solidFill>
                <a:latin typeface="Ubuntu" pitchFamily="34" charset="0"/>
                <a:ea typeface="Ubuntu" pitchFamily="34" charset="-122"/>
                <a:cs typeface="Ubuntu" pitchFamily="34" charset="-120"/>
              </a:rPr>
              <a:t>TYPOGRAPHY</a:t>
            </a:r>
            <a:endParaRPr lang="en-US" sz="700" dirty="0"/>
          </a:p>
        </p:txBody>
      </p:sp>
      <p:sp>
        <p:nvSpPr>
          <p:cNvPr id="33" name="Text 24"/>
          <p:cNvSpPr/>
          <p:nvPr/>
        </p:nvSpPr>
        <p:spPr>
          <a:xfrm>
            <a:off x="1011548" y="4735450"/>
            <a:ext cx="3143250" cy="481012"/>
          </a:xfrm>
          <a:prstGeom prst="rect">
            <a:avLst/>
          </a:prstGeom>
          <a:ln/>
        </p:spPr>
        <p:txBody>
          <a:bodyPr wrap="square" lIns="0" tIns="0" rIns="0" bIns="0" rtlCol="0" anchor="t"/>
          <a:lstStyle/>
          <a:p>
            <a:pPr algn="l" indent="0" marL="0">
              <a:lnSpc>
                <a:spcPts val="3780"/>
              </a:lnSpc>
              <a:spcAft>
                <a:spcPts val="203"/>
              </a:spcAft>
              <a:buNone/>
            </a:pPr>
            <a:r>
              <a:rPr lang="en-US" sz="2500" b="1" dirty="0">
                <a:solidFill>
                  <a:srgbClr val="FFFFFF"/>
                </a:solidFill>
                <a:latin typeface="Ubuntu" pitchFamily="34" charset="0"/>
                <a:ea typeface="Ubuntu" pitchFamily="34" charset="-122"/>
                <a:cs typeface="Ubuntu" pitchFamily="34" charset="-120"/>
              </a:rPr>
              <a:t>Ubuntu</a:t>
            </a:r>
            <a:endParaRPr lang="en-US" sz="2500" dirty="0"/>
          </a:p>
        </p:txBody>
      </p:sp>
      <p:sp>
        <p:nvSpPr>
          <p:cNvPr id="34" name="Text 25"/>
          <p:cNvSpPr/>
          <p:nvPr/>
        </p:nvSpPr>
        <p:spPr>
          <a:xfrm>
            <a:off x="1011548" y="5242396"/>
            <a:ext cx="3143250" cy="190500"/>
          </a:xfrm>
          <a:prstGeom prst="rect">
            <a:avLst/>
          </a:prstGeom>
          <a:ln/>
        </p:spPr>
        <p:txBody>
          <a:bodyPr wrap="square" lIns="0" tIns="0" rIns="0" bIns="0" rtlCol="0" anchor="t"/>
          <a:lstStyle/>
          <a:p>
            <a:pPr algn="l" indent="0" marL="0">
              <a:lnSpc>
                <a:spcPts val="1512"/>
              </a:lnSpc>
              <a:spcAft>
                <a:spcPts val="810"/>
              </a:spcAft>
              <a:buNone/>
            </a:pPr>
            <a:r>
              <a:rPr lang="en-US" sz="1000" dirty="0">
                <a:solidFill>
                  <a:srgbClr val="FFFFFF"/>
                </a:solidFill>
                <a:latin typeface="Ubuntu" pitchFamily="34" charset="0"/>
                <a:ea typeface="Ubuntu" pitchFamily="34" charset="-122"/>
                <a:cs typeface="Ubuntu" pitchFamily="34" charset="-120"/>
              </a:rPr>
              <a:t>Primary typeface — all weights</a:t>
            </a:r>
            <a:endParaRPr lang="en-US" sz="1000" dirty="0"/>
          </a:p>
        </p:txBody>
      </p:sp>
      <p:sp>
        <p:nvSpPr>
          <p:cNvPr id="35" name="Text 26"/>
          <p:cNvSpPr/>
          <p:nvPr/>
        </p:nvSpPr>
        <p:spPr>
          <a:xfrm>
            <a:off x="1011548" y="5535550"/>
            <a:ext cx="400050" cy="276225"/>
          </a:xfrm>
          <a:prstGeom prst="rect">
            <a:avLst/>
          </a:prstGeom>
          <a:ln/>
        </p:spPr>
        <p:txBody>
          <a:bodyPr wrap="square" lIns="0" tIns="0" rIns="0" bIns="0" rtlCol="0" anchor="t"/>
          <a:lstStyle/>
          <a:p>
            <a:pPr algn="ctr" indent="0" marL="0">
              <a:lnSpc>
                <a:spcPts val="2160"/>
              </a:lnSpc>
              <a:buNone/>
            </a:pPr>
            <a:r>
              <a:rPr lang="en-US" sz="1400" b="1" dirty="0">
                <a:solidFill>
                  <a:srgbClr val="FFFFFF"/>
                </a:solidFill>
                <a:latin typeface="Ubuntu" pitchFamily="34" charset="0"/>
                <a:ea typeface="Ubuntu" pitchFamily="34" charset="-122"/>
                <a:cs typeface="Ubuntu" pitchFamily="34" charset="-120"/>
              </a:rPr>
              <a:t>Bold</a:t>
            </a:r>
            <a:endParaRPr lang="en-US" sz="1400" dirty="0"/>
          </a:p>
        </p:txBody>
      </p:sp>
      <p:sp>
        <p:nvSpPr>
          <p:cNvPr id="36" name="Text 27"/>
          <p:cNvSpPr/>
          <p:nvPr/>
        </p:nvSpPr>
        <p:spPr>
          <a:xfrm>
            <a:off x="1011548" y="5810101"/>
            <a:ext cx="400050" cy="152400"/>
          </a:xfrm>
          <a:prstGeom prst="rect">
            <a:avLst/>
          </a:prstGeom>
          <a:ln/>
        </p:spPr>
        <p:txBody>
          <a:bodyPr wrap="square" lIns="0" tIns="0" rIns="0" bIns="0" rtlCol="0" anchor="t"/>
          <a:lstStyle/>
          <a:p>
            <a:pPr algn="ctr" indent="0" marL="0">
              <a:lnSpc>
                <a:spcPts val="1188"/>
              </a:lnSpc>
              <a:buNone/>
            </a:pPr>
            <a:r>
              <a:rPr lang="en-US" sz="700" dirty="0">
                <a:solidFill>
                  <a:srgbClr val="FFFFFF"/>
                </a:solidFill>
                <a:latin typeface="Ubuntu" pitchFamily="34" charset="0"/>
                <a:ea typeface="Ubuntu" pitchFamily="34" charset="-122"/>
                <a:cs typeface="Ubuntu" pitchFamily="34" charset="-120"/>
              </a:rPr>
              <a:t>700</a:t>
            </a:r>
            <a:endParaRPr lang="en-US" sz="700" dirty="0"/>
          </a:p>
        </p:txBody>
      </p:sp>
      <p:sp>
        <p:nvSpPr>
          <p:cNvPr id="37" name="Text 28"/>
          <p:cNvSpPr/>
          <p:nvPr/>
        </p:nvSpPr>
        <p:spPr>
          <a:xfrm>
            <a:off x="1595289" y="5535550"/>
            <a:ext cx="690562" cy="276225"/>
          </a:xfrm>
          <a:prstGeom prst="rect">
            <a:avLst/>
          </a:prstGeom>
          <a:ln/>
        </p:spPr>
        <p:txBody>
          <a:bodyPr wrap="square" lIns="0" tIns="0" rIns="0" bIns="0" rtlCol="0" anchor="t"/>
          <a:lstStyle/>
          <a:p>
            <a:pPr algn="ctr" indent="0" marL="0">
              <a:lnSpc>
                <a:spcPts val="2160"/>
              </a:lnSpc>
              <a:buNone/>
            </a:pPr>
            <a:r>
              <a:rPr lang="en-US" sz="1400" dirty="0">
                <a:solidFill>
                  <a:srgbClr val="FFFFFF"/>
                </a:solidFill>
                <a:latin typeface="Ubuntu" pitchFamily="34" charset="0"/>
                <a:ea typeface="Ubuntu" pitchFamily="34" charset="-122"/>
                <a:cs typeface="Ubuntu" pitchFamily="34" charset="-120"/>
              </a:rPr>
              <a:t>Medium</a:t>
            </a:r>
            <a:endParaRPr lang="en-US" sz="1400" dirty="0"/>
          </a:p>
        </p:txBody>
      </p:sp>
      <p:sp>
        <p:nvSpPr>
          <p:cNvPr id="38" name="Text 29"/>
          <p:cNvSpPr/>
          <p:nvPr/>
        </p:nvSpPr>
        <p:spPr>
          <a:xfrm>
            <a:off x="1595289" y="5810101"/>
            <a:ext cx="690562" cy="152400"/>
          </a:xfrm>
          <a:prstGeom prst="rect">
            <a:avLst/>
          </a:prstGeom>
          <a:ln/>
        </p:spPr>
        <p:txBody>
          <a:bodyPr wrap="square" lIns="0" tIns="0" rIns="0" bIns="0" rtlCol="0" anchor="t"/>
          <a:lstStyle/>
          <a:p>
            <a:pPr algn="ctr" indent="0" marL="0">
              <a:lnSpc>
                <a:spcPts val="1188"/>
              </a:lnSpc>
              <a:buNone/>
            </a:pPr>
            <a:r>
              <a:rPr lang="en-US" sz="700" dirty="0">
                <a:solidFill>
                  <a:srgbClr val="FFFFFF"/>
                </a:solidFill>
                <a:latin typeface="Ubuntu" pitchFamily="34" charset="0"/>
                <a:ea typeface="Ubuntu" pitchFamily="34" charset="-122"/>
                <a:cs typeface="Ubuntu" pitchFamily="34" charset="-120"/>
              </a:rPr>
              <a:t>500</a:t>
            </a:r>
            <a:endParaRPr lang="en-US" sz="700" dirty="0"/>
          </a:p>
        </p:txBody>
      </p:sp>
      <p:sp>
        <p:nvSpPr>
          <p:cNvPr id="39" name="Text 30"/>
          <p:cNvSpPr/>
          <p:nvPr/>
        </p:nvSpPr>
        <p:spPr>
          <a:xfrm>
            <a:off x="2468724" y="5535550"/>
            <a:ext cx="414338" cy="276225"/>
          </a:xfrm>
          <a:prstGeom prst="rect">
            <a:avLst/>
          </a:prstGeom>
          <a:ln/>
        </p:spPr>
        <p:txBody>
          <a:bodyPr wrap="square" lIns="0" tIns="0" rIns="0" bIns="0" rtlCol="0" anchor="t"/>
          <a:lstStyle/>
          <a:p>
            <a:pPr algn="ctr" indent="0" marL="0">
              <a:lnSpc>
                <a:spcPts val="2160"/>
              </a:lnSpc>
              <a:buNone/>
            </a:pPr>
            <a:r>
              <a:rPr lang="en-US" sz="1400" dirty="0">
                <a:solidFill>
                  <a:srgbClr val="FFFFFF"/>
                </a:solidFill>
                <a:latin typeface="Ubuntu" pitchFamily="34" charset="0"/>
                <a:ea typeface="Ubuntu" pitchFamily="34" charset="-122"/>
                <a:cs typeface="Ubuntu" pitchFamily="34" charset="-120"/>
              </a:rPr>
              <a:t>Light</a:t>
            </a:r>
            <a:endParaRPr lang="en-US" sz="1400" dirty="0"/>
          </a:p>
        </p:txBody>
      </p:sp>
      <p:sp>
        <p:nvSpPr>
          <p:cNvPr id="40" name="Text 31"/>
          <p:cNvSpPr/>
          <p:nvPr/>
        </p:nvSpPr>
        <p:spPr>
          <a:xfrm>
            <a:off x="2468724" y="5810101"/>
            <a:ext cx="414338" cy="152400"/>
          </a:xfrm>
          <a:prstGeom prst="rect">
            <a:avLst/>
          </a:prstGeom>
          <a:ln/>
        </p:spPr>
        <p:txBody>
          <a:bodyPr wrap="square" lIns="0" tIns="0" rIns="0" bIns="0" rtlCol="0" anchor="t"/>
          <a:lstStyle/>
          <a:p>
            <a:pPr algn="ctr" indent="0" marL="0">
              <a:lnSpc>
                <a:spcPts val="1188"/>
              </a:lnSpc>
              <a:buNone/>
            </a:pPr>
            <a:r>
              <a:rPr lang="en-US" sz="700" dirty="0">
                <a:solidFill>
                  <a:srgbClr val="FFFFFF"/>
                </a:solidFill>
                <a:latin typeface="Ubuntu" pitchFamily="34" charset="0"/>
                <a:ea typeface="Ubuntu" pitchFamily="34" charset="-122"/>
                <a:cs typeface="Ubuntu" pitchFamily="34" charset="-120"/>
              </a:rPr>
              <a:t>300</a:t>
            </a:r>
            <a:endParaRPr lang="en-US" sz="700" dirty="0"/>
          </a:p>
        </p:txBody>
      </p:sp>
      <p:sp>
        <p:nvSpPr>
          <p:cNvPr id="41" name="Shape 32"/>
          <p:cNvSpPr/>
          <p:nvPr/>
        </p:nvSpPr>
        <p:spPr>
          <a:xfrm>
            <a:off x="4708215" y="4297598"/>
            <a:ext cx="3705225" cy="2333625"/>
          </a:xfrm>
          <a:prstGeom prst="roundRect">
            <a:avLst>
              <a:gd name="adj" fmla="val 1842"/>
            </a:avLst>
          </a:prstGeom>
          <a:solidFill>
            <a:srgbClr val="FF4199">
              <a:alpha val="4000"/>
            </a:srgbClr>
          </a:solidFill>
          <a:ln w="4763">
            <a:solidFill>
              <a:srgbClr val="FF4199">
                <a:alpha val="12000"/>
              </a:srgbClr>
            </a:solidFill>
            <a:prstDash val="solid"/>
          </a:ln>
        </p:spPr>
      </p:sp>
      <p:sp>
        <p:nvSpPr>
          <p:cNvPr id="42" name="Text 33"/>
          <p:cNvSpPr/>
          <p:nvPr/>
        </p:nvSpPr>
        <p:spPr>
          <a:xfrm>
            <a:off x="4989202" y="4455691"/>
            <a:ext cx="3143250" cy="152400"/>
          </a:xfrm>
          <a:prstGeom prst="rect">
            <a:avLst/>
          </a:prstGeom>
          <a:ln/>
        </p:spPr>
        <p:txBody>
          <a:bodyPr wrap="square" lIns="0" tIns="0" rIns="0" bIns="0" rtlCol="0" anchor="t"/>
          <a:lstStyle/>
          <a:p>
            <a:pPr algn="l" indent="0" marL="0">
              <a:lnSpc>
                <a:spcPts val="1188"/>
              </a:lnSpc>
              <a:spcAft>
                <a:spcPts val="1013"/>
              </a:spcAft>
              <a:buNone/>
            </a:pPr>
            <a:r>
              <a:rPr lang="en-US" sz="700" dirty="0">
                <a:solidFill>
                  <a:srgbClr val="FFFFFF"/>
                </a:solidFill>
                <a:latin typeface="Ubuntu" pitchFamily="34" charset="0"/>
                <a:ea typeface="Ubuntu" pitchFamily="34" charset="-122"/>
                <a:cs typeface="Ubuntu" pitchFamily="34" charset="-120"/>
              </a:rPr>
              <a:t>BRAND POSITION</a:t>
            </a:r>
            <a:endParaRPr lang="en-US" sz="700" dirty="0"/>
          </a:p>
        </p:txBody>
      </p:sp>
      <p:sp>
        <p:nvSpPr>
          <p:cNvPr id="43" name="Text 34"/>
          <p:cNvSpPr/>
          <p:nvPr/>
        </p:nvSpPr>
        <p:spPr>
          <a:xfrm>
            <a:off x="4989202" y="4735562"/>
            <a:ext cx="3143250" cy="247650"/>
          </a:xfrm>
          <a:prstGeom prst="rect">
            <a:avLst/>
          </a:prstGeom>
          <a:ln/>
        </p:spPr>
        <p:txBody>
          <a:bodyPr wrap="square" lIns="0" tIns="0" rIns="0" bIns="0" rtlCol="0" anchor="t"/>
          <a:lstStyle/>
          <a:p>
            <a:pPr algn="l" indent="0" marL="0">
              <a:lnSpc>
                <a:spcPts val="1944"/>
              </a:lnSpc>
              <a:buNone/>
            </a:pPr>
            <a:r>
              <a:rPr lang="en-US" sz="1200" b="1" dirty="0">
                <a:solidFill>
                  <a:srgbClr val="FF4199"/>
                </a:solidFill>
                <a:latin typeface="Ubuntu" pitchFamily="34" charset="0"/>
                <a:ea typeface="Ubuntu" pitchFamily="34" charset="-122"/>
                <a:cs typeface="Ubuntu" pitchFamily="34" charset="-120"/>
              </a:rPr>
              <a:t>Premium — not mass market</a:t>
            </a:r>
            <a:endParaRPr lang="en-US" sz="1200" dirty="0"/>
          </a:p>
        </p:txBody>
      </p:sp>
      <p:sp>
        <p:nvSpPr>
          <p:cNvPr id="44" name="Text 35"/>
          <p:cNvSpPr/>
          <p:nvPr/>
        </p:nvSpPr>
        <p:spPr>
          <a:xfrm>
            <a:off x="4989202" y="5059784"/>
            <a:ext cx="3143250" cy="576262"/>
          </a:xfrm>
          <a:prstGeom prst="rect">
            <a:avLst/>
          </a:prstGeom>
          <a:ln/>
        </p:spPr>
        <p:txBody>
          <a:bodyPr wrap="square" lIns="0" tIns="0" rIns="0" bIns="0" rtlCol="0" anchor="t"/>
          <a:lstStyle/>
          <a:p>
            <a:pPr algn="l" indent="0" marL="0">
              <a:lnSpc>
                <a:spcPts val="1512"/>
              </a:lnSpc>
              <a:buNone/>
            </a:pPr>
            <a:r>
              <a:rPr lang="en-US" sz="1000" dirty="0">
                <a:solidFill>
                  <a:srgbClr val="FFFFFF"/>
                </a:solidFill>
                <a:latin typeface="Ubuntu" pitchFamily="34" charset="0"/>
                <a:ea typeface="Ubuntu" pitchFamily="34" charset="-122"/>
                <a:cs typeface="Ubuntu" pitchFamily="34" charset="-120"/>
              </a:rPr>
              <a:t>Radio Mega targets listeners who want a curated, high-quality experience — not a utility app with 10K genre checkboxes.</a:t>
            </a:r>
            <a:endParaRPr lang="en-US" sz="1000" dirty="0"/>
          </a:p>
        </p:txBody>
      </p:sp>
      <p:sp>
        <p:nvSpPr>
          <p:cNvPr id="45" name="Text 36"/>
          <p:cNvSpPr/>
          <p:nvPr/>
        </p:nvSpPr>
        <p:spPr>
          <a:xfrm>
            <a:off x="4989202" y="5764039"/>
            <a:ext cx="3143250" cy="247650"/>
          </a:xfrm>
          <a:prstGeom prst="rect">
            <a:avLst/>
          </a:prstGeom>
          <a:ln/>
        </p:spPr>
        <p:txBody>
          <a:bodyPr wrap="square" lIns="0" tIns="0" rIns="0" bIns="0" rtlCol="0" anchor="t"/>
          <a:lstStyle/>
          <a:p>
            <a:pPr algn="l" indent="0" marL="0">
              <a:lnSpc>
                <a:spcPts val="1944"/>
              </a:lnSpc>
              <a:spcBef>
                <a:spcPts val="405"/>
              </a:spcBef>
              <a:buNone/>
            </a:pPr>
            <a:r>
              <a:rPr lang="en-US" sz="1200" b="1" dirty="0">
                <a:solidFill>
                  <a:srgbClr val="FF4199"/>
                </a:solidFill>
                <a:latin typeface="Ubuntu" pitchFamily="34" charset="0"/>
                <a:ea typeface="Ubuntu" pitchFamily="34" charset="-122"/>
                <a:cs typeface="Ubuntu" pitchFamily="34" charset="-120"/>
              </a:rPr>
              <a:t>Global — locally relevant</a:t>
            </a:r>
            <a:endParaRPr lang="en-US" sz="1200" dirty="0"/>
          </a:p>
        </p:txBody>
      </p:sp>
      <p:sp>
        <p:nvSpPr>
          <p:cNvPr id="46" name="Text 37"/>
          <p:cNvSpPr/>
          <p:nvPr/>
        </p:nvSpPr>
        <p:spPr>
          <a:xfrm>
            <a:off x="4989202" y="6087517"/>
            <a:ext cx="3143250" cy="385763"/>
          </a:xfrm>
          <a:prstGeom prst="rect">
            <a:avLst/>
          </a:prstGeom>
          <a:ln/>
        </p:spPr>
        <p:txBody>
          <a:bodyPr wrap="square" lIns="0" tIns="0" rIns="0" bIns="0" rtlCol="0" anchor="t"/>
          <a:lstStyle/>
          <a:p>
            <a:pPr algn="l" indent="0" marL="0">
              <a:lnSpc>
                <a:spcPts val="1512"/>
              </a:lnSpc>
              <a:buNone/>
            </a:pPr>
            <a:r>
              <a:rPr lang="en-US" sz="1000" dirty="0">
                <a:solidFill>
                  <a:srgbClr val="FFFFFF"/>
                </a:solidFill>
                <a:latin typeface="Ubuntu" pitchFamily="34" charset="0"/>
                <a:ea typeface="Ubuntu" pitchFamily="34" charset="-122"/>
                <a:cs typeface="Ubuntu" pitchFamily="34" charset="-120"/>
              </a:rPr>
              <a:t>50 UI languages, country-first browsing, region-specific recommendations.</a:t>
            </a:r>
            <a:endParaRPr lang="en-US" sz="1000" dirty="0"/>
          </a:p>
        </p:txBody>
      </p:sp>
      <p:sp>
        <p:nvSpPr>
          <p:cNvPr id="47" name="Text 38"/>
          <p:cNvSpPr/>
          <p:nvPr/>
        </p:nvSpPr>
        <p:spPr>
          <a:xfrm>
            <a:off x="0" y="4781848"/>
            <a:ext cx="9144000" cy="361950"/>
          </a:xfrm>
          <a:prstGeom prst="rect">
            <a:avLst/>
          </a:prstGeom>
          <a:ln/>
        </p:spPr>
        <p:txBody>
          <a:bodyPr wrap="square" lIns="0" tIns="0" rIns="0" bIns="0" rtlCol="0" anchor="t"/>
          <a:lstStyle/>
          <a:p>
            <a:pPr algn="l" indent="0" marL="0">
              <a:lnSpc>
                <a:spcPts val="1188"/>
              </a:lnSpc>
              <a:buNone/>
            </a:pPr>
            <a:r>
              <a:rPr lang="en-US" sz="700" dirty="0">
                <a:solidFill>
                  <a:srgbClr val="FFFFFF"/>
                </a:solidFill>
                <a:latin typeface="Ubuntu" pitchFamily="34" charset="0"/>
                <a:ea typeface="Ubuntu" pitchFamily="34" charset="-122"/>
                <a:cs typeface="Ubuntu" pitchFamily="34" charset="-120"/>
              </a:rPr>
              <a:t>RADIO MEGA</a:t>
            </a:r>
            <a:pPr algn="l" indent="0" marL="0">
              <a:lnSpc>
                <a:spcPts val="1188"/>
              </a:lnSpc>
              <a:buNone/>
            </a:pPr>
            <a:r>
              <a:rPr lang="en-US" sz="700" dirty="0">
                <a:solidFill>
                  <a:srgbClr val="FFFFFF"/>
                </a:solidFill>
                <a:latin typeface="Ubuntu" pitchFamily="34" charset="0"/>
                <a:ea typeface="Ubuntu" pitchFamily="34" charset="-122"/>
                <a:cs typeface="Ubuntu" pitchFamily="34" charset="-120"/>
              </a:rPr>
              <a:t>13 / 18</a:t>
            </a:r>
            <a:endParaRPr lang="en-US" sz="700" dirty="0"/>
          </a:p>
        </p:txBody>
      </p:sp>
      <p:pic>
        <p:nvPicPr>
          <p:cNvPr id="48" name="Image 7" descr="preencoded.png">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0" y="4781848"/>
            <a:ext cx="9144000" cy="36195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E0E0E"/>
          </a:solidFill>
          <a:ln/>
        </p:spPr>
      </p:sp>
      <p:pic>
        <p:nvPicPr>
          <p:cNvPr id="3"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0" y="0"/>
            <a:ext cx="9144000" cy="5143500"/>
          </a:xfrm>
          <a:prstGeom prst="rect">
            <a:avLst/>
          </a:prstGeom>
        </p:spPr>
      </p:pic>
      <p:pic>
        <p:nvPicPr>
          <p:cNvPr id="4"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388182" y="-823927"/>
            <a:ext cx="4208145" cy="4208145"/>
          </a:xfrm>
          <a:prstGeom prst="rect">
            <a:avLst/>
          </a:prstGeom>
        </p:spPr>
      </p:pic>
      <p:sp>
        <p:nvSpPr>
          <p:cNvPr id="5" name="Text 1"/>
          <p:cNvSpPr/>
          <p:nvPr/>
        </p:nvSpPr>
        <p:spPr>
          <a:xfrm>
            <a:off x="731044" y="359532"/>
            <a:ext cx="7681912" cy="138113"/>
          </a:xfrm>
          <a:prstGeom prst="rect">
            <a:avLst/>
          </a:prstGeom>
          <a:ln/>
        </p:spPr>
        <p:txBody>
          <a:bodyPr wrap="square" lIns="0" tIns="0" rIns="0" bIns="0" rtlCol="0" anchor="t"/>
          <a:lstStyle/>
          <a:p>
            <a:pPr algn="l" indent="0" marL="0">
              <a:lnSpc>
                <a:spcPts val="1080"/>
              </a:lnSpc>
              <a:spcAft>
                <a:spcPts val="810"/>
              </a:spcAft>
              <a:buNone/>
            </a:pPr>
            <a:r>
              <a:rPr lang="en-US" sz="700" b="1" dirty="0">
                <a:solidFill>
                  <a:srgbClr val="FF4199"/>
                </a:solidFill>
                <a:latin typeface="Ubuntu" pitchFamily="34" charset="0"/>
                <a:ea typeface="Ubuntu" pitchFamily="34" charset="-122"/>
                <a:cs typeface="Ubuntu" pitchFamily="34" charset="-120"/>
              </a:rPr>
              <a:t>TEAM</a:t>
            </a:r>
            <a:endParaRPr lang="en-US" sz="700" dirty="0"/>
          </a:p>
        </p:txBody>
      </p:sp>
      <p:sp>
        <p:nvSpPr>
          <p:cNvPr id="6" name="Text 2"/>
          <p:cNvSpPr/>
          <p:nvPr/>
        </p:nvSpPr>
        <p:spPr>
          <a:xfrm>
            <a:off x="731044" y="599852"/>
            <a:ext cx="7681912" cy="804862"/>
          </a:xfrm>
          <a:prstGeom prst="rect">
            <a:avLst/>
          </a:prstGeom>
          <a:ln/>
        </p:spPr>
        <p:txBody>
          <a:bodyPr wrap="square" lIns="0" tIns="0" rIns="0" bIns="0" rtlCol="0" anchor="t"/>
          <a:lstStyle/>
          <a:p>
            <a:pPr algn="l" indent="0" marL="0">
              <a:lnSpc>
                <a:spcPts val="3168"/>
              </a:lnSpc>
              <a:buNone/>
            </a:pPr>
            <a:r>
              <a:rPr lang="en-US" sz="2800" b="1" dirty="0">
                <a:solidFill>
                  <a:srgbClr val="FFFFFF"/>
                </a:solidFill>
                <a:latin typeface="Ubuntu" pitchFamily="34" charset="0"/>
                <a:ea typeface="Ubuntu" pitchFamily="34" charset="-122"/>
                <a:cs typeface="Ubuntu" pitchFamily="34" charset="-120"/>
              </a:rPr>
              <a:t>Built by operators who understand the living room</a:t>
            </a:r>
            <a:endParaRPr lang="en-US" sz="2800" dirty="0"/>
          </a:p>
        </p:txBody>
      </p:sp>
      <p:sp>
        <p:nvSpPr>
          <p:cNvPr id="7" name="Shape 3"/>
          <p:cNvSpPr/>
          <p:nvPr/>
        </p:nvSpPr>
        <p:spPr>
          <a:xfrm>
            <a:off x="730523" y="1662857"/>
            <a:ext cx="2409825" cy="2019300"/>
          </a:xfrm>
          <a:prstGeom prst="roundRect">
            <a:avLst>
              <a:gd name="adj" fmla="val 2461"/>
            </a:avLst>
          </a:prstGeom>
          <a:solidFill>
            <a:srgbClr val="FF4199">
              <a:alpha val="6000"/>
            </a:srgbClr>
          </a:solidFill>
          <a:ln w="4763">
            <a:solidFill>
              <a:srgbClr val="FF4199">
                <a:alpha val="18000"/>
              </a:srgbClr>
            </a:solidFill>
            <a:prstDash val="solid"/>
          </a:ln>
        </p:spPr>
      </p:sp>
      <p:pic>
        <p:nvPicPr>
          <p:cNvPr id="8"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964853" y="1820763"/>
            <a:ext cx="457200" cy="457200"/>
          </a:xfrm>
          <a:prstGeom prst="rect">
            <a:avLst/>
          </a:prstGeom>
        </p:spPr>
      </p:pic>
      <p:pic>
        <p:nvPicPr>
          <p:cNvPr id="9" name="Image 3" descr="preencoded.png">    </p:cNvPr>
          <p:cNvPicPr>
            <a:picLocks noChangeAspect="1"/>
          </p:cNvPicPr>
          <p:nvPr/>
        </p:nvPicPr>
        <p:blipFill>
          <a:blip r:embed="rId7"/>
          <a:stretch>
            <a:fillRect/>
          </a:stretch>
        </p:blipFill>
        <p:spPr>
          <a:xfrm>
            <a:off x="1079153" y="1935063"/>
            <a:ext cx="228600" cy="228600"/>
          </a:xfrm>
          <a:prstGeom prst="rect">
            <a:avLst/>
          </a:prstGeom>
        </p:spPr>
      </p:pic>
      <p:sp>
        <p:nvSpPr>
          <p:cNvPr id="10" name="Text 4"/>
          <p:cNvSpPr/>
          <p:nvPr/>
        </p:nvSpPr>
        <p:spPr>
          <a:xfrm>
            <a:off x="963885" y="2379873"/>
            <a:ext cx="1943100" cy="276225"/>
          </a:xfrm>
          <a:prstGeom prst="rect">
            <a:avLst/>
          </a:prstGeom>
          <a:ln/>
        </p:spPr>
        <p:txBody>
          <a:bodyPr wrap="square" lIns="0" tIns="0" rIns="0" bIns="0" rtlCol="0" anchor="t"/>
          <a:lstStyle/>
          <a:p>
            <a:pPr algn="l" indent="0" marL="0">
              <a:lnSpc>
                <a:spcPts val="2160"/>
              </a:lnSpc>
              <a:spcAft>
                <a:spcPts val="203"/>
              </a:spcAft>
              <a:buNone/>
            </a:pPr>
            <a:r>
              <a:rPr lang="en-US" sz="1400" b="1" dirty="0">
                <a:solidFill>
                  <a:srgbClr val="FFFFFF"/>
                </a:solidFill>
                <a:latin typeface="Ubuntu" pitchFamily="34" charset="0"/>
                <a:ea typeface="Ubuntu" pitchFamily="34" charset="-122"/>
                <a:cs typeface="Ubuntu" pitchFamily="34" charset="-120"/>
              </a:rPr>
              <a:t>Founder &amp; CEO</a:t>
            </a:r>
            <a:endParaRPr lang="en-US" sz="1400" dirty="0"/>
          </a:p>
        </p:txBody>
      </p:sp>
      <p:sp>
        <p:nvSpPr>
          <p:cNvPr id="11" name="Text 5"/>
          <p:cNvSpPr/>
          <p:nvPr/>
        </p:nvSpPr>
        <p:spPr>
          <a:xfrm>
            <a:off x="963885" y="2679799"/>
            <a:ext cx="1943100" cy="166688"/>
          </a:xfrm>
          <a:prstGeom prst="rect">
            <a:avLst/>
          </a:prstGeom>
          <a:ln/>
        </p:spPr>
        <p:txBody>
          <a:bodyPr wrap="square" lIns="0" tIns="0" rIns="0" bIns="0" rtlCol="0" anchor="t"/>
          <a:lstStyle/>
          <a:p>
            <a:pPr algn="l" indent="0" marL="0">
              <a:lnSpc>
                <a:spcPts val="1296"/>
              </a:lnSpc>
              <a:spcAft>
                <a:spcPts val="810"/>
              </a:spcAft>
              <a:buNone/>
            </a:pPr>
            <a:r>
              <a:rPr lang="en-US" sz="800" dirty="0">
                <a:solidFill>
                  <a:srgbClr val="FF4199"/>
                </a:solidFill>
                <a:latin typeface="Ubuntu" pitchFamily="34" charset="0"/>
                <a:ea typeface="Ubuntu" pitchFamily="34" charset="-122"/>
                <a:cs typeface="Ubuntu" pitchFamily="34" charset="-120"/>
              </a:rPr>
              <a:t>themegaradio.com</a:t>
            </a:r>
            <a:endParaRPr lang="en-US" sz="800" dirty="0"/>
          </a:p>
        </p:txBody>
      </p:sp>
      <p:sp>
        <p:nvSpPr>
          <p:cNvPr id="12" name="Text 6"/>
          <p:cNvSpPr/>
          <p:nvPr/>
        </p:nvSpPr>
        <p:spPr>
          <a:xfrm>
            <a:off x="963885" y="2948136"/>
            <a:ext cx="1943100" cy="576262"/>
          </a:xfrm>
          <a:prstGeom prst="rect">
            <a:avLst/>
          </a:prstGeom>
          <a:ln/>
        </p:spPr>
        <p:txBody>
          <a:bodyPr wrap="square" lIns="0" tIns="0" rIns="0" bIns="0" rtlCol="0" anchor="t"/>
          <a:lstStyle/>
          <a:p>
            <a:pPr algn="l" indent="0" marL="0">
              <a:lnSpc>
                <a:spcPts val="1512"/>
              </a:lnSpc>
              <a:buNone/>
            </a:pPr>
            <a:r>
              <a:rPr lang="en-US" sz="1000" dirty="0">
                <a:solidFill>
                  <a:srgbClr val="FFFFFF"/>
                </a:solidFill>
                <a:latin typeface="Ubuntu" pitchFamily="34" charset="0"/>
                <a:ea typeface="Ubuntu" pitchFamily="34" charset="-122"/>
                <a:cs typeface="Ubuntu" pitchFamily="34" charset="-120"/>
              </a:rPr>
              <a:t>Product vision, business development, platform partnerships</a:t>
            </a:r>
            <a:endParaRPr lang="en-US" sz="1000" dirty="0"/>
          </a:p>
        </p:txBody>
      </p:sp>
      <p:sp>
        <p:nvSpPr>
          <p:cNvPr id="13" name="Shape 7"/>
          <p:cNvSpPr/>
          <p:nvPr/>
        </p:nvSpPr>
        <p:spPr>
          <a:xfrm>
            <a:off x="3367050" y="1662857"/>
            <a:ext cx="2409825" cy="2019300"/>
          </a:xfrm>
          <a:prstGeom prst="roundRect">
            <a:avLst>
              <a:gd name="adj" fmla="val 2461"/>
            </a:avLst>
          </a:prstGeom>
          <a:solidFill>
            <a:srgbClr val="01D7FB">
              <a:alpha val="4000"/>
            </a:srgbClr>
          </a:solidFill>
          <a:ln w="4763">
            <a:solidFill>
              <a:srgbClr val="01D7FB">
                <a:alpha val="15000"/>
              </a:srgbClr>
            </a:solidFill>
            <a:prstDash val="solid"/>
          </a:ln>
        </p:spPr>
      </p:sp>
      <p:pic>
        <p:nvPicPr>
          <p:cNvPr id="14" name="Image 4" descr="preencoded.png">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3601343" y="1820763"/>
            <a:ext cx="457200" cy="457200"/>
          </a:xfrm>
          <a:prstGeom prst="rect">
            <a:avLst/>
          </a:prstGeom>
        </p:spPr>
      </p:pic>
      <p:pic>
        <p:nvPicPr>
          <p:cNvPr id="15" name="Image 5" descr="preencoded.png">    </p:cNvPr>
          <p:cNvPicPr>
            <a:picLocks noChangeAspect="1"/>
          </p:cNvPicPr>
          <p:nvPr/>
        </p:nvPicPr>
        <p:blipFill>
          <a:blip r:embed="rId10"/>
          <a:stretch>
            <a:fillRect/>
          </a:stretch>
        </p:blipFill>
        <p:spPr>
          <a:xfrm>
            <a:off x="3715643" y="1935063"/>
            <a:ext cx="228600" cy="228600"/>
          </a:xfrm>
          <a:prstGeom prst="rect">
            <a:avLst/>
          </a:prstGeom>
        </p:spPr>
      </p:pic>
      <p:sp>
        <p:nvSpPr>
          <p:cNvPr id="16" name="Text 8"/>
          <p:cNvSpPr/>
          <p:nvPr/>
        </p:nvSpPr>
        <p:spPr>
          <a:xfrm>
            <a:off x="3600413" y="2379873"/>
            <a:ext cx="1943100" cy="276225"/>
          </a:xfrm>
          <a:prstGeom prst="rect">
            <a:avLst/>
          </a:prstGeom>
          <a:ln/>
        </p:spPr>
        <p:txBody>
          <a:bodyPr wrap="square" lIns="0" tIns="0" rIns="0" bIns="0" rtlCol="0" anchor="t"/>
          <a:lstStyle/>
          <a:p>
            <a:pPr algn="l" indent="0" marL="0">
              <a:lnSpc>
                <a:spcPts val="2160"/>
              </a:lnSpc>
              <a:spcAft>
                <a:spcPts val="203"/>
              </a:spcAft>
              <a:buNone/>
            </a:pPr>
            <a:r>
              <a:rPr lang="en-US" sz="1400" b="1" dirty="0">
                <a:solidFill>
                  <a:srgbClr val="FFFFFF"/>
                </a:solidFill>
                <a:latin typeface="Ubuntu" pitchFamily="34" charset="0"/>
                <a:ea typeface="Ubuntu" pitchFamily="34" charset="-122"/>
                <a:cs typeface="Ubuntu" pitchFamily="34" charset="-120"/>
              </a:rPr>
              <a:t>Lead Engineer</a:t>
            </a:r>
            <a:endParaRPr lang="en-US" sz="1400" dirty="0"/>
          </a:p>
        </p:txBody>
      </p:sp>
      <p:sp>
        <p:nvSpPr>
          <p:cNvPr id="17" name="Text 9"/>
          <p:cNvSpPr/>
          <p:nvPr/>
        </p:nvSpPr>
        <p:spPr>
          <a:xfrm>
            <a:off x="3600413" y="2679799"/>
            <a:ext cx="1943100" cy="166688"/>
          </a:xfrm>
          <a:prstGeom prst="rect">
            <a:avLst/>
          </a:prstGeom>
          <a:ln/>
        </p:spPr>
        <p:txBody>
          <a:bodyPr wrap="square" lIns="0" tIns="0" rIns="0" bIns="0" rtlCol="0" anchor="t"/>
          <a:lstStyle/>
          <a:p>
            <a:pPr algn="l" indent="0" marL="0">
              <a:lnSpc>
                <a:spcPts val="1296"/>
              </a:lnSpc>
              <a:spcAft>
                <a:spcPts val="810"/>
              </a:spcAft>
              <a:buNone/>
            </a:pPr>
            <a:r>
              <a:rPr lang="en-US" sz="800" dirty="0">
                <a:solidFill>
                  <a:srgbClr val="01D7FB"/>
                </a:solidFill>
                <a:latin typeface="Ubuntu" pitchFamily="34" charset="0"/>
                <a:ea typeface="Ubuntu" pitchFamily="34" charset="-122"/>
                <a:cs typeface="Ubuntu" pitchFamily="34" charset="-120"/>
              </a:rPr>
              <a:t>Full-stack TV specialist</a:t>
            </a:r>
            <a:endParaRPr lang="en-US" sz="800" dirty="0"/>
          </a:p>
        </p:txBody>
      </p:sp>
      <p:sp>
        <p:nvSpPr>
          <p:cNvPr id="18" name="Text 10"/>
          <p:cNvSpPr/>
          <p:nvPr/>
        </p:nvSpPr>
        <p:spPr>
          <a:xfrm>
            <a:off x="3600413" y="2948136"/>
            <a:ext cx="1943100" cy="576262"/>
          </a:xfrm>
          <a:prstGeom prst="rect">
            <a:avLst/>
          </a:prstGeom>
          <a:ln/>
        </p:spPr>
        <p:txBody>
          <a:bodyPr wrap="square" lIns="0" tIns="0" rIns="0" bIns="0" rtlCol="0" anchor="t"/>
          <a:lstStyle/>
          <a:p>
            <a:pPr algn="l" indent="0" marL="0">
              <a:lnSpc>
                <a:spcPts val="1512"/>
              </a:lnSpc>
              <a:buNone/>
            </a:pPr>
            <a:r>
              <a:rPr lang="en-US" sz="1000" dirty="0">
                <a:solidFill>
                  <a:srgbClr val="FFFFFF"/>
                </a:solidFill>
                <a:latin typeface="Ubuntu" pitchFamily="34" charset="0"/>
                <a:ea typeface="Ubuntu" pitchFamily="34" charset="-122"/>
                <a:cs typeface="Ubuntu" pitchFamily="34" charset="-120"/>
              </a:rPr>
              <a:t>Samsung Tizen, LG webOS, React, Node.js, multi-platform TV SDK expertise</a:t>
            </a:r>
            <a:endParaRPr lang="en-US" sz="1000" dirty="0"/>
          </a:p>
        </p:txBody>
      </p:sp>
      <p:sp>
        <p:nvSpPr>
          <p:cNvPr id="19" name="Shape 11"/>
          <p:cNvSpPr/>
          <p:nvPr/>
        </p:nvSpPr>
        <p:spPr>
          <a:xfrm>
            <a:off x="6003578" y="1661220"/>
            <a:ext cx="2409825" cy="2214563"/>
          </a:xfrm>
          <a:prstGeom prst="roundRect">
            <a:avLst>
              <a:gd name="adj" fmla="val 2046"/>
            </a:avLst>
          </a:prstGeom>
          <a:solidFill>
            <a:srgbClr val="FFFFFF">
              <a:alpha val="3000"/>
            </a:srgbClr>
          </a:solidFill>
          <a:ln w="4763">
            <a:solidFill>
              <a:srgbClr val="FFFFFF">
                <a:alpha val="8000"/>
              </a:srgbClr>
            </a:solidFill>
            <a:prstDash val="solid"/>
          </a:ln>
        </p:spPr>
      </p:sp>
      <p:sp>
        <p:nvSpPr>
          <p:cNvPr id="20" name="Shape 12"/>
          <p:cNvSpPr/>
          <p:nvPr/>
        </p:nvSpPr>
        <p:spPr>
          <a:xfrm>
            <a:off x="6237908" y="1820763"/>
            <a:ext cx="457200" cy="457200"/>
          </a:xfrm>
          <a:prstGeom prst="ellipse">
            <a:avLst/>
          </a:prstGeom>
          <a:solidFill>
            <a:srgbClr val="FFFFFF">
              <a:alpha val="6000"/>
            </a:srgbClr>
          </a:solidFill>
          <a:ln/>
        </p:spPr>
      </p:sp>
      <p:pic>
        <p:nvPicPr>
          <p:cNvPr id="21" name="Image 6" descr="preencoded.png">    </p:cNvPr>
          <p:cNvPicPr>
            <a:picLocks noChangeAspect="1"/>
          </p:cNvPicPr>
          <p:nvPr/>
        </p:nvPicPr>
        <p:blipFill>
          <a:blip r:embed="rId11"/>
          <a:stretch>
            <a:fillRect/>
          </a:stretch>
        </p:blipFill>
        <p:spPr>
          <a:xfrm>
            <a:off x="6352208" y="1935063"/>
            <a:ext cx="228600" cy="228600"/>
          </a:xfrm>
          <a:prstGeom prst="rect">
            <a:avLst/>
          </a:prstGeom>
        </p:spPr>
      </p:pic>
      <p:sp>
        <p:nvSpPr>
          <p:cNvPr id="22" name="Text 13"/>
          <p:cNvSpPr/>
          <p:nvPr/>
        </p:nvSpPr>
        <p:spPr>
          <a:xfrm>
            <a:off x="6236940" y="2379873"/>
            <a:ext cx="1943100" cy="276225"/>
          </a:xfrm>
          <a:prstGeom prst="rect">
            <a:avLst/>
          </a:prstGeom>
          <a:ln/>
        </p:spPr>
        <p:txBody>
          <a:bodyPr wrap="square" lIns="0" tIns="0" rIns="0" bIns="0" rtlCol="0" anchor="t"/>
          <a:lstStyle/>
          <a:p>
            <a:pPr algn="l" indent="0" marL="0">
              <a:lnSpc>
                <a:spcPts val="2160"/>
              </a:lnSpc>
              <a:spcAft>
                <a:spcPts val="203"/>
              </a:spcAft>
              <a:buNone/>
            </a:pPr>
            <a:r>
              <a:rPr lang="en-US" sz="1400" b="1" dirty="0">
                <a:solidFill>
                  <a:srgbClr val="FFFFFF"/>
                </a:solidFill>
                <a:latin typeface="Ubuntu" pitchFamily="34" charset="0"/>
                <a:ea typeface="Ubuntu" pitchFamily="34" charset="-122"/>
                <a:cs typeface="Ubuntu" pitchFamily="34" charset="-120"/>
              </a:rPr>
              <a:t>Advisory Board</a:t>
            </a:r>
            <a:endParaRPr lang="en-US" sz="1400" dirty="0"/>
          </a:p>
        </p:txBody>
      </p:sp>
      <p:sp>
        <p:nvSpPr>
          <p:cNvPr id="23" name="Text 14"/>
          <p:cNvSpPr/>
          <p:nvPr/>
        </p:nvSpPr>
        <p:spPr>
          <a:xfrm>
            <a:off x="6236940" y="2679799"/>
            <a:ext cx="1943100" cy="166688"/>
          </a:xfrm>
          <a:prstGeom prst="rect">
            <a:avLst/>
          </a:prstGeom>
          <a:ln/>
        </p:spPr>
        <p:txBody>
          <a:bodyPr wrap="square" lIns="0" tIns="0" rIns="0" bIns="0" rtlCol="0" anchor="t"/>
          <a:lstStyle/>
          <a:p>
            <a:pPr algn="l" indent="0" marL="0">
              <a:lnSpc>
                <a:spcPts val="1296"/>
              </a:lnSpc>
              <a:spcAft>
                <a:spcPts val="810"/>
              </a:spcAft>
              <a:buNone/>
            </a:pPr>
            <a:r>
              <a:rPr lang="en-US" sz="800" dirty="0">
                <a:solidFill>
                  <a:srgbClr val="FFFFFF"/>
                </a:solidFill>
                <a:latin typeface="Ubuntu" pitchFamily="34" charset="0"/>
                <a:ea typeface="Ubuntu" pitchFamily="34" charset="-122"/>
                <a:cs typeface="Ubuntu" pitchFamily="34" charset="-120"/>
              </a:rPr>
              <a:t>Hiring Q3 2025</a:t>
            </a:r>
            <a:endParaRPr lang="en-US" sz="800" dirty="0"/>
          </a:p>
        </p:txBody>
      </p:sp>
      <p:sp>
        <p:nvSpPr>
          <p:cNvPr id="24" name="Text 15"/>
          <p:cNvSpPr/>
          <p:nvPr/>
        </p:nvSpPr>
        <p:spPr>
          <a:xfrm>
            <a:off x="6236940" y="2948880"/>
            <a:ext cx="1943100" cy="766763"/>
          </a:xfrm>
          <a:prstGeom prst="rect">
            <a:avLst/>
          </a:prstGeom>
          <a:ln/>
        </p:spPr>
        <p:txBody>
          <a:bodyPr wrap="square" lIns="0" tIns="0" rIns="0" bIns="0" rtlCol="0" anchor="t"/>
          <a:lstStyle/>
          <a:p>
            <a:pPr algn="l" indent="0" marL="0">
              <a:lnSpc>
                <a:spcPts val="1512"/>
              </a:lnSpc>
              <a:buNone/>
            </a:pPr>
            <a:r>
              <a:rPr lang="en-US" sz="1000" dirty="0">
                <a:solidFill>
                  <a:srgbClr val="FFFFFF"/>
                </a:solidFill>
                <a:latin typeface="Ubuntu" pitchFamily="34" charset="0"/>
                <a:ea typeface="Ubuntu" pitchFamily="34" charset="-122"/>
                <a:cs typeface="Ubuntu" pitchFamily="34" charset="-120"/>
              </a:rPr>
              <a:t>Seeking advisors from broadcast media, OEM partnerships, and consumer subscription businesses</a:t>
            </a:r>
            <a:endParaRPr lang="en-US" sz="1000" dirty="0"/>
          </a:p>
        </p:txBody>
      </p:sp>
      <p:sp>
        <p:nvSpPr>
          <p:cNvPr id="25" name="Shape 16"/>
          <p:cNvSpPr/>
          <p:nvPr/>
        </p:nvSpPr>
        <p:spPr>
          <a:xfrm>
            <a:off x="731044" y="4159151"/>
            <a:ext cx="7681912" cy="623888"/>
          </a:xfrm>
          <a:prstGeom prst="roundRect">
            <a:avLst>
              <a:gd name="adj" fmla="val 17185"/>
            </a:avLst>
          </a:prstGeom>
          <a:solidFill>
            <a:srgbClr val="FF4199">
              <a:alpha val="5000"/>
            </a:srgbClr>
          </a:solidFill>
          <a:ln w="4763">
            <a:solidFill>
              <a:srgbClr val="FF4199">
                <a:alpha val="12000"/>
              </a:srgbClr>
            </a:solidFill>
            <a:prstDash val="solid"/>
          </a:ln>
        </p:spPr>
      </p:sp>
      <p:sp>
        <p:nvSpPr>
          <p:cNvPr id="26" name="Text 17"/>
          <p:cNvSpPr/>
          <p:nvPr/>
        </p:nvSpPr>
        <p:spPr>
          <a:xfrm>
            <a:off x="1010469" y="4266754"/>
            <a:ext cx="4043363" cy="204787"/>
          </a:xfrm>
          <a:prstGeom prst="rect">
            <a:avLst/>
          </a:prstGeom>
          <a:ln/>
        </p:spPr>
        <p:txBody>
          <a:bodyPr wrap="square" lIns="0" tIns="0" rIns="0" bIns="0" rtlCol="0" anchor="t"/>
          <a:lstStyle/>
          <a:p>
            <a:pPr algn="l" indent="0" marL="0">
              <a:lnSpc>
                <a:spcPts val="1620"/>
              </a:lnSpc>
              <a:spcAft>
                <a:spcPts val="203"/>
              </a:spcAft>
              <a:buNone/>
            </a:pPr>
            <a:r>
              <a:rPr lang="en-US" sz="1000" b="1" dirty="0">
                <a:solidFill>
                  <a:srgbClr val="FFFFFF"/>
                </a:solidFill>
                <a:latin typeface="Ubuntu" pitchFamily="34" charset="0"/>
                <a:ea typeface="Ubuntu" pitchFamily="34" charset="-122"/>
                <a:cs typeface="Ubuntu" pitchFamily="34" charset="-120"/>
              </a:rPr>
              <a:t>We are hiring</a:t>
            </a:r>
            <a:endParaRPr lang="en-US" sz="1000" dirty="0"/>
          </a:p>
        </p:txBody>
      </p:sp>
      <p:sp>
        <p:nvSpPr>
          <p:cNvPr id="27" name="Text 18"/>
          <p:cNvSpPr/>
          <p:nvPr/>
        </p:nvSpPr>
        <p:spPr>
          <a:xfrm>
            <a:off x="1010469" y="4498665"/>
            <a:ext cx="4043363" cy="176212"/>
          </a:xfrm>
          <a:prstGeom prst="rect">
            <a:avLst/>
          </a:prstGeom>
          <a:ln/>
        </p:spPr>
        <p:txBody>
          <a:bodyPr wrap="square" lIns="0" tIns="0" rIns="0" bIns="0" rtlCol="0" anchor="t"/>
          <a:lstStyle/>
          <a:p>
            <a:pPr algn="l" indent="0" marL="0">
              <a:lnSpc>
                <a:spcPts val="1404"/>
              </a:lnSpc>
              <a:buNone/>
            </a:pPr>
            <a:r>
              <a:rPr lang="en-US" sz="900" dirty="0">
                <a:solidFill>
                  <a:srgbClr val="FFFFFF"/>
                </a:solidFill>
                <a:latin typeface="Ubuntu" pitchFamily="34" charset="0"/>
                <a:ea typeface="Ubuntu" pitchFamily="34" charset="-122"/>
                <a:cs typeface="Ubuntu" pitchFamily="34" charset="-120"/>
              </a:rPr>
              <a:t>Senior React/TV engineer · Head of Partnerships · Content Operations Lead</a:t>
            </a:r>
            <a:endParaRPr lang="en-US" sz="900" dirty="0"/>
          </a:p>
        </p:txBody>
      </p:sp>
      <p:sp>
        <p:nvSpPr>
          <p:cNvPr id="28" name="Text 19"/>
          <p:cNvSpPr/>
          <p:nvPr/>
        </p:nvSpPr>
        <p:spPr>
          <a:xfrm>
            <a:off x="6552940" y="4382951"/>
            <a:ext cx="1581150" cy="176212"/>
          </a:xfrm>
          <a:prstGeom prst="rect">
            <a:avLst/>
          </a:prstGeom>
          <a:ln/>
        </p:spPr>
        <p:txBody>
          <a:bodyPr wrap="square" lIns="0" tIns="0" rIns="0" bIns="0" rtlCol="0" anchor="t"/>
          <a:lstStyle/>
          <a:p>
            <a:pPr algn="l" indent="0" marL="0">
              <a:lnSpc>
                <a:spcPts val="1404"/>
              </a:lnSpc>
              <a:buNone/>
            </a:pPr>
            <a:r>
              <a:rPr lang="en-US" sz="900" b="1" dirty="0">
                <a:solidFill>
                  <a:srgbClr val="FF4199"/>
                </a:solidFill>
                <a:latin typeface="Ubuntu" pitchFamily="34" charset="0"/>
                <a:ea typeface="Ubuntu" pitchFamily="34" charset="-122"/>
                <a:cs typeface="Ubuntu" pitchFamily="34" charset="-120"/>
              </a:rPr>
              <a:t>careers@themegaradio.com</a:t>
            </a:r>
            <a:endParaRPr lang="en-US" sz="900" dirty="0"/>
          </a:p>
        </p:txBody>
      </p:sp>
      <p:sp>
        <p:nvSpPr>
          <p:cNvPr id="29" name="Text 20"/>
          <p:cNvSpPr/>
          <p:nvPr/>
        </p:nvSpPr>
        <p:spPr>
          <a:xfrm>
            <a:off x="0" y="4781848"/>
            <a:ext cx="9144000" cy="361950"/>
          </a:xfrm>
          <a:prstGeom prst="rect">
            <a:avLst/>
          </a:prstGeom>
          <a:ln/>
        </p:spPr>
        <p:txBody>
          <a:bodyPr wrap="square" lIns="0" tIns="0" rIns="0" bIns="0" rtlCol="0" anchor="t"/>
          <a:lstStyle/>
          <a:p>
            <a:pPr algn="l" indent="0" marL="0">
              <a:lnSpc>
                <a:spcPts val="1188"/>
              </a:lnSpc>
              <a:buNone/>
            </a:pPr>
            <a:r>
              <a:rPr lang="en-US" sz="700" dirty="0">
                <a:solidFill>
                  <a:srgbClr val="FFFFFF"/>
                </a:solidFill>
                <a:latin typeface="Ubuntu" pitchFamily="34" charset="0"/>
                <a:ea typeface="Ubuntu" pitchFamily="34" charset="-122"/>
                <a:cs typeface="Ubuntu" pitchFamily="34" charset="-120"/>
              </a:rPr>
              <a:t>RADIO MEGA</a:t>
            </a:r>
            <a:pPr algn="l" indent="0" marL="0">
              <a:lnSpc>
                <a:spcPts val="1188"/>
              </a:lnSpc>
              <a:buNone/>
            </a:pPr>
            <a:r>
              <a:rPr lang="en-US" sz="700" dirty="0">
                <a:solidFill>
                  <a:srgbClr val="FFFFFF"/>
                </a:solidFill>
                <a:latin typeface="Ubuntu" pitchFamily="34" charset="0"/>
                <a:ea typeface="Ubuntu" pitchFamily="34" charset="-122"/>
                <a:cs typeface="Ubuntu" pitchFamily="34" charset="-120"/>
              </a:rPr>
              <a:t>14 / 18</a:t>
            </a:r>
            <a:endParaRPr lang="en-US" sz="700" dirty="0"/>
          </a:p>
        </p:txBody>
      </p:sp>
      <p:pic>
        <p:nvPicPr>
          <p:cNvPr id="30" name="Image 7" descr="preencoded.png">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0" y="4781848"/>
            <a:ext cx="9144000" cy="36195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E0E0E"/>
          </a:solidFill>
          <a:ln/>
        </p:spPr>
      </p:sp>
      <p:pic>
        <p:nvPicPr>
          <p:cNvPr id="3"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0" y="0"/>
            <a:ext cx="9144000" cy="5143500"/>
          </a:xfrm>
          <a:prstGeom prst="rect">
            <a:avLst/>
          </a:prstGeom>
        </p:spPr>
      </p:pic>
      <p:pic>
        <p:nvPicPr>
          <p:cNvPr id="4"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017770" y="1217295"/>
            <a:ext cx="4594860" cy="4594860"/>
          </a:xfrm>
          <a:prstGeom prst="rect">
            <a:avLst/>
          </a:prstGeom>
        </p:spPr>
      </p:pic>
      <p:sp>
        <p:nvSpPr>
          <p:cNvPr id="5" name="Shape 1"/>
          <p:cNvSpPr/>
          <p:nvPr/>
        </p:nvSpPr>
        <p:spPr>
          <a:xfrm>
            <a:off x="868710" y="2226692"/>
            <a:ext cx="109537" cy="109537"/>
          </a:xfrm>
          <a:prstGeom prst="ellipse">
            <a:avLst/>
          </a:prstGeom>
          <a:solidFill>
            <a:srgbClr val="FF4199"/>
          </a:solidFill>
          <a:ln/>
        </p:spPr>
      </p:sp>
      <p:sp>
        <p:nvSpPr>
          <p:cNvPr id="6" name="Shape 2"/>
          <p:cNvSpPr/>
          <p:nvPr/>
        </p:nvSpPr>
        <p:spPr>
          <a:xfrm>
            <a:off x="2788965" y="2226692"/>
            <a:ext cx="109537" cy="109537"/>
          </a:xfrm>
          <a:prstGeom prst="ellipse">
            <a:avLst/>
          </a:prstGeom>
          <a:solidFill>
            <a:srgbClr val="FF4199">
              <a:alpha val="70000"/>
            </a:srgbClr>
          </a:solidFill>
          <a:ln/>
        </p:spPr>
      </p:sp>
      <p:sp>
        <p:nvSpPr>
          <p:cNvPr id="7" name="Shape 3"/>
          <p:cNvSpPr/>
          <p:nvPr/>
        </p:nvSpPr>
        <p:spPr>
          <a:xfrm>
            <a:off x="4709220" y="2226692"/>
            <a:ext cx="109537" cy="109537"/>
          </a:xfrm>
          <a:prstGeom prst="ellipse">
            <a:avLst/>
          </a:prstGeom>
          <a:solidFill>
            <a:srgbClr val="FFFFFF">
              <a:alpha val="30000"/>
            </a:srgbClr>
          </a:solidFill>
          <a:ln/>
        </p:spPr>
      </p:sp>
      <p:sp>
        <p:nvSpPr>
          <p:cNvPr id="8" name="Shape 4"/>
          <p:cNvSpPr/>
          <p:nvPr/>
        </p:nvSpPr>
        <p:spPr>
          <a:xfrm>
            <a:off x="6629474" y="2226692"/>
            <a:ext cx="109537" cy="109537"/>
          </a:xfrm>
          <a:prstGeom prst="ellipse">
            <a:avLst/>
          </a:prstGeom>
          <a:solidFill>
            <a:srgbClr val="01D7FB">
              <a:alpha val="40000"/>
            </a:srgbClr>
          </a:solidFill>
          <a:ln/>
        </p:spPr>
      </p:sp>
      <p:sp>
        <p:nvSpPr>
          <p:cNvPr id="9" name="Text 5"/>
          <p:cNvSpPr/>
          <p:nvPr/>
        </p:nvSpPr>
        <p:spPr>
          <a:xfrm>
            <a:off x="731044" y="359532"/>
            <a:ext cx="7681912" cy="138113"/>
          </a:xfrm>
          <a:prstGeom prst="rect">
            <a:avLst/>
          </a:prstGeom>
          <a:ln/>
        </p:spPr>
        <p:txBody>
          <a:bodyPr wrap="square" lIns="0" tIns="0" rIns="0" bIns="0" rtlCol="0" anchor="t"/>
          <a:lstStyle/>
          <a:p>
            <a:pPr algn="l" indent="0" marL="0">
              <a:lnSpc>
                <a:spcPts val="1080"/>
              </a:lnSpc>
              <a:spcAft>
                <a:spcPts val="810"/>
              </a:spcAft>
              <a:buNone/>
            </a:pPr>
            <a:r>
              <a:rPr lang="en-US" sz="700" b="1" dirty="0">
                <a:solidFill>
                  <a:srgbClr val="FF4199"/>
                </a:solidFill>
                <a:latin typeface="Ubuntu" pitchFamily="34" charset="0"/>
                <a:ea typeface="Ubuntu" pitchFamily="34" charset="-122"/>
                <a:cs typeface="Ubuntu" pitchFamily="34" charset="-120"/>
              </a:rPr>
              <a:t>ROADMAP</a:t>
            </a:r>
            <a:endParaRPr lang="en-US" sz="700" dirty="0"/>
          </a:p>
        </p:txBody>
      </p:sp>
      <p:sp>
        <p:nvSpPr>
          <p:cNvPr id="10" name="Text 6"/>
          <p:cNvSpPr/>
          <p:nvPr/>
        </p:nvSpPr>
        <p:spPr>
          <a:xfrm>
            <a:off x="731044" y="601117"/>
            <a:ext cx="7681912" cy="400050"/>
          </a:xfrm>
          <a:prstGeom prst="rect">
            <a:avLst/>
          </a:prstGeom>
          <a:ln/>
        </p:spPr>
        <p:txBody>
          <a:bodyPr wrap="square" lIns="0" tIns="0" rIns="0" bIns="0" rtlCol="0" anchor="t"/>
          <a:lstStyle/>
          <a:p>
            <a:pPr algn="l" indent="0" marL="0">
              <a:lnSpc>
                <a:spcPts val="3168"/>
              </a:lnSpc>
              <a:buNone/>
            </a:pPr>
            <a:r>
              <a:rPr lang="en-US" sz="2800" b="1" dirty="0">
                <a:solidFill>
                  <a:srgbClr val="FFFFFF"/>
                </a:solidFill>
                <a:latin typeface="Ubuntu" pitchFamily="34" charset="0"/>
                <a:ea typeface="Ubuntu" pitchFamily="34" charset="-122"/>
                <a:cs typeface="Ubuntu" pitchFamily="34" charset="-120"/>
              </a:rPr>
              <a:t>12 months to category leadership</a:t>
            </a:r>
            <a:endParaRPr lang="en-US" sz="2800" dirty="0"/>
          </a:p>
        </p:txBody>
      </p:sp>
      <p:pic>
        <p:nvPicPr>
          <p:cNvPr id="11"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914400" y="2339727"/>
            <a:ext cx="7315200" cy="9525"/>
          </a:xfrm>
          <a:prstGeom prst="rect">
            <a:avLst/>
          </a:prstGeom>
        </p:spPr>
      </p:pic>
      <p:sp>
        <p:nvSpPr>
          <p:cNvPr id="12" name="Text 7"/>
          <p:cNvSpPr/>
          <p:nvPr/>
        </p:nvSpPr>
        <p:spPr>
          <a:xfrm>
            <a:off x="867705" y="2438400"/>
            <a:ext cx="1647825" cy="152400"/>
          </a:xfrm>
          <a:prstGeom prst="rect">
            <a:avLst/>
          </a:prstGeom>
          <a:ln/>
        </p:spPr>
        <p:txBody>
          <a:bodyPr wrap="square" lIns="0" tIns="0" rIns="0" bIns="0" rtlCol="0" anchor="t"/>
          <a:lstStyle/>
          <a:p>
            <a:pPr algn="l" indent="0" marL="0">
              <a:lnSpc>
                <a:spcPts val="1188"/>
              </a:lnSpc>
              <a:spcAft>
                <a:spcPts val="607"/>
              </a:spcAft>
              <a:buNone/>
            </a:pPr>
            <a:r>
              <a:rPr lang="en-US" sz="700" b="1" dirty="0">
                <a:solidFill>
                  <a:srgbClr val="FF4199"/>
                </a:solidFill>
                <a:latin typeface="Ubuntu" pitchFamily="34" charset="0"/>
                <a:ea typeface="Ubuntu" pitchFamily="34" charset="-122"/>
                <a:cs typeface="Ubuntu" pitchFamily="34" charset="-120"/>
              </a:rPr>
              <a:t>Q2 — 2025</a:t>
            </a:r>
            <a:endParaRPr lang="en-US" sz="700" dirty="0"/>
          </a:p>
        </p:txBody>
      </p:sp>
      <p:sp>
        <p:nvSpPr>
          <p:cNvPr id="13" name="Text 8"/>
          <p:cNvSpPr/>
          <p:nvPr/>
        </p:nvSpPr>
        <p:spPr>
          <a:xfrm>
            <a:off x="867705" y="2666665"/>
            <a:ext cx="1647825" cy="342900"/>
          </a:xfrm>
          <a:prstGeom prst="roundRect">
            <a:avLst>
              <a:gd name="adj" fmla="val 14222"/>
            </a:avLst>
          </a:prstGeom>
          <a:solidFill>
            <a:srgbClr val="FF4199">
              <a:alpha val="8000"/>
            </a:srgbClr>
          </a:solidFill>
          <a:ln w="4763">
            <a:solidFill>
              <a:srgbClr val="FF4199">
                <a:alpha val="18000"/>
              </a:srgbClr>
            </a:solidFill>
            <a:prstDash val="solid"/>
          </a:ln>
        </p:spPr>
        <p:txBody>
          <a:bodyPr wrap="square" lIns="0" tIns="0" rIns="0" bIns="0" rtlCol="0" anchor="ctr"/>
          <a:lstStyle/>
          <a:p>
            <a:pPr algn="l" indent="0" marL="0">
              <a:lnSpc>
                <a:spcPts val="1404"/>
              </a:lnSpc>
              <a:buNone/>
            </a:pPr>
            <a:r>
              <a:rPr lang="en-US" sz="900" dirty="0">
                <a:solidFill>
                  <a:srgbClr val="FFFFFF"/>
                </a:solidFill>
                <a:latin typeface="Ubuntu" pitchFamily="34" charset="0"/>
                <a:ea typeface="Ubuntu" pitchFamily="34" charset="-122"/>
                <a:cs typeface="Ubuntu" pitchFamily="34" charset="-120"/>
              </a:rPr>
              <a:t>Samsung + LG live</a:t>
            </a:r>
            <a:endParaRPr lang="en-US" sz="900" dirty="0"/>
          </a:p>
        </p:txBody>
      </p:sp>
      <p:sp>
        <p:nvSpPr>
          <p:cNvPr id="14" name="Text 9"/>
          <p:cNvSpPr/>
          <p:nvPr/>
        </p:nvSpPr>
        <p:spPr>
          <a:xfrm>
            <a:off x="867705" y="3070287"/>
            <a:ext cx="1647825" cy="342900"/>
          </a:xfrm>
          <a:prstGeom prst="roundRect">
            <a:avLst>
              <a:gd name="adj" fmla="val 14222"/>
            </a:avLst>
          </a:prstGeom>
          <a:solidFill>
            <a:srgbClr val="FF4199">
              <a:alpha val="8000"/>
            </a:srgbClr>
          </a:solidFill>
          <a:ln w="4763">
            <a:solidFill>
              <a:srgbClr val="FF4199">
                <a:alpha val="18000"/>
              </a:srgbClr>
            </a:solidFill>
            <a:prstDash val="solid"/>
          </a:ln>
        </p:spPr>
        <p:txBody>
          <a:bodyPr wrap="square" lIns="0" tIns="0" rIns="0" bIns="0" rtlCol="0" anchor="ctr"/>
          <a:lstStyle/>
          <a:p>
            <a:pPr algn="l" indent="0" marL="0">
              <a:lnSpc>
                <a:spcPts val="1404"/>
              </a:lnSpc>
              <a:buNone/>
            </a:pPr>
            <a:r>
              <a:rPr lang="en-US" sz="900" dirty="0">
                <a:solidFill>
                  <a:srgbClr val="FFFFFF"/>
                </a:solidFill>
                <a:latin typeface="Ubuntu" pitchFamily="34" charset="0"/>
                <a:ea typeface="Ubuntu" pitchFamily="34" charset="-122"/>
                <a:cs typeface="Ubuntu" pitchFamily="34" charset="-120"/>
              </a:rPr>
              <a:t>50 languages</a:t>
            </a:r>
            <a:endParaRPr lang="en-US" sz="900" dirty="0"/>
          </a:p>
        </p:txBody>
      </p:sp>
      <p:sp>
        <p:nvSpPr>
          <p:cNvPr id="15" name="Text 10"/>
          <p:cNvSpPr/>
          <p:nvPr/>
        </p:nvSpPr>
        <p:spPr>
          <a:xfrm>
            <a:off x="867705" y="3473909"/>
            <a:ext cx="1647825" cy="342900"/>
          </a:xfrm>
          <a:prstGeom prst="roundRect">
            <a:avLst>
              <a:gd name="adj" fmla="val 14222"/>
            </a:avLst>
          </a:prstGeom>
          <a:solidFill>
            <a:srgbClr val="FF4199">
              <a:alpha val="8000"/>
            </a:srgbClr>
          </a:solidFill>
          <a:ln w="4763">
            <a:solidFill>
              <a:srgbClr val="FF4199">
                <a:alpha val="18000"/>
              </a:srgbClr>
            </a:solidFill>
            <a:prstDash val="solid"/>
          </a:ln>
        </p:spPr>
        <p:txBody>
          <a:bodyPr wrap="square" lIns="0" tIns="0" rIns="0" bIns="0" rtlCol="0" anchor="ctr"/>
          <a:lstStyle/>
          <a:p>
            <a:pPr algn="l" indent="0" marL="0">
              <a:lnSpc>
                <a:spcPts val="1404"/>
              </a:lnSpc>
              <a:buNone/>
            </a:pPr>
            <a:r>
              <a:rPr lang="en-US" sz="900" dirty="0">
                <a:solidFill>
                  <a:srgbClr val="FFFFFF"/>
                </a:solidFill>
                <a:latin typeface="Ubuntu" pitchFamily="34" charset="0"/>
                <a:ea typeface="Ubuntu" pitchFamily="34" charset="-122"/>
                <a:cs typeface="Ubuntu" pitchFamily="34" charset="-120"/>
              </a:rPr>
              <a:t>Auth &amp; sync</a:t>
            </a:r>
            <a:endParaRPr lang="en-US" sz="900" dirty="0"/>
          </a:p>
        </p:txBody>
      </p:sp>
      <p:sp>
        <p:nvSpPr>
          <p:cNvPr id="16" name="Text 11"/>
          <p:cNvSpPr/>
          <p:nvPr/>
        </p:nvSpPr>
        <p:spPr>
          <a:xfrm>
            <a:off x="2787960" y="2438400"/>
            <a:ext cx="1647825" cy="152400"/>
          </a:xfrm>
          <a:prstGeom prst="rect">
            <a:avLst/>
          </a:prstGeom>
          <a:ln/>
        </p:spPr>
        <p:txBody>
          <a:bodyPr wrap="square" lIns="0" tIns="0" rIns="0" bIns="0" rtlCol="0" anchor="t"/>
          <a:lstStyle/>
          <a:p>
            <a:pPr algn="l" indent="0" marL="0">
              <a:lnSpc>
                <a:spcPts val="1188"/>
              </a:lnSpc>
              <a:spcAft>
                <a:spcPts val="607"/>
              </a:spcAft>
              <a:buNone/>
            </a:pPr>
            <a:r>
              <a:rPr lang="en-US" sz="700" b="1" dirty="0">
                <a:solidFill>
                  <a:srgbClr val="FF4199"/>
                </a:solidFill>
                <a:latin typeface="Ubuntu" pitchFamily="34" charset="0"/>
                <a:ea typeface="Ubuntu" pitchFamily="34" charset="-122"/>
                <a:cs typeface="Ubuntu" pitchFamily="34" charset="-120"/>
              </a:rPr>
              <a:t>Q3 — 2025</a:t>
            </a:r>
            <a:endParaRPr lang="en-US" sz="700" dirty="0"/>
          </a:p>
        </p:txBody>
      </p:sp>
      <p:sp>
        <p:nvSpPr>
          <p:cNvPr id="17" name="Text 12"/>
          <p:cNvSpPr/>
          <p:nvPr/>
        </p:nvSpPr>
        <p:spPr>
          <a:xfrm>
            <a:off x="2787960" y="2666665"/>
            <a:ext cx="1647825" cy="342900"/>
          </a:xfrm>
          <a:prstGeom prst="roundRect">
            <a:avLst>
              <a:gd name="adj" fmla="val 14222"/>
            </a:avLst>
          </a:prstGeom>
          <a:solidFill>
            <a:srgbClr val="FFFFFF">
              <a:alpha val="4000"/>
            </a:srgbClr>
          </a:solidFill>
          <a:ln w="4763">
            <a:solidFill>
              <a:srgbClr val="FFFFFF">
                <a:alpha val="10000"/>
              </a:srgbClr>
            </a:solidFill>
            <a:prstDash val="solid"/>
          </a:ln>
        </p:spPr>
        <p:txBody>
          <a:bodyPr wrap="square" lIns="0" tIns="0" rIns="0" bIns="0" rtlCol="0" anchor="ctr"/>
          <a:lstStyle/>
          <a:p>
            <a:pPr algn="l" indent="0" marL="0">
              <a:lnSpc>
                <a:spcPts val="1404"/>
              </a:lnSpc>
              <a:buNone/>
            </a:pPr>
            <a:r>
              <a:rPr lang="en-US" sz="900" dirty="0">
                <a:solidFill>
                  <a:srgbClr val="FFFFFF"/>
                </a:solidFill>
                <a:latin typeface="Ubuntu" pitchFamily="34" charset="0"/>
                <a:ea typeface="Ubuntu" pitchFamily="34" charset="-122"/>
                <a:cs typeface="Ubuntu" pitchFamily="34" charset="-120"/>
              </a:rPr>
              <a:t>Apple TV launch</a:t>
            </a:r>
            <a:endParaRPr lang="en-US" sz="900" dirty="0"/>
          </a:p>
        </p:txBody>
      </p:sp>
      <p:sp>
        <p:nvSpPr>
          <p:cNvPr id="18" name="Text 13"/>
          <p:cNvSpPr/>
          <p:nvPr/>
        </p:nvSpPr>
        <p:spPr>
          <a:xfrm>
            <a:off x="2787960" y="3070287"/>
            <a:ext cx="1647825" cy="342900"/>
          </a:xfrm>
          <a:prstGeom prst="roundRect">
            <a:avLst>
              <a:gd name="adj" fmla="val 14222"/>
            </a:avLst>
          </a:prstGeom>
          <a:solidFill>
            <a:srgbClr val="FFFFFF">
              <a:alpha val="4000"/>
            </a:srgbClr>
          </a:solidFill>
          <a:ln w="4763">
            <a:solidFill>
              <a:srgbClr val="FFFFFF">
                <a:alpha val="10000"/>
              </a:srgbClr>
            </a:solidFill>
            <a:prstDash val="solid"/>
          </a:ln>
        </p:spPr>
        <p:txBody>
          <a:bodyPr wrap="square" lIns="0" tIns="0" rIns="0" bIns="0" rtlCol="0" anchor="ctr"/>
          <a:lstStyle/>
          <a:p>
            <a:pPr algn="l" indent="0" marL="0">
              <a:lnSpc>
                <a:spcPts val="1404"/>
              </a:lnSpc>
              <a:buNone/>
            </a:pPr>
            <a:r>
              <a:rPr lang="en-US" sz="900" dirty="0">
                <a:solidFill>
                  <a:srgbClr val="FFFFFF"/>
                </a:solidFill>
                <a:latin typeface="Ubuntu" pitchFamily="34" charset="0"/>
                <a:ea typeface="Ubuntu" pitchFamily="34" charset="-122"/>
                <a:cs typeface="Ubuntu" pitchFamily="34" charset="-120"/>
              </a:rPr>
              <a:t>Premium tier</a:t>
            </a:r>
            <a:endParaRPr lang="en-US" sz="900" dirty="0"/>
          </a:p>
        </p:txBody>
      </p:sp>
      <p:sp>
        <p:nvSpPr>
          <p:cNvPr id="19" name="Text 14"/>
          <p:cNvSpPr/>
          <p:nvPr/>
        </p:nvSpPr>
        <p:spPr>
          <a:xfrm>
            <a:off x="2787960" y="3473909"/>
            <a:ext cx="1647825" cy="342900"/>
          </a:xfrm>
          <a:prstGeom prst="roundRect">
            <a:avLst>
              <a:gd name="adj" fmla="val 14222"/>
            </a:avLst>
          </a:prstGeom>
          <a:solidFill>
            <a:srgbClr val="FFFFFF">
              <a:alpha val="4000"/>
            </a:srgbClr>
          </a:solidFill>
          <a:ln w="4763">
            <a:solidFill>
              <a:srgbClr val="FFFFFF">
                <a:alpha val="10000"/>
              </a:srgbClr>
            </a:solidFill>
            <a:prstDash val="solid"/>
          </a:ln>
        </p:spPr>
        <p:txBody>
          <a:bodyPr wrap="square" lIns="0" tIns="0" rIns="0" bIns="0" rtlCol="0" anchor="ctr"/>
          <a:lstStyle/>
          <a:p>
            <a:pPr algn="l" indent="0" marL="0">
              <a:lnSpc>
                <a:spcPts val="1404"/>
              </a:lnSpc>
              <a:buNone/>
            </a:pPr>
            <a:r>
              <a:rPr lang="en-US" sz="900" dirty="0">
                <a:solidFill>
                  <a:srgbClr val="FFFFFF"/>
                </a:solidFill>
                <a:latin typeface="Ubuntu" pitchFamily="34" charset="0"/>
                <a:ea typeface="Ubuntu" pitchFamily="34" charset="-122"/>
                <a:cs typeface="Ubuntu" pitchFamily="34" charset="-120"/>
              </a:rPr>
              <a:t>B2B hotel pilot</a:t>
            </a:r>
            <a:endParaRPr lang="en-US" sz="900" dirty="0"/>
          </a:p>
        </p:txBody>
      </p:sp>
      <p:sp>
        <p:nvSpPr>
          <p:cNvPr id="20" name="Text 15"/>
          <p:cNvSpPr/>
          <p:nvPr/>
        </p:nvSpPr>
        <p:spPr>
          <a:xfrm>
            <a:off x="4708215" y="2438400"/>
            <a:ext cx="1647825" cy="152400"/>
          </a:xfrm>
          <a:prstGeom prst="rect">
            <a:avLst/>
          </a:prstGeom>
          <a:ln/>
        </p:spPr>
        <p:txBody>
          <a:bodyPr wrap="square" lIns="0" tIns="0" rIns="0" bIns="0" rtlCol="0" anchor="t"/>
          <a:lstStyle/>
          <a:p>
            <a:pPr algn="l" indent="0" marL="0">
              <a:lnSpc>
                <a:spcPts val="1188"/>
              </a:lnSpc>
              <a:spcAft>
                <a:spcPts val="607"/>
              </a:spcAft>
              <a:buNone/>
            </a:pPr>
            <a:r>
              <a:rPr lang="en-US" sz="700" b="1" dirty="0">
                <a:solidFill>
                  <a:srgbClr val="FFFFFF"/>
                </a:solidFill>
                <a:latin typeface="Ubuntu" pitchFamily="34" charset="0"/>
                <a:ea typeface="Ubuntu" pitchFamily="34" charset="-122"/>
                <a:cs typeface="Ubuntu" pitchFamily="34" charset="-120"/>
              </a:rPr>
              <a:t>Q4 — 2025</a:t>
            </a:r>
            <a:endParaRPr lang="en-US" sz="700" dirty="0"/>
          </a:p>
        </p:txBody>
      </p:sp>
      <p:sp>
        <p:nvSpPr>
          <p:cNvPr id="21" name="Text 16"/>
          <p:cNvSpPr/>
          <p:nvPr/>
        </p:nvSpPr>
        <p:spPr>
          <a:xfrm>
            <a:off x="4708215" y="2666665"/>
            <a:ext cx="1647825" cy="342900"/>
          </a:xfrm>
          <a:prstGeom prst="roundRect">
            <a:avLst>
              <a:gd name="adj" fmla="val 14222"/>
            </a:avLst>
          </a:prstGeom>
          <a:solidFill>
            <a:srgbClr val="FFFFFF">
              <a:alpha val="3000"/>
            </a:srgbClr>
          </a:solidFill>
          <a:ln w="4763">
            <a:solidFill>
              <a:srgbClr val="FFFFFF">
                <a:alpha val="7000"/>
              </a:srgbClr>
            </a:solidFill>
            <a:prstDash val="solid"/>
          </a:ln>
        </p:spPr>
        <p:txBody>
          <a:bodyPr wrap="square" lIns="0" tIns="0" rIns="0" bIns="0" rtlCol="0" anchor="ctr"/>
          <a:lstStyle/>
          <a:p>
            <a:pPr algn="l" indent="0" marL="0">
              <a:lnSpc>
                <a:spcPts val="1404"/>
              </a:lnSpc>
              <a:buNone/>
            </a:pPr>
            <a:r>
              <a:rPr lang="en-US" sz="900" dirty="0">
                <a:solidFill>
                  <a:srgbClr val="FFFFFF"/>
                </a:solidFill>
                <a:latin typeface="Ubuntu" pitchFamily="34" charset="0"/>
                <a:ea typeface="Ubuntu" pitchFamily="34" charset="-122"/>
                <a:cs typeface="Ubuntu" pitchFamily="34" charset="-120"/>
              </a:rPr>
              <a:t>Android + Fire TV</a:t>
            </a:r>
            <a:endParaRPr lang="en-US" sz="900" dirty="0"/>
          </a:p>
        </p:txBody>
      </p:sp>
      <p:sp>
        <p:nvSpPr>
          <p:cNvPr id="22" name="Text 17"/>
          <p:cNvSpPr/>
          <p:nvPr/>
        </p:nvSpPr>
        <p:spPr>
          <a:xfrm>
            <a:off x="4708215" y="3070287"/>
            <a:ext cx="1647825" cy="342900"/>
          </a:xfrm>
          <a:prstGeom prst="roundRect">
            <a:avLst>
              <a:gd name="adj" fmla="val 14222"/>
            </a:avLst>
          </a:prstGeom>
          <a:solidFill>
            <a:srgbClr val="FFFFFF">
              <a:alpha val="3000"/>
            </a:srgbClr>
          </a:solidFill>
          <a:ln w="4763">
            <a:solidFill>
              <a:srgbClr val="FFFFFF">
                <a:alpha val="7000"/>
              </a:srgbClr>
            </a:solidFill>
            <a:prstDash val="solid"/>
          </a:ln>
        </p:spPr>
        <p:txBody>
          <a:bodyPr wrap="square" lIns="0" tIns="0" rIns="0" bIns="0" rtlCol="0" anchor="ctr"/>
          <a:lstStyle/>
          <a:p>
            <a:pPr algn="l" indent="0" marL="0">
              <a:lnSpc>
                <a:spcPts val="1404"/>
              </a:lnSpc>
              <a:buNone/>
            </a:pPr>
            <a:r>
              <a:rPr lang="en-US" sz="900" dirty="0">
                <a:solidFill>
                  <a:srgbClr val="FFFFFF"/>
                </a:solidFill>
                <a:latin typeface="Ubuntu" pitchFamily="34" charset="0"/>
                <a:ea typeface="Ubuntu" pitchFamily="34" charset="-122"/>
                <a:cs typeface="Ubuntu" pitchFamily="34" charset="-120"/>
              </a:rPr>
              <a:t>Programmatic ads</a:t>
            </a:r>
            <a:endParaRPr lang="en-US" sz="900" dirty="0"/>
          </a:p>
        </p:txBody>
      </p:sp>
      <p:sp>
        <p:nvSpPr>
          <p:cNvPr id="23" name="Text 18"/>
          <p:cNvSpPr/>
          <p:nvPr/>
        </p:nvSpPr>
        <p:spPr>
          <a:xfrm>
            <a:off x="4708215" y="3473909"/>
            <a:ext cx="1647825" cy="342900"/>
          </a:xfrm>
          <a:prstGeom prst="roundRect">
            <a:avLst>
              <a:gd name="adj" fmla="val 14222"/>
            </a:avLst>
          </a:prstGeom>
          <a:solidFill>
            <a:srgbClr val="FFFFFF">
              <a:alpha val="3000"/>
            </a:srgbClr>
          </a:solidFill>
          <a:ln w="4763">
            <a:solidFill>
              <a:srgbClr val="FFFFFF">
                <a:alpha val="7000"/>
              </a:srgbClr>
            </a:solidFill>
            <a:prstDash val="solid"/>
          </a:ln>
        </p:spPr>
        <p:txBody>
          <a:bodyPr wrap="square" lIns="0" tIns="0" rIns="0" bIns="0" rtlCol="0" anchor="ctr"/>
          <a:lstStyle/>
          <a:p>
            <a:pPr algn="l" indent="0" marL="0">
              <a:lnSpc>
                <a:spcPts val="1404"/>
              </a:lnSpc>
              <a:buNone/>
            </a:pPr>
            <a:r>
              <a:rPr lang="en-US" sz="900" dirty="0">
                <a:solidFill>
                  <a:srgbClr val="FFFFFF"/>
                </a:solidFill>
                <a:latin typeface="Ubuntu" pitchFamily="34" charset="0"/>
                <a:ea typeface="Ubuntu" pitchFamily="34" charset="-122"/>
                <a:cs typeface="Ubuntu" pitchFamily="34" charset="-120"/>
              </a:rPr>
              <a:t>Mobile companion</a:t>
            </a:r>
            <a:endParaRPr lang="en-US" sz="900" dirty="0"/>
          </a:p>
        </p:txBody>
      </p:sp>
      <p:sp>
        <p:nvSpPr>
          <p:cNvPr id="24" name="Text 19"/>
          <p:cNvSpPr/>
          <p:nvPr/>
        </p:nvSpPr>
        <p:spPr>
          <a:xfrm>
            <a:off x="6628470" y="2438400"/>
            <a:ext cx="1647825" cy="152400"/>
          </a:xfrm>
          <a:prstGeom prst="rect">
            <a:avLst/>
          </a:prstGeom>
          <a:ln/>
        </p:spPr>
        <p:txBody>
          <a:bodyPr wrap="square" lIns="0" tIns="0" rIns="0" bIns="0" rtlCol="0" anchor="t"/>
          <a:lstStyle/>
          <a:p>
            <a:pPr algn="l" indent="0" marL="0">
              <a:lnSpc>
                <a:spcPts val="1188"/>
              </a:lnSpc>
              <a:spcAft>
                <a:spcPts val="607"/>
              </a:spcAft>
              <a:buNone/>
            </a:pPr>
            <a:r>
              <a:rPr lang="en-US" sz="700" b="1" dirty="0">
                <a:solidFill>
                  <a:srgbClr val="01D7FB"/>
                </a:solidFill>
                <a:latin typeface="Ubuntu" pitchFamily="34" charset="0"/>
                <a:ea typeface="Ubuntu" pitchFamily="34" charset="-122"/>
                <a:cs typeface="Ubuntu" pitchFamily="34" charset="-120"/>
              </a:rPr>
              <a:t>H1 — 2026</a:t>
            </a:r>
            <a:endParaRPr lang="en-US" sz="700" dirty="0"/>
          </a:p>
        </p:txBody>
      </p:sp>
      <p:sp>
        <p:nvSpPr>
          <p:cNvPr id="25" name="Text 20"/>
          <p:cNvSpPr/>
          <p:nvPr/>
        </p:nvSpPr>
        <p:spPr>
          <a:xfrm>
            <a:off x="6628470" y="2666665"/>
            <a:ext cx="1647825" cy="342900"/>
          </a:xfrm>
          <a:prstGeom prst="roundRect">
            <a:avLst>
              <a:gd name="adj" fmla="val 14222"/>
            </a:avLst>
          </a:prstGeom>
          <a:solidFill>
            <a:srgbClr val="FFFFFF">
              <a:alpha val="2000"/>
            </a:srgbClr>
          </a:solidFill>
          <a:ln w="4763">
            <a:solidFill>
              <a:srgbClr val="FFFFFF">
                <a:alpha val="5000"/>
              </a:srgbClr>
            </a:solidFill>
            <a:prstDash val="solid"/>
          </a:ln>
        </p:spPr>
        <p:txBody>
          <a:bodyPr wrap="square" lIns="0" tIns="0" rIns="0" bIns="0" rtlCol="0" anchor="ctr"/>
          <a:lstStyle/>
          <a:p>
            <a:pPr algn="l" indent="0" marL="0">
              <a:lnSpc>
                <a:spcPts val="1404"/>
              </a:lnSpc>
              <a:buNone/>
            </a:pPr>
            <a:r>
              <a:rPr lang="en-US" sz="900" dirty="0">
                <a:solidFill>
                  <a:srgbClr val="FFFFFF"/>
                </a:solidFill>
                <a:latin typeface="Ubuntu" pitchFamily="34" charset="0"/>
                <a:ea typeface="Ubuntu" pitchFamily="34" charset="-122"/>
                <a:cs typeface="Ubuntu" pitchFamily="34" charset="-120"/>
              </a:rPr>
              <a:t>Recommendation AI</a:t>
            </a:r>
            <a:endParaRPr lang="en-US" sz="900" dirty="0"/>
          </a:p>
        </p:txBody>
      </p:sp>
      <p:sp>
        <p:nvSpPr>
          <p:cNvPr id="26" name="Text 21"/>
          <p:cNvSpPr/>
          <p:nvPr/>
        </p:nvSpPr>
        <p:spPr>
          <a:xfrm>
            <a:off x="6628470" y="3070287"/>
            <a:ext cx="1647825" cy="342900"/>
          </a:xfrm>
          <a:prstGeom prst="roundRect">
            <a:avLst>
              <a:gd name="adj" fmla="val 14222"/>
            </a:avLst>
          </a:prstGeom>
          <a:solidFill>
            <a:srgbClr val="FFFFFF">
              <a:alpha val="2000"/>
            </a:srgbClr>
          </a:solidFill>
          <a:ln w="4763">
            <a:solidFill>
              <a:srgbClr val="FFFFFF">
                <a:alpha val="5000"/>
              </a:srgbClr>
            </a:solidFill>
            <a:prstDash val="solid"/>
          </a:ln>
        </p:spPr>
        <p:txBody>
          <a:bodyPr wrap="square" lIns="0" tIns="0" rIns="0" bIns="0" rtlCol="0" anchor="ctr"/>
          <a:lstStyle/>
          <a:p>
            <a:pPr algn="l" indent="0" marL="0">
              <a:lnSpc>
                <a:spcPts val="1404"/>
              </a:lnSpc>
              <a:buNone/>
            </a:pPr>
            <a:r>
              <a:rPr lang="en-US" sz="900" dirty="0">
                <a:solidFill>
                  <a:srgbClr val="FFFFFF"/>
                </a:solidFill>
                <a:latin typeface="Ubuntu" pitchFamily="34" charset="0"/>
                <a:ea typeface="Ubuntu" pitchFamily="34" charset="-122"/>
                <a:cs typeface="Ubuntu" pitchFamily="34" charset="-120"/>
              </a:rPr>
              <a:t>Series A fundraise</a:t>
            </a:r>
            <a:endParaRPr lang="en-US" sz="900" dirty="0"/>
          </a:p>
        </p:txBody>
      </p:sp>
      <p:sp>
        <p:nvSpPr>
          <p:cNvPr id="27" name="Text 22"/>
          <p:cNvSpPr/>
          <p:nvPr/>
        </p:nvSpPr>
        <p:spPr>
          <a:xfrm>
            <a:off x="6628470" y="3473909"/>
            <a:ext cx="1647825" cy="342900"/>
          </a:xfrm>
          <a:prstGeom prst="roundRect">
            <a:avLst>
              <a:gd name="adj" fmla="val 14222"/>
            </a:avLst>
          </a:prstGeom>
          <a:solidFill>
            <a:srgbClr val="FFFFFF">
              <a:alpha val="2000"/>
            </a:srgbClr>
          </a:solidFill>
          <a:ln w="4763">
            <a:solidFill>
              <a:srgbClr val="FFFFFF">
                <a:alpha val="5000"/>
              </a:srgbClr>
            </a:solidFill>
            <a:prstDash val="solid"/>
          </a:ln>
        </p:spPr>
        <p:txBody>
          <a:bodyPr wrap="square" lIns="0" tIns="0" rIns="0" bIns="0" rtlCol="0" anchor="ctr"/>
          <a:lstStyle/>
          <a:p>
            <a:pPr algn="l" indent="0" marL="0">
              <a:lnSpc>
                <a:spcPts val="1404"/>
              </a:lnSpc>
              <a:buNone/>
            </a:pPr>
            <a:r>
              <a:rPr lang="en-US" sz="900" dirty="0">
                <a:solidFill>
                  <a:srgbClr val="FFFFFF"/>
                </a:solidFill>
                <a:latin typeface="Ubuntu" pitchFamily="34" charset="0"/>
                <a:ea typeface="Ubuntu" pitchFamily="34" charset="-122"/>
                <a:cs typeface="Ubuntu" pitchFamily="34" charset="-120"/>
              </a:rPr>
              <a:t>OEM pre-installs</a:t>
            </a:r>
            <a:endParaRPr lang="en-US" sz="900" dirty="0"/>
          </a:p>
        </p:txBody>
      </p:sp>
      <p:sp>
        <p:nvSpPr>
          <p:cNvPr id="28" name="Text 23"/>
          <p:cNvSpPr/>
          <p:nvPr/>
        </p:nvSpPr>
        <p:spPr>
          <a:xfrm>
            <a:off x="0" y="4781848"/>
            <a:ext cx="9144000" cy="361950"/>
          </a:xfrm>
          <a:prstGeom prst="rect">
            <a:avLst/>
          </a:prstGeom>
          <a:ln/>
        </p:spPr>
        <p:txBody>
          <a:bodyPr wrap="square" lIns="0" tIns="0" rIns="0" bIns="0" rtlCol="0" anchor="t"/>
          <a:lstStyle/>
          <a:p>
            <a:pPr algn="l" indent="0" marL="0">
              <a:lnSpc>
                <a:spcPts val="1188"/>
              </a:lnSpc>
              <a:buNone/>
            </a:pPr>
            <a:r>
              <a:rPr lang="en-US" sz="700" dirty="0">
                <a:solidFill>
                  <a:srgbClr val="FFFFFF"/>
                </a:solidFill>
                <a:latin typeface="Ubuntu" pitchFamily="34" charset="0"/>
                <a:ea typeface="Ubuntu" pitchFamily="34" charset="-122"/>
                <a:cs typeface="Ubuntu" pitchFamily="34" charset="-120"/>
              </a:rPr>
              <a:t>RADIO MEGA</a:t>
            </a:r>
            <a:pPr algn="l" indent="0" marL="0">
              <a:lnSpc>
                <a:spcPts val="1188"/>
              </a:lnSpc>
              <a:buNone/>
            </a:pPr>
            <a:r>
              <a:rPr lang="en-US" sz="700" dirty="0">
                <a:solidFill>
                  <a:srgbClr val="FFFFFF"/>
                </a:solidFill>
                <a:latin typeface="Ubuntu" pitchFamily="34" charset="0"/>
                <a:ea typeface="Ubuntu" pitchFamily="34" charset="-122"/>
                <a:cs typeface="Ubuntu" pitchFamily="34" charset="-120"/>
              </a:rPr>
              <a:t>15 / 18</a:t>
            </a:r>
            <a:endParaRPr lang="en-US" sz="700" dirty="0"/>
          </a:p>
        </p:txBody>
      </p:sp>
      <p:pic>
        <p:nvPicPr>
          <p:cNvPr id="29"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0" y="4781848"/>
            <a:ext cx="9144000" cy="36195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E0E0E"/>
          </a:solidFill>
          <a:ln/>
        </p:spPr>
      </p:sp>
      <p:pic>
        <p:nvPicPr>
          <p:cNvPr id="3"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0" y="0"/>
            <a:ext cx="9144000" cy="5143500"/>
          </a:xfrm>
          <a:prstGeom prst="rect">
            <a:avLst/>
          </a:prstGeom>
        </p:spPr>
      </p:pic>
      <p:pic>
        <p:nvPicPr>
          <p:cNvPr id="4"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817370" y="-925830"/>
            <a:ext cx="4594860" cy="4594860"/>
          </a:xfrm>
          <a:prstGeom prst="rect">
            <a:avLst/>
          </a:prstGeom>
        </p:spPr>
      </p:pic>
      <p:sp>
        <p:nvSpPr>
          <p:cNvPr id="5" name="Text 1"/>
          <p:cNvSpPr/>
          <p:nvPr/>
        </p:nvSpPr>
        <p:spPr>
          <a:xfrm>
            <a:off x="731937" y="1158813"/>
            <a:ext cx="3290887" cy="138113"/>
          </a:xfrm>
          <a:prstGeom prst="rect">
            <a:avLst/>
          </a:prstGeom>
          <a:ln/>
        </p:spPr>
        <p:txBody>
          <a:bodyPr wrap="square" lIns="0" tIns="0" rIns="0" bIns="0" rtlCol="0" anchor="t"/>
          <a:lstStyle/>
          <a:p>
            <a:pPr algn="l" indent="0" marL="0">
              <a:lnSpc>
                <a:spcPts val="1080"/>
              </a:lnSpc>
              <a:spcAft>
                <a:spcPts val="810"/>
              </a:spcAft>
              <a:buNone/>
            </a:pPr>
            <a:r>
              <a:rPr lang="en-US" sz="700" b="1" dirty="0">
                <a:solidFill>
                  <a:srgbClr val="FF4199"/>
                </a:solidFill>
                <a:latin typeface="Ubuntu" pitchFamily="34" charset="0"/>
                <a:ea typeface="Ubuntu" pitchFamily="34" charset="-122"/>
                <a:cs typeface="Ubuntu" pitchFamily="34" charset="-120"/>
              </a:rPr>
              <a:t>USE OF FUNDS</a:t>
            </a:r>
            <a:endParaRPr lang="en-US" sz="700" dirty="0"/>
          </a:p>
        </p:txBody>
      </p:sp>
      <p:sp>
        <p:nvSpPr>
          <p:cNvPr id="6" name="Text 2"/>
          <p:cNvSpPr/>
          <p:nvPr/>
        </p:nvSpPr>
        <p:spPr>
          <a:xfrm>
            <a:off x="731937" y="1399133"/>
            <a:ext cx="3290887" cy="804862"/>
          </a:xfrm>
          <a:prstGeom prst="rect">
            <a:avLst/>
          </a:prstGeom>
          <a:ln/>
        </p:spPr>
        <p:txBody>
          <a:bodyPr wrap="square" lIns="0" tIns="0" rIns="0" bIns="0" rtlCol="0" anchor="t"/>
          <a:lstStyle/>
          <a:p>
            <a:pPr algn="l" indent="0" marL="0">
              <a:lnSpc>
                <a:spcPts val="3168"/>
              </a:lnSpc>
              <a:spcAft>
                <a:spcPts val="810"/>
              </a:spcAft>
              <a:buNone/>
            </a:pPr>
            <a:r>
              <a:rPr lang="en-US" sz="2800" b="1" dirty="0">
                <a:solidFill>
                  <a:srgbClr val="FFFFFF"/>
                </a:solidFill>
                <a:latin typeface="Ubuntu" pitchFamily="34" charset="0"/>
                <a:ea typeface="Ubuntu" pitchFamily="34" charset="-122"/>
                <a:cs typeface="Ubuntu" pitchFamily="34" charset="-120"/>
              </a:rPr>
              <a:t>Raising $2.5M seed round</a:t>
            </a:r>
            <a:endParaRPr lang="en-US" sz="2800" dirty="0"/>
          </a:p>
        </p:txBody>
      </p:sp>
      <p:sp>
        <p:nvSpPr>
          <p:cNvPr id="7" name="Text 3"/>
          <p:cNvSpPr/>
          <p:nvPr/>
        </p:nvSpPr>
        <p:spPr>
          <a:xfrm>
            <a:off x="731937" y="2307245"/>
            <a:ext cx="3290887" cy="657225"/>
          </a:xfrm>
          <a:prstGeom prst="rect">
            <a:avLst/>
          </a:prstGeom>
          <a:ln/>
        </p:spPr>
        <p:txBody>
          <a:bodyPr wrap="square" lIns="0" tIns="0" rIns="0" bIns="0" rtlCol="0" anchor="t"/>
          <a:lstStyle/>
          <a:p>
            <a:pPr algn="l" indent="0" marL="0">
              <a:lnSpc>
                <a:spcPts val="1728"/>
              </a:lnSpc>
              <a:spcAft>
                <a:spcPts val="1620"/>
              </a:spcAft>
              <a:buNone/>
            </a:pPr>
            <a:r>
              <a:rPr lang="en-US" sz="1100" dirty="0">
                <a:solidFill>
                  <a:srgbClr val="FFFFFF"/>
                </a:solidFill>
                <a:latin typeface="Ubuntu" pitchFamily="34" charset="0"/>
                <a:ea typeface="Ubuntu" pitchFamily="34" charset="-122"/>
                <a:cs typeface="Ubuntu" pitchFamily="34" charset="-120"/>
              </a:rPr>
              <a:t>18-month runway. Two live platforms today. Funding accelerates Apple TV, Android TV, B2B rollout, and premium launch.</a:t>
            </a:r>
            <a:endParaRPr lang="en-US" sz="1100" dirty="0"/>
          </a:p>
        </p:txBody>
      </p:sp>
      <p:sp>
        <p:nvSpPr>
          <p:cNvPr id="8" name="Shape 4"/>
          <p:cNvSpPr/>
          <p:nvPr/>
        </p:nvSpPr>
        <p:spPr>
          <a:xfrm>
            <a:off x="731937" y="3170262"/>
            <a:ext cx="3290887" cy="814388"/>
          </a:xfrm>
          <a:prstGeom prst="roundRect">
            <a:avLst>
              <a:gd name="adj" fmla="val 12607"/>
            </a:avLst>
          </a:prstGeom>
          <a:solidFill>
            <a:srgbClr val="FF4199">
              <a:alpha val="6000"/>
            </a:srgbClr>
          </a:solidFill>
          <a:ln w="4763">
            <a:solidFill>
              <a:srgbClr val="FF4199">
                <a:alpha val="18000"/>
              </a:srgbClr>
            </a:solidFill>
            <a:prstDash val="solid"/>
          </a:ln>
        </p:spPr>
      </p:sp>
      <p:sp>
        <p:nvSpPr>
          <p:cNvPr id="9" name="Text 5"/>
          <p:cNvSpPr/>
          <p:nvPr/>
        </p:nvSpPr>
        <p:spPr>
          <a:xfrm>
            <a:off x="965299" y="3305063"/>
            <a:ext cx="2824163" cy="176212"/>
          </a:xfrm>
          <a:prstGeom prst="rect">
            <a:avLst/>
          </a:prstGeom>
          <a:ln/>
        </p:spPr>
        <p:txBody>
          <a:bodyPr wrap="square" lIns="0" tIns="0" rIns="0" bIns="0" rtlCol="0" anchor="t"/>
          <a:lstStyle/>
          <a:p>
            <a:pPr algn="l" indent="0" marL="0">
              <a:lnSpc>
                <a:spcPts val="1404"/>
              </a:lnSpc>
              <a:spcAft>
                <a:spcPts val="203"/>
              </a:spcAft>
              <a:buNone/>
            </a:pPr>
            <a:r>
              <a:rPr lang="en-US" sz="900" dirty="0">
                <a:solidFill>
                  <a:srgbClr val="FFFFFF"/>
                </a:solidFill>
                <a:latin typeface="Ubuntu" pitchFamily="34" charset="0"/>
                <a:ea typeface="Ubuntu" pitchFamily="34" charset="-122"/>
                <a:cs typeface="Ubuntu" pitchFamily="34" charset="-120"/>
              </a:rPr>
              <a:t>Target close</a:t>
            </a:r>
            <a:endParaRPr lang="en-US" sz="900" dirty="0"/>
          </a:p>
        </p:txBody>
      </p:sp>
      <p:sp>
        <p:nvSpPr>
          <p:cNvPr id="10" name="Text 6"/>
          <p:cNvSpPr/>
          <p:nvPr/>
        </p:nvSpPr>
        <p:spPr>
          <a:xfrm>
            <a:off x="965299" y="3507953"/>
            <a:ext cx="2824163" cy="342900"/>
          </a:xfrm>
          <a:prstGeom prst="rect">
            <a:avLst/>
          </a:prstGeom>
          <a:ln/>
        </p:spPr>
        <p:txBody>
          <a:bodyPr wrap="square" lIns="0" tIns="0" rIns="0" bIns="0" rtlCol="0" anchor="t"/>
          <a:lstStyle/>
          <a:p>
            <a:pPr algn="l" indent="0" marL="0">
              <a:lnSpc>
                <a:spcPts val="2700"/>
              </a:lnSpc>
              <a:buNone/>
            </a:pPr>
            <a:r>
              <a:rPr lang="en-US" sz="1800" b="1" dirty="0">
                <a:solidFill>
                  <a:srgbClr val="FF4199"/>
                </a:solidFill>
                <a:latin typeface="Ubuntu" pitchFamily="34" charset="0"/>
                <a:ea typeface="Ubuntu" pitchFamily="34" charset="-122"/>
                <a:cs typeface="Ubuntu" pitchFamily="34" charset="-120"/>
              </a:rPr>
              <a:t>Q3 2025</a:t>
            </a:r>
            <a:endParaRPr lang="en-US" sz="1800" dirty="0"/>
          </a:p>
        </p:txBody>
      </p:sp>
      <p:sp>
        <p:nvSpPr>
          <p:cNvPr id="11" name="Text 7"/>
          <p:cNvSpPr/>
          <p:nvPr/>
        </p:nvSpPr>
        <p:spPr>
          <a:xfrm>
            <a:off x="4571554" y="1158032"/>
            <a:ext cx="2643188" cy="204787"/>
          </a:xfrm>
          <a:prstGeom prst="rect">
            <a:avLst/>
          </a:prstGeom>
          <a:ln/>
        </p:spPr>
        <p:txBody>
          <a:bodyPr wrap="square" lIns="0" tIns="0" rIns="0" bIns="0" rtlCol="0" anchor="t"/>
          <a:lstStyle/>
          <a:p>
            <a:pPr algn="l" indent="0" marL="0">
              <a:lnSpc>
                <a:spcPts val="1620"/>
              </a:lnSpc>
              <a:buNone/>
            </a:pPr>
            <a:r>
              <a:rPr lang="en-US" sz="1000" b="1" dirty="0">
                <a:solidFill>
                  <a:srgbClr val="FFFFFF"/>
                </a:solidFill>
                <a:latin typeface="Ubuntu" pitchFamily="34" charset="0"/>
                <a:ea typeface="Ubuntu" pitchFamily="34" charset="-122"/>
                <a:cs typeface="Ubuntu" pitchFamily="34" charset="-120"/>
              </a:rPr>
              <a:t>Engineering &amp; Platform Development</a:t>
            </a:r>
            <a:endParaRPr lang="en-US" sz="1000" dirty="0"/>
          </a:p>
        </p:txBody>
      </p:sp>
      <p:sp>
        <p:nvSpPr>
          <p:cNvPr id="12" name="Text 8"/>
          <p:cNvSpPr/>
          <p:nvPr/>
        </p:nvSpPr>
        <p:spPr>
          <a:xfrm>
            <a:off x="4571554" y="1362224"/>
            <a:ext cx="2643188" cy="166688"/>
          </a:xfrm>
          <a:prstGeom prst="rect">
            <a:avLst/>
          </a:prstGeom>
          <a:ln/>
        </p:spPr>
        <p:txBody>
          <a:bodyPr wrap="square" lIns="0" tIns="0" rIns="0" bIns="0" rtlCol="0" anchor="t"/>
          <a:lstStyle/>
          <a:p>
            <a:pPr algn="l" indent="0" marL="0">
              <a:lnSpc>
                <a:spcPts val="1296"/>
              </a:lnSpc>
              <a:buNone/>
            </a:pPr>
            <a:r>
              <a:rPr lang="en-US" sz="800" dirty="0">
                <a:solidFill>
                  <a:srgbClr val="FFFFFF"/>
                </a:solidFill>
                <a:latin typeface="Ubuntu" pitchFamily="34" charset="0"/>
                <a:ea typeface="Ubuntu" pitchFamily="34" charset="-122"/>
                <a:cs typeface="Ubuntu" pitchFamily="34" charset="-120"/>
              </a:rPr>
              <a:t>Apple TV, Android TV, Fire TV builds · backend scaling</a:t>
            </a:r>
            <a:endParaRPr lang="en-US" sz="800" dirty="0"/>
          </a:p>
        </p:txBody>
      </p:sp>
      <p:sp>
        <p:nvSpPr>
          <p:cNvPr id="13" name="Text 9"/>
          <p:cNvSpPr/>
          <p:nvPr/>
        </p:nvSpPr>
        <p:spPr>
          <a:xfrm>
            <a:off x="7998730" y="1192709"/>
            <a:ext cx="414338" cy="300038"/>
          </a:xfrm>
          <a:prstGeom prst="rect">
            <a:avLst/>
          </a:prstGeom>
          <a:ln/>
        </p:spPr>
        <p:txBody>
          <a:bodyPr wrap="square" lIns="0" tIns="0" rIns="0" bIns="0" rtlCol="0" anchor="t"/>
          <a:lstStyle/>
          <a:p>
            <a:pPr algn="l" indent="0" marL="0">
              <a:lnSpc>
                <a:spcPts val="2376"/>
              </a:lnSpc>
              <a:buNone/>
            </a:pPr>
            <a:r>
              <a:rPr lang="en-US" sz="1500" b="1" dirty="0">
                <a:solidFill>
                  <a:srgbClr val="FF4199"/>
                </a:solidFill>
                <a:latin typeface="Ubuntu" pitchFamily="34" charset="0"/>
                <a:ea typeface="Ubuntu" pitchFamily="34" charset="-122"/>
                <a:cs typeface="Ubuntu" pitchFamily="34" charset="-120"/>
              </a:rPr>
              <a:t>40</a:t>
            </a:r>
            <a:pPr algn="l" indent="0" marL="0">
              <a:lnSpc>
                <a:spcPts val="2376"/>
              </a:lnSpc>
              <a:buNone/>
            </a:pPr>
            <a:r>
              <a:rPr lang="en-US" sz="1500" b="1" dirty="0">
                <a:solidFill>
                  <a:srgbClr val="FF4199"/>
                </a:solidFill>
                <a:latin typeface="Ubuntu" pitchFamily="34" charset="0"/>
                <a:ea typeface="Ubuntu" pitchFamily="34" charset="-122"/>
                <a:cs typeface="Ubuntu" pitchFamily="34" charset="-120"/>
              </a:rPr>
              <a:t>%</a:t>
            </a:r>
            <a:endParaRPr lang="en-US" sz="1500" dirty="0"/>
          </a:p>
        </p:txBody>
      </p:sp>
      <p:sp>
        <p:nvSpPr>
          <p:cNvPr id="14" name="Shape 10"/>
          <p:cNvSpPr/>
          <p:nvPr/>
        </p:nvSpPr>
        <p:spPr>
          <a:xfrm>
            <a:off x="4572893" y="1578397"/>
            <a:ext cx="3838575" cy="42863"/>
          </a:xfrm>
          <a:prstGeom prst="roundRect">
            <a:avLst>
              <a:gd name="adj" fmla="val 266664"/>
            </a:avLst>
          </a:prstGeom>
          <a:solidFill>
            <a:srgbClr val="FFFFFF">
              <a:alpha val="6000"/>
            </a:srgbClr>
          </a:solidFill>
          <a:ln/>
        </p:spPr>
      </p:sp>
      <p:sp>
        <p:nvSpPr>
          <p:cNvPr id="15" name="Shape 11"/>
          <p:cNvSpPr/>
          <p:nvPr/>
        </p:nvSpPr>
        <p:spPr>
          <a:xfrm>
            <a:off x="4570809" y="1578397"/>
            <a:ext cx="1538287" cy="42863"/>
          </a:xfrm>
          <a:prstGeom prst="roundRect">
            <a:avLst>
              <a:gd name="adj" fmla="val 266664"/>
            </a:avLst>
          </a:prstGeom>
          <a:solidFill>
            <a:srgbClr val="FF4199"/>
          </a:solidFill>
          <a:ln/>
        </p:spPr>
      </p:sp>
      <p:sp>
        <p:nvSpPr>
          <p:cNvPr id="16" name="Text 12"/>
          <p:cNvSpPr/>
          <p:nvPr/>
        </p:nvSpPr>
        <p:spPr>
          <a:xfrm>
            <a:off x="4572930" y="1749400"/>
            <a:ext cx="2847975" cy="204787"/>
          </a:xfrm>
          <a:prstGeom prst="rect">
            <a:avLst/>
          </a:prstGeom>
          <a:ln/>
        </p:spPr>
        <p:txBody>
          <a:bodyPr wrap="square" lIns="0" tIns="0" rIns="0" bIns="0" rtlCol="0" anchor="t"/>
          <a:lstStyle/>
          <a:p>
            <a:pPr algn="l" indent="0" marL="0">
              <a:lnSpc>
                <a:spcPts val="1620"/>
              </a:lnSpc>
              <a:buNone/>
            </a:pPr>
            <a:r>
              <a:rPr lang="en-US" sz="1000" b="1" dirty="0">
                <a:solidFill>
                  <a:srgbClr val="FFFFFF"/>
                </a:solidFill>
                <a:latin typeface="Ubuntu" pitchFamily="34" charset="0"/>
                <a:ea typeface="Ubuntu" pitchFamily="34" charset="-122"/>
                <a:cs typeface="Ubuntu" pitchFamily="34" charset="-120"/>
              </a:rPr>
              <a:t>Sales &amp; Partnerships</a:t>
            </a:r>
            <a:endParaRPr lang="en-US" sz="1000" dirty="0"/>
          </a:p>
        </p:txBody>
      </p:sp>
      <p:sp>
        <p:nvSpPr>
          <p:cNvPr id="17" name="Text 13"/>
          <p:cNvSpPr/>
          <p:nvPr/>
        </p:nvSpPr>
        <p:spPr>
          <a:xfrm>
            <a:off x="4572930" y="1953592"/>
            <a:ext cx="2847975" cy="166688"/>
          </a:xfrm>
          <a:prstGeom prst="rect">
            <a:avLst/>
          </a:prstGeom>
          <a:ln/>
        </p:spPr>
        <p:txBody>
          <a:bodyPr wrap="square" lIns="0" tIns="0" rIns="0" bIns="0" rtlCol="0" anchor="t"/>
          <a:lstStyle/>
          <a:p>
            <a:pPr algn="l" indent="0" marL="0">
              <a:lnSpc>
                <a:spcPts val="1296"/>
              </a:lnSpc>
              <a:buNone/>
            </a:pPr>
            <a:r>
              <a:rPr lang="en-US" sz="800" dirty="0">
                <a:solidFill>
                  <a:srgbClr val="FFFFFF"/>
                </a:solidFill>
                <a:latin typeface="Ubuntu" pitchFamily="34" charset="0"/>
                <a:ea typeface="Ubuntu" pitchFamily="34" charset="-122"/>
                <a:cs typeface="Ubuntu" pitchFamily="34" charset="-120"/>
              </a:rPr>
              <a:t>OEM pre-install deals · B2B hospitality rollout · hotel pilot</a:t>
            </a:r>
            <a:endParaRPr lang="en-US" sz="800" dirty="0"/>
          </a:p>
        </p:txBody>
      </p:sp>
      <p:sp>
        <p:nvSpPr>
          <p:cNvPr id="18" name="Text 14"/>
          <p:cNvSpPr/>
          <p:nvPr/>
        </p:nvSpPr>
        <p:spPr>
          <a:xfrm>
            <a:off x="7998730" y="1784077"/>
            <a:ext cx="414338" cy="300038"/>
          </a:xfrm>
          <a:prstGeom prst="rect">
            <a:avLst/>
          </a:prstGeom>
          <a:ln/>
        </p:spPr>
        <p:txBody>
          <a:bodyPr wrap="square" lIns="0" tIns="0" rIns="0" bIns="0" rtlCol="0" anchor="t"/>
          <a:lstStyle/>
          <a:p>
            <a:pPr algn="l" indent="0" marL="0">
              <a:lnSpc>
                <a:spcPts val="2376"/>
              </a:lnSpc>
              <a:buNone/>
            </a:pPr>
            <a:r>
              <a:rPr lang="en-US" sz="1500" b="1" dirty="0">
                <a:solidFill>
                  <a:srgbClr val="FF4199"/>
                </a:solidFill>
                <a:latin typeface="Ubuntu" pitchFamily="34" charset="0"/>
                <a:ea typeface="Ubuntu" pitchFamily="34" charset="-122"/>
                <a:cs typeface="Ubuntu" pitchFamily="34" charset="-120"/>
              </a:rPr>
              <a:t>25</a:t>
            </a:r>
            <a:pPr algn="l" indent="0" marL="0">
              <a:lnSpc>
                <a:spcPts val="2376"/>
              </a:lnSpc>
              <a:buNone/>
            </a:pPr>
            <a:r>
              <a:rPr lang="en-US" sz="1500" b="1" dirty="0">
                <a:solidFill>
                  <a:srgbClr val="FF4199"/>
                </a:solidFill>
                <a:latin typeface="Ubuntu" pitchFamily="34" charset="0"/>
                <a:ea typeface="Ubuntu" pitchFamily="34" charset="-122"/>
                <a:cs typeface="Ubuntu" pitchFamily="34" charset="-120"/>
              </a:rPr>
              <a:t>%</a:t>
            </a:r>
            <a:endParaRPr lang="en-US" sz="1500" dirty="0"/>
          </a:p>
        </p:txBody>
      </p:sp>
      <p:sp>
        <p:nvSpPr>
          <p:cNvPr id="19" name="Shape 15"/>
          <p:cNvSpPr/>
          <p:nvPr/>
        </p:nvSpPr>
        <p:spPr>
          <a:xfrm>
            <a:off x="4572893" y="2169765"/>
            <a:ext cx="3838575" cy="42863"/>
          </a:xfrm>
          <a:prstGeom prst="roundRect">
            <a:avLst>
              <a:gd name="adj" fmla="val 266664"/>
            </a:avLst>
          </a:prstGeom>
          <a:solidFill>
            <a:srgbClr val="FFFFFF">
              <a:alpha val="6000"/>
            </a:srgbClr>
          </a:solidFill>
          <a:ln/>
        </p:spPr>
      </p:sp>
      <p:sp>
        <p:nvSpPr>
          <p:cNvPr id="20" name="Shape 16"/>
          <p:cNvSpPr/>
          <p:nvPr/>
        </p:nvSpPr>
        <p:spPr>
          <a:xfrm>
            <a:off x="4570921" y="2169765"/>
            <a:ext cx="962025" cy="42863"/>
          </a:xfrm>
          <a:prstGeom prst="roundRect">
            <a:avLst>
              <a:gd name="adj" fmla="val 266664"/>
            </a:avLst>
          </a:prstGeom>
          <a:solidFill>
            <a:srgbClr val="FF4199"/>
          </a:solidFill>
          <a:ln/>
        </p:spPr>
      </p:sp>
      <p:sp>
        <p:nvSpPr>
          <p:cNvPr id="21" name="Text 17"/>
          <p:cNvSpPr/>
          <p:nvPr/>
        </p:nvSpPr>
        <p:spPr>
          <a:xfrm>
            <a:off x="4571591" y="2340769"/>
            <a:ext cx="2952750" cy="204787"/>
          </a:xfrm>
          <a:prstGeom prst="rect">
            <a:avLst/>
          </a:prstGeom>
          <a:ln/>
        </p:spPr>
        <p:txBody>
          <a:bodyPr wrap="square" lIns="0" tIns="0" rIns="0" bIns="0" rtlCol="0" anchor="t"/>
          <a:lstStyle/>
          <a:p>
            <a:pPr algn="l" indent="0" marL="0">
              <a:lnSpc>
                <a:spcPts val="1620"/>
              </a:lnSpc>
              <a:buNone/>
            </a:pPr>
            <a:r>
              <a:rPr lang="en-US" sz="1000" b="1" dirty="0">
                <a:solidFill>
                  <a:srgbClr val="FFFFFF"/>
                </a:solidFill>
                <a:latin typeface="Ubuntu" pitchFamily="34" charset="0"/>
                <a:ea typeface="Ubuntu" pitchFamily="34" charset="-122"/>
                <a:cs typeface="Ubuntu" pitchFamily="34" charset="-120"/>
              </a:rPr>
              <a:t>Marketing &amp; UA</a:t>
            </a:r>
            <a:endParaRPr lang="en-US" sz="1000" dirty="0"/>
          </a:p>
        </p:txBody>
      </p:sp>
      <p:sp>
        <p:nvSpPr>
          <p:cNvPr id="22" name="Text 18"/>
          <p:cNvSpPr/>
          <p:nvPr/>
        </p:nvSpPr>
        <p:spPr>
          <a:xfrm>
            <a:off x="4571591" y="2544961"/>
            <a:ext cx="2952750" cy="166688"/>
          </a:xfrm>
          <a:prstGeom prst="rect">
            <a:avLst/>
          </a:prstGeom>
          <a:ln/>
        </p:spPr>
        <p:txBody>
          <a:bodyPr wrap="square" lIns="0" tIns="0" rIns="0" bIns="0" rtlCol="0" anchor="t"/>
          <a:lstStyle/>
          <a:p>
            <a:pPr algn="l" indent="0" marL="0">
              <a:lnSpc>
                <a:spcPts val="1296"/>
              </a:lnSpc>
              <a:buNone/>
            </a:pPr>
            <a:r>
              <a:rPr lang="en-US" sz="800" dirty="0">
                <a:solidFill>
                  <a:srgbClr val="FFFFFF"/>
                </a:solidFill>
                <a:latin typeface="Ubuntu" pitchFamily="34" charset="0"/>
                <a:ea typeface="Ubuntu" pitchFamily="34" charset="-122"/>
                <a:cs typeface="Ubuntu" pitchFamily="34" charset="-120"/>
              </a:rPr>
              <a:t>App store optimization · brand campaigns · influencer audio</a:t>
            </a:r>
            <a:endParaRPr lang="en-US" sz="800" dirty="0"/>
          </a:p>
        </p:txBody>
      </p:sp>
      <p:sp>
        <p:nvSpPr>
          <p:cNvPr id="23" name="Text 19"/>
          <p:cNvSpPr/>
          <p:nvPr/>
        </p:nvSpPr>
        <p:spPr>
          <a:xfrm>
            <a:off x="7998730" y="2375446"/>
            <a:ext cx="414338" cy="300038"/>
          </a:xfrm>
          <a:prstGeom prst="rect">
            <a:avLst/>
          </a:prstGeom>
          <a:ln/>
        </p:spPr>
        <p:txBody>
          <a:bodyPr wrap="square" lIns="0" tIns="0" rIns="0" bIns="0" rtlCol="0" anchor="t"/>
          <a:lstStyle/>
          <a:p>
            <a:pPr algn="l" indent="0" marL="0">
              <a:lnSpc>
                <a:spcPts val="2376"/>
              </a:lnSpc>
              <a:buNone/>
            </a:pPr>
            <a:r>
              <a:rPr lang="en-US" sz="1500" b="1" dirty="0">
                <a:solidFill>
                  <a:srgbClr val="FF4199"/>
                </a:solidFill>
                <a:latin typeface="Ubuntu" pitchFamily="34" charset="0"/>
                <a:ea typeface="Ubuntu" pitchFamily="34" charset="-122"/>
                <a:cs typeface="Ubuntu" pitchFamily="34" charset="-120"/>
              </a:rPr>
              <a:t>20</a:t>
            </a:r>
            <a:pPr algn="l" indent="0" marL="0">
              <a:lnSpc>
                <a:spcPts val="2376"/>
              </a:lnSpc>
              <a:buNone/>
            </a:pPr>
            <a:r>
              <a:rPr lang="en-US" sz="1500" b="1" dirty="0">
                <a:solidFill>
                  <a:srgbClr val="FF4199"/>
                </a:solidFill>
                <a:latin typeface="Ubuntu" pitchFamily="34" charset="0"/>
                <a:ea typeface="Ubuntu" pitchFamily="34" charset="-122"/>
                <a:cs typeface="Ubuntu" pitchFamily="34" charset="-120"/>
              </a:rPr>
              <a:t>%</a:t>
            </a:r>
            <a:endParaRPr lang="en-US" sz="1500" dirty="0"/>
          </a:p>
        </p:txBody>
      </p:sp>
      <p:sp>
        <p:nvSpPr>
          <p:cNvPr id="24" name="Shape 20"/>
          <p:cNvSpPr/>
          <p:nvPr/>
        </p:nvSpPr>
        <p:spPr>
          <a:xfrm>
            <a:off x="4572893" y="2761134"/>
            <a:ext cx="3838575" cy="42863"/>
          </a:xfrm>
          <a:prstGeom prst="roundRect">
            <a:avLst>
              <a:gd name="adj" fmla="val 266664"/>
            </a:avLst>
          </a:prstGeom>
          <a:solidFill>
            <a:srgbClr val="FFFFFF">
              <a:alpha val="6000"/>
            </a:srgbClr>
          </a:solidFill>
          <a:ln/>
        </p:spPr>
      </p:sp>
      <p:sp>
        <p:nvSpPr>
          <p:cNvPr id="25" name="Shape 21"/>
          <p:cNvSpPr/>
          <p:nvPr/>
        </p:nvSpPr>
        <p:spPr>
          <a:xfrm>
            <a:off x="4572521" y="2761134"/>
            <a:ext cx="766763" cy="42863"/>
          </a:xfrm>
          <a:prstGeom prst="roundRect">
            <a:avLst>
              <a:gd name="adj" fmla="val 266664"/>
            </a:avLst>
          </a:prstGeom>
          <a:solidFill>
            <a:srgbClr val="FF4199">
              <a:alpha val="60000"/>
            </a:srgbClr>
          </a:solidFill>
          <a:ln/>
        </p:spPr>
      </p:sp>
      <p:sp>
        <p:nvSpPr>
          <p:cNvPr id="26" name="Text 22"/>
          <p:cNvSpPr/>
          <p:nvPr/>
        </p:nvSpPr>
        <p:spPr>
          <a:xfrm>
            <a:off x="4570921" y="2932137"/>
            <a:ext cx="2352675" cy="204787"/>
          </a:xfrm>
          <a:prstGeom prst="rect">
            <a:avLst/>
          </a:prstGeom>
          <a:ln/>
        </p:spPr>
        <p:txBody>
          <a:bodyPr wrap="square" lIns="0" tIns="0" rIns="0" bIns="0" rtlCol="0" anchor="t"/>
          <a:lstStyle/>
          <a:p>
            <a:pPr algn="l" indent="0" marL="0">
              <a:lnSpc>
                <a:spcPts val="1620"/>
              </a:lnSpc>
              <a:buNone/>
            </a:pPr>
            <a:r>
              <a:rPr lang="en-US" sz="1000" b="1" dirty="0">
                <a:solidFill>
                  <a:srgbClr val="FFFFFF"/>
                </a:solidFill>
                <a:latin typeface="Ubuntu" pitchFamily="34" charset="0"/>
                <a:ea typeface="Ubuntu" pitchFamily="34" charset="-122"/>
                <a:cs typeface="Ubuntu" pitchFamily="34" charset="-120"/>
              </a:rPr>
              <a:t>Operations &amp; Headcount</a:t>
            </a:r>
            <a:endParaRPr lang="en-US" sz="1000" dirty="0"/>
          </a:p>
        </p:txBody>
      </p:sp>
      <p:sp>
        <p:nvSpPr>
          <p:cNvPr id="27" name="Text 23"/>
          <p:cNvSpPr/>
          <p:nvPr/>
        </p:nvSpPr>
        <p:spPr>
          <a:xfrm>
            <a:off x="4570921" y="3136329"/>
            <a:ext cx="2352675" cy="166688"/>
          </a:xfrm>
          <a:prstGeom prst="rect">
            <a:avLst/>
          </a:prstGeom>
          <a:ln/>
        </p:spPr>
        <p:txBody>
          <a:bodyPr wrap="square" lIns="0" tIns="0" rIns="0" bIns="0" rtlCol="0" anchor="t"/>
          <a:lstStyle/>
          <a:p>
            <a:pPr algn="l" indent="0" marL="0">
              <a:lnSpc>
                <a:spcPts val="1296"/>
              </a:lnSpc>
              <a:buNone/>
            </a:pPr>
            <a:r>
              <a:rPr lang="en-US" sz="800" dirty="0">
                <a:solidFill>
                  <a:srgbClr val="FFFFFF"/>
                </a:solidFill>
                <a:latin typeface="Ubuntu" pitchFamily="34" charset="0"/>
                <a:ea typeface="Ubuntu" pitchFamily="34" charset="-122"/>
                <a:cs typeface="Ubuntu" pitchFamily="34" charset="-120"/>
              </a:rPr>
              <a:t>Content ops · customer support · legal / finance</a:t>
            </a:r>
            <a:endParaRPr lang="en-US" sz="800" dirty="0"/>
          </a:p>
        </p:txBody>
      </p:sp>
      <p:sp>
        <p:nvSpPr>
          <p:cNvPr id="28" name="Text 24"/>
          <p:cNvSpPr/>
          <p:nvPr/>
        </p:nvSpPr>
        <p:spPr>
          <a:xfrm>
            <a:off x="7998730" y="2966814"/>
            <a:ext cx="414338" cy="300038"/>
          </a:xfrm>
          <a:prstGeom prst="rect">
            <a:avLst/>
          </a:prstGeom>
          <a:ln/>
        </p:spPr>
        <p:txBody>
          <a:bodyPr wrap="square" lIns="0" tIns="0" rIns="0" bIns="0" rtlCol="0" anchor="t"/>
          <a:lstStyle/>
          <a:p>
            <a:pPr algn="l" indent="0" marL="0">
              <a:lnSpc>
                <a:spcPts val="2376"/>
              </a:lnSpc>
              <a:buNone/>
            </a:pPr>
            <a:r>
              <a:rPr lang="en-US" sz="1500" b="1" dirty="0">
                <a:solidFill>
                  <a:srgbClr val="FFFFFF"/>
                </a:solidFill>
                <a:latin typeface="Ubuntu" pitchFamily="34" charset="0"/>
                <a:ea typeface="Ubuntu" pitchFamily="34" charset="-122"/>
                <a:cs typeface="Ubuntu" pitchFamily="34" charset="-120"/>
              </a:rPr>
              <a:t>10</a:t>
            </a:r>
            <a:pPr algn="l" indent="0" marL="0">
              <a:lnSpc>
                <a:spcPts val="2376"/>
              </a:lnSpc>
              <a:buNone/>
            </a:pPr>
            <a:r>
              <a:rPr lang="en-US" sz="1500" b="1" dirty="0">
                <a:solidFill>
                  <a:srgbClr val="FFFFFF"/>
                </a:solidFill>
                <a:latin typeface="Ubuntu" pitchFamily="34" charset="0"/>
                <a:ea typeface="Ubuntu" pitchFamily="34" charset="-122"/>
                <a:cs typeface="Ubuntu" pitchFamily="34" charset="-120"/>
              </a:rPr>
              <a:t>%</a:t>
            </a:r>
            <a:endParaRPr lang="en-US" sz="1500" dirty="0"/>
          </a:p>
        </p:txBody>
      </p:sp>
      <p:sp>
        <p:nvSpPr>
          <p:cNvPr id="29" name="Shape 25"/>
          <p:cNvSpPr/>
          <p:nvPr/>
        </p:nvSpPr>
        <p:spPr>
          <a:xfrm>
            <a:off x="4572893" y="3352502"/>
            <a:ext cx="3838575" cy="42863"/>
          </a:xfrm>
          <a:prstGeom prst="roundRect">
            <a:avLst>
              <a:gd name="adj" fmla="val 266664"/>
            </a:avLst>
          </a:prstGeom>
          <a:solidFill>
            <a:srgbClr val="FFFFFF">
              <a:alpha val="6000"/>
            </a:srgbClr>
          </a:solidFill>
          <a:ln/>
        </p:spPr>
      </p:sp>
      <p:sp>
        <p:nvSpPr>
          <p:cNvPr id="30" name="Shape 26"/>
          <p:cNvSpPr/>
          <p:nvPr/>
        </p:nvSpPr>
        <p:spPr>
          <a:xfrm>
            <a:off x="4570995" y="3352502"/>
            <a:ext cx="385763" cy="42863"/>
          </a:xfrm>
          <a:prstGeom prst="roundRect">
            <a:avLst>
              <a:gd name="adj" fmla="val 266664"/>
            </a:avLst>
          </a:prstGeom>
          <a:solidFill>
            <a:srgbClr val="FFFFFF">
              <a:alpha val="40000"/>
            </a:srgbClr>
          </a:solidFill>
          <a:ln/>
        </p:spPr>
      </p:sp>
      <p:sp>
        <p:nvSpPr>
          <p:cNvPr id="31" name="Text 27"/>
          <p:cNvSpPr/>
          <p:nvPr/>
        </p:nvSpPr>
        <p:spPr>
          <a:xfrm>
            <a:off x="4570698" y="3523506"/>
            <a:ext cx="1119188" cy="204787"/>
          </a:xfrm>
          <a:prstGeom prst="rect">
            <a:avLst/>
          </a:prstGeom>
          <a:ln/>
        </p:spPr>
        <p:txBody>
          <a:bodyPr wrap="square" lIns="0" tIns="0" rIns="0" bIns="0" rtlCol="0" anchor="t"/>
          <a:lstStyle/>
          <a:p>
            <a:pPr algn="l" indent="0" marL="0">
              <a:lnSpc>
                <a:spcPts val="1620"/>
              </a:lnSpc>
              <a:buNone/>
            </a:pPr>
            <a:r>
              <a:rPr lang="en-US" sz="1000" b="1" dirty="0">
                <a:solidFill>
                  <a:srgbClr val="FFFFFF"/>
                </a:solidFill>
                <a:latin typeface="Ubuntu" pitchFamily="34" charset="0"/>
                <a:ea typeface="Ubuntu" pitchFamily="34" charset="-122"/>
                <a:cs typeface="Ubuntu" pitchFamily="34" charset="-120"/>
              </a:rPr>
              <a:t>Reserve</a:t>
            </a:r>
            <a:endParaRPr lang="en-US" sz="1000" dirty="0"/>
          </a:p>
        </p:txBody>
      </p:sp>
      <p:sp>
        <p:nvSpPr>
          <p:cNvPr id="32" name="Text 28"/>
          <p:cNvSpPr/>
          <p:nvPr/>
        </p:nvSpPr>
        <p:spPr>
          <a:xfrm>
            <a:off x="4570698" y="3727698"/>
            <a:ext cx="1119188" cy="166688"/>
          </a:xfrm>
          <a:prstGeom prst="rect">
            <a:avLst/>
          </a:prstGeom>
          <a:ln/>
        </p:spPr>
        <p:txBody>
          <a:bodyPr wrap="square" lIns="0" tIns="0" rIns="0" bIns="0" rtlCol="0" anchor="t"/>
          <a:lstStyle/>
          <a:p>
            <a:pPr algn="l" indent="0" marL="0">
              <a:lnSpc>
                <a:spcPts val="1296"/>
              </a:lnSpc>
              <a:buNone/>
            </a:pPr>
            <a:r>
              <a:rPr lang="en-US" sz="800" dirty="0">
                <a:solidFill>
                  <a:srgbClr val="FFFFFF"/>
                </a:solidFill>
                <a:latin typeface="Ubuntu" pitchFamily="34" charset="0"/>
                <a:ea typeface="Ubuntu" pitchFamily="34" charset="-122"/>
                <a:cs typeface="Ubuntu" pitchFamily="34" charset="-120"/>
              </a:rPr>
              <a:t>Working capital buffer</a:t>
            </a:r>
            <a:endParaRPr lang="en-US" sz="800" dirty="0"/>
          </a:p>
        </p:txBody>
      </p:sp>
      <p:sp>
        <p:nvSpPr>
          <p:cNvPr id="33" name="Text 29"/>
          <p:cNvSpPr/>
          <p:nvPr/>
        </p:nvSpPr>
        <p:spPr>
          <a:xfrm>
            <a:off x="8112993" y="3558183"/>
            <a:ext cx="300038" cy="300038"/>
          </a:xfrm>
          <a:prstGeom prst="rect">
            <a:avLst/>
          </a:prstGeom>
          <a:ln/>
        </p:spPr>
        <p:txBody>
          <a:bodyPr wrap="square" lIns="0" tIns="0" rIns="0" bIns="0" rtlCol="0" anchor="t"/>
          <a:lstStyle/>
          <a:p>
            <a:pPr algn="l" indent="0" marL="0">
              <a:lnSpc>
                <a:spcPts val="2376"/>
              </a:lnSpc>
              <a:buNone/>
            </a:pPr>
            <a:r>
              <a:rPr lang="en-US" sz="1500" b="1" dirty="0">
                <a:solidFill>
                  <a:srgbClr val="FFFFFF"/>
                </a:solidFill>
                <a:latin typeface="Ubuntu" pitchFamily="34" charset="0"/>
                <a:ea typeface="Ubuntu" pitchFamily="34" charset="-122"/>
                <a:cs typeface="Ubuntu" pitchFamily="34" charset="-120"/>
              </a:rPr>
              <a:t>5</a:t>
            </a:r>
            <a:pPr algn="l" indent="0" marL="0">
              <a:lnSpc>
                <a:spcPts val="2376"/>
              </a:lnSpc>
              <a:buNone/>
            </a:pPr>
            <a:r>
              <a:rPr lang="en-US" sz="1500" b="1" dirty="0">
                <a:solidFill>
                  <a:srgbClr val="FFFFFF"/>
                </a:solidFill>
                <a:latin typeface="Ubuntu" pitchFamily="34" charset="0"/>
                <a:ea typeface="Ubuntu" pitchFamily="34" charset="-122"/>
                <a:cs typeface="Ubuntu" pitchFamily="34" charset="-120"/>
              </a:rPr>
              <a:t>%</a:t>
            </a:r>
            <a:endParaRPr lang="en-US" sz="1500" dirty="0"/>
          </a:p>
        </p:txBody>
      </p:sp>
      <p:sp>
        <p:nvSpPr>
          <p:cNvPr id="34" name="Shape 30"/>
          <p:cNvSpPr/>
          <p:nvPr/>
        </p:nvSpPr>
        <p:spPr>
          <a:xfrm>
            <a:off x="4572893" y="3943871"/>
            <a:ext cx="3838575" cy="42863"/>
          </a:xfrm>
          <a:prstGeom prst="roundRect">
            <a:avLst>
              <a:gd name="adj" fmla="val 266664"/>
            </a:avLst>
          </a:prstGeom>
          <a:solidFill>
            <a:srgbClr val="FFFFFF">
              <a:alpha val="6000"/>
            </a:srgbClr>
          </a:solidFill>
          <a:ln/>
        </p:spPr>
      </p:sp>
      <p:sp>
        <p:nvSpPr>
          <p:cNvPr id="35" name="Shape 31"/>
          <p:cNvSpPr/>
          <p:nvPr/>
        </p:nvSpPr>
        <p:spPr>
          <a:xfrm>
            <a:off x="4572595" y="3943871"/>
            <a:ext cx="190500" cy="42863"/>
          </a:xfrm>
          <a:prstGeom prst="roundRect">
            <a:avLst>
              <a:gd name="adj" fmla="val 266664"/>
            </a:avLst>
          </a:prstGeom>
          <a:solidFill>
            <a:srgbClr val="FFFFFF">
              <a:alpha val="20000"/>
            </a:srgbClr>
          </a:solidFill>
          <a:ln/>
        </p:spPr>
      </p:sp>
      <p:sp>
        <p:nvSpPr>
          <p:cNvPr id="36" name="Text 32"/>
          <p:cNvSpPr/>
          <p:nvPr/>
        </p:nvSpPr>
        <p:spPr>
          <a:xfrm>
            <a:off x="0" y="4781848"/>
            <a:ext cx="9144000" cy="361950"/>
          </a:xfrm>
          <a:prstGeom prst="rect">
            <a:avLst/>
          </a:prstGeom>
          <a:ln/>
        </p:spPr>
        <p:txBody>
          <a:bodyPr wrap="square" lIns="0" tIns="0" rIns="0" bIns="0" rtlCol="0" anchor="t"/>
          <a:lstStyle/>
          <a:p>
            <a:pPr algn="l" indent="0" marL="0">
              <a:lnSpc>
                <a:spcPts val="1188"/>
              </a:lnSpc>
              <a:buNone/>
            </a:pPr>
            <a:r>
              <a:rPr lang="en-US" sz="700" dirty="0">
                <a:solidFill>
                  <a:srgbClr val="FFFFFF"/>
                </a:solidFill>
                <a:latin typeface="Ubuntu" pitchFamily="34" charset="0"/>
                <a:ea typeface="Ubuntu" pitchFamily="34" charset="-122"/>
                <a:cs typeface="Ubuntu" pitchFamily="34" charset="-120"/>
              </a:rPr>
              <a:t>RADIO MEGA</a:t>
            </a:r>
            <a:pPr algn="l" indent="0" marL="0">
              <a:lnSpc>
                <a:spcPts val="1188"/>
              </a:lnSpc>
              <a:buNone/>
            </a:pPr>
            <a:r>
              <a:rPr lang="en-US" sz="700" dirty="0">
                <a:solidFill>
                  <a:srgbClr val="FFFFFF"/>
                </a:solidFill>
                <a:latin typeface="Ubuntu" pitchFamily="34" charset="0"/>
                <a:ea typeface="Ubuntu" pitchFamily="34" charset="-122"/>
                <a:cs typeface="Ubuntu" pitchFamily="34" charset="-120"/>
              </a:rPr>
              <a:t>16 / 18</a:t>
            </a:r>
            <a:endParaRPr lang="en-US" sz="700" dirty="0"/>
          </a:p>
        </p:txBody>
      </p:sp>
      <p:pic>
        <p:nvPicPr>
          <p:cNvPr id="37"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0" y="4781848"/>
            <a:ext cx="9144000" cy="36195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E0E0E"/>
          </a:solidFill>
          <a:ln/>
        </p:spPr>
      </p:sp>
      <p:pic>
        <p:nvPicPr>
          <p:cNvPr id="3"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0" y="0"/>
            <a:ext cx="9144000" cy="5143500"/>
          </a:xfrm>
          <a:prstGeom prst="rect">
            <a:avLst/>
          </a:prstGeom>
        </p:spPr>
      </p:pic>
      <p:pic>
        <p:nvPicPr>
          <p:cNvPr id="4"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66727" y="1502107"/>
            <a:ext cx="4208145" cy="4208145"/>
          </a:xfrm>
          <a:prstGeom prst="rect">
            <a:avLst/>
          </a:prstGeom>
        </p:spPr>
      </p:pic>
      <p:sp>
        <p:nvSpPr>
          <p:cNvPr id="5" name="Text 1"/>
          <p:cNvSpPr/>
          <p:nvPr/>
        </p:nvSpPr>
        <p:spPr>
          <a:xfrm>
            <a:off x="731044" y="359532"/>
            <a:ext cx="7681912" cy="138113"/>
          </a:xfrm>
          <a:prstGeom prst="rect">
            <a:avLst/>
          </a:prstGeom>
          <a:ln/>
        </p:spPr>
        <p:txBody>
          <a:bodyPr wrap="square" lIns="0" tIns="0" rIns="0" bIns="0" rtlCol="0" anchor="t"/>
          <a:lstStyle/>
          <a:p>
            <a:pPr algn="l" indent="0" marL="0">
              <a:lnSpc>
                <a:spcPts val="1080"/>
              </a:lnSpc>
              <a:spcAft>
                <a:spcPts val="810"/>
              </a:spcAft>
              <a:buNone/>
            </a:pPr>
            <a:r>
              <a:rPr lang="en-US" sz="700" b="1" dirty="0">
                <a:solidFill>
                  <a:srgbClr val="01D7FB"/>
                </a:solidFill>
                <a:latin typeface="Ubuntu" pitchFamily="34" charset="0"/>
                <a:ea typeface="Ubuntu" pitchFamily="34" charset="-122"/>
                <a:cs typeface="Ubuntu" pitchFamily="34" charset="-120"/>
              </a:rPr>
              <a:t>FINANCIAL SUMMARY</a:t>
            </a:r>
            <a:endParaRPr lang="en-US" sz="700" dirty="0"/>
          </a:p>
        </p:txBody>
      </p:sp>
      <p:sp>
        <p:nvSpPr>
          <p:cNvPr id="6" name="Text 2"/>
          <p:cNvSpPr/>
          <p:nvPr/>
        </p:nvSpPr>
        <p:spPr>
          <a:xfrm>
            <a:off x="731044" y="601117"/>
            <a:ext cx="7681912" cy="400050"/>
          </a:xfrm>
          <a:prstGeom prst="rect">
            <a:avLst/>
          </a:prstGeom>
          <a:ln/>
        </p:spPr>
        <p:txBody>
          <a:bodyPr wrap="square" lIns="0" tIns="0" rIns="0" bIns="0" rtlCol="0" anchor="t"/>
          <a:lstStyle/>
          <a:p>
            <a:pPr algn="l" indent="0" marL="0">
              <a:lnSpc>
                <a:spcPts val="3168"/>
              </a:lnSpc>
              <a:buNone/>
            </a:pPr>
            <a:r>
              <a:rPr lang="en-US" sz="2800" b="1" dirty="0">
                <a:solidFill>
                  <a:srgbClr val="FFFFFF"/>
                </a:solidFill>
                <a:latin typeface="Ubuntu" pitchFamily="34" charset="0"/>
                <a:ea typeface="Ubuntu" pitchFamily="34" charset="-122"/>
                <a:cs typeface="Ubuntu" pitchFamily="34" charset="-120"/>
              </a:rPr>
              <a:t>Three-year P&amp;L snapshot</a:t>
            </a:r>
            <a:endParaRPr lang="en-US" sz="2800" dirty="0"/>
          </a:p>
        </p:txBody>
      </p:sp>
      <p:sp>
        <p:nvSpPr>
          <p:cNvPr id="7" name="Shape 3"/>
          <p:cNvSpPr/>
          <p:nvPr/>
        </p:nvSpPr>
        <p:spPr>
          <a:xfrm>
            <a:off x="731044" y="1208112"/>
            <a:ext cx="7681912" cy="314325"/>
          </a:xfrm>
          <a:prstGeom prst="rect">
            <a:avLst/>
          </a:prstGeom>
          <a:ln/>
        </p:spPr>
      </p:sp>
      <p:sp>
        <p:nvSpPr>
          <p:cNvPr id="8" name="Text 4"/>
          <p:cNvSpPr/>
          <p:nvPr/>
        </p:nvSpPr>
        <p:spPr>
          <a:xfrm>
            <a:off x="915330" y="1284312"/>
            <a:ext cx="3381375" cy="152400"/>
          </a:xfrm>
          <a:prstGeom prst="rect">
            <a:avLst/>
          </a:prstGeom>
          <a:ln/>
        </p:spPr>
        <p:txBody>
          <a:bodyPr wrap="square" lIns="0" tIns="0" rIns="0" bIns="0" rtlCol="0" anchor="t"/>
          <a:lstStyle/>
          <a:p>
            <a:pPr algn="l" indent="0" marL="0">
              <a:lnSpc>
                <a:spcPts val="1188"/>
              </a:lnSpc>
              <a:buNone/>
            </a:pPr>
            <a:r>
              <a:rPr lang="en-US" sz="700" b="1" dirty="0">
                <a:solidFill>
                  <a:srgbClr val="FFFFFF"/>
                </a:solidFill>
                <a:latin typeface="Ubuntu" pitchFamily="34" charset="0"/>
                <a:ea typeface="Ubuntu" pitchFamily="34" charset="-122"/>
                <a:cs typeface="Ubuntu" pitchFamily="34" charset="-120"/>
              </a:rPr>
              <a:t>METRIC</a:t>
            </a:r>
            <a:endParaRPr lang="en-US" sz="700" dirty="0"/>
          </a:p>
        </p:txBody>
      </p:sp>
      <p:sp>
        <p:nvSpPr>
          <p:cNvPr id="9" name="Text 5"/>
          <p:cNvSpPr/>
          <p:nvPr/>
        </p:nvSpPr>
        <p:spPr>
          <a:xfrm>
            <a:off x="4480099" y="1284312"/>
            <a:ext cx="1128713" cy="152400"/>
          </a:xfrm>
          <a:prstGeom prst="rect">
            <a:avLst/>
          </a:prstGeom>
          <a:ln/>
        </p:spPr>
        <p:txBody>
          <a:bodyPr wrap="square" lIns="0" tIns="0" rIns="0" bIns="0" rtlCol="0" anchor="t"/>
          <a:lstStyle/>
          <a:p>
            <a:pPr algn="r" indent="0" marL="0">
              <a:lnSpc>
                <a:spcPts val="1188"/>
              </a:lnSpc>
              <a:buNone/>
            </a:pPr>
            <a:r>
              <a:rPr lang="en-US" sz="700" b="1" dirty="0">
                <a:solidFill>
                  <a:srgbClr val="FFFFFF"/>
                </a:solidFill>
                <a:latin typeface="Ubuntu" pitchFamily="34" charset="0"/>
                <a:ea typeface="Ubuntu" pitchFamily="34" charset="-122"/>
                <a:cs typeface="Ubuntu" pitchFamily="34" charset="-120"/>
              </a:rPr>
              <a:t>2026</a:t>
            </a:r>
            <a:endParaRPr lang="en-US" sz="700" dirty="0"/>
          </a:p>
        </p:txBody>
      </p:sp>
      <p:sp>
        <p:nvSpPr>
          <p:cNvPr id="10" name="Text 6"/>
          <p:cNvSpPr/>
          <p:nvPr/>
        </p:nvSpPr>
        <p:spPr>
          <a:xfrm>
            <a:off x="5790754" y="1284312"/>
            <a:ext cx="1128713" cy="152400"/>
          </a:xfrm>
          <a:prstGeom prst="rect">
            <a:avLst/>
          </a:prstGeom>
          <a:ln/>
        </p:spPr>
        <p:txBody>
          <a:bodyPr wrap="square" lIns="0" tIns="0" rIns="0" bIns="0" rtlCol="0" anchor="t"/>
          <a:lstStyle/>
          <a:p>
            <a:pPr algn="r" indent="0" marL="0">
              <a:lnSpc>
                <a:spcPts val="1188"/>
              </a:lnSpc>
              <a:buNone/>
            </a:pPr>
            <a:r>
              <a:rPr lang="en-US" sz="700" b="1" dirty="0">
                <a:solidFill>
                  <a:srgbClr val="FFFFFF"/>
                </a:solidFill>
                <a:latin typeface="Ubuntu" pitchFamily="34" charset="0"/>
                <a:ea typeface="Ubuntu" pitchFamily="34" charset="-122"/>
                <a:cs typeface="Ubuntu" pitchFamily="34" charset="-120"/>
              </a:rPr>
              <a:t>2027</a:t>
            </a:r>
            <a:endParaRPr lang="en-US" sz="700" dirty="0"/>
          </a:p>
        </p:txBody>
      </p:sp>
      <p:sp>
        <p:nvSpPr>
          <p:cNvPr id="11" name="Text 7"/>
          <p:cNvSpPr/>
          <p:nvPr/>
        </p:nvSpPr>
        <p:spPr>
          <a:xfrm>
            <a:off x="7101371" y="1284312"/>
            <a:ext cx="1128713" cy="152400"/>
          </a:xfrm>
          <a:prstGeom prst="rect">
            <a:avLst/>
          </a:prstGeom>
          <a:ln/>
        </p:spPr>
        <p:txBody>
          <a:bodyPr wrap="square" lIns="0" tIns="0" rIns="0" bIns="0" rtlCol="0" anchor="t"/>
          <a:lstStyle/>
          <a:p>
            <a:pPr algn="r" indent="0" marL="0">
              <a:lnSpc>
                <a:spcPts val="1188"/>
              </a:lnSpc>
              <a:buNone/>
            </a:pPr>
            <a:r>
              <a:rPr lang="en-US" sz="700" b="1" dirty="0">
                <a:solidFill>
                  <a:srgbClr val="FFFFFF"/>
                </a:solidFill>
                <a:latin typeface="Ubuntu" pitchFamily="34" charset="0"/>
                <a:ea typeface="Ubuntu" pitchFamily="34" charset="-122"/>
                <a:cs typeface="Ubuntu" pitchFamily="34" charset="-120"/>
              </a:rPr>
              <a:t>2028</a:t>
            </a:r>
            <a:endParaRPr lang="en-US" sz="700" dirty="0"/>
          </a:p>
        </p:txBody>
      </p:sp>
      <p:sp>
        <p:nvSpPr>
          <p:cNvPr id="12" name="Shape 8"/>
          <p:cNvSpPr/>
          <p:nvPr/>
        </p:nvSpPr>
        <p:spPr>
          <a:xfrm>
            <a:off x="731044" y="1572964"/>
            <a:ext cx="7681912" cy="366712"/>
          </a:xfrm>
          <a:prstGeom prst="rect">
            <a:avLst/>
          </a:prstGeom>
          <a:solidFill>
            <a:srgbClr val="FFFFFF">
              <a:alpha val="1000"/>
            </a:srgbClr>
          </a:solidFill>
          <a:ln/>
        </p:spPr>
      </p:sp>
      <p:sp>
        <p:nvSpPr>
          <p:cNvPr id="13" name="Text 9"/>
          <p:cNvSpPr/>
          <p:nvPr/>
        </p:nvSpPr>
        <p:spPr>
          <a:xfrm>
            <a:off x="915330" y="1651546"/>
            <a:ext cx="3381375" cy="204787"/>
          </a:xfrm>
          <a:prstGeom prst="rect">
            <a:avLst/>
          </a:prstGeom>
          <a:ln/>
        </p:spPr>
        <p:txBody>
          <a:bodyPr wrap="square" lIns="0" tIns="0" rIns="0" bIns="0" rtlCol="0" anchor="t"/>
          <a:lstStyle/>
          <a:p>
            <a:pPr algn="l" indent="0" marL="0">
              <a:lnSpc>
                <a:spcPts val="1620"/>
              </a:lnSpc>
              <a:buNone/>
            </a:pPr>
            <a:r>
              <a:rPr lang="en-US" sz="1000" dirty="0">
                <a:solidFill>
                  <a:srgbClr val="FFFFFF"/>
                </a:solidFill>
                <a:latin typeface="Ubuntu" pitchFamily="34" charset="0"/>
                <a:ea typeface="Ubuntu" pitchFamily="34" charset="-122"/>
                <a:cs typeface="Ubuntu" pitchFamily="34" charset="-120"/>
              </a:rPr>
              <a:t>Premium subscribers</a:t>
            </a:r>
            <a:endParaRPr lang="en-US" sz="1000" dirty="0"/>
          </a:p>
        </p:txBody>
      </p:sp>
      <p:sp>
        <p:nvSpPr>
          <p:cNvPr id="14" name="Text 10"/>
          <p:cNvSpPr/>
          <p:nvPr/>
        </p:nvSpPr>
        <p:spPr>
          <a:xfrm>
            <a:off x="4480099" y="1651546"/>
            <a:ext cx="1128713" cy="204787"/>
          </a:xfrm>
          <a:prstGeom prst="rect">
            <a:avLst/>
          </a:prstGeom>
          <a:ln/>
        </p:spPr>
        <p:txBody>
          <a:bodyPr wrap="square" lIns="0" tIns="0" rIns="0" bIns="0" rtlCol="0" anchor="t"/>
          <a:lstStyle/>
          <a:p>
            <a:pPr algn="r" indent="0" marL="0">
              <a:lnSpc>
                <a:spcPts val="1620"/>
              </a:lnSpc>
              <a:buNone/>
            </a:pPr>
            <a:r>
              <a:rPr lang="en-US" sz="1000" dirty="0">
                <a:solidFill>
                  <a:srgbClr val="FFFFFF"/>
                </a:solidFill>
                <a:latin typeface="Ubuntu" pitchFamily="34" charset="0"/>
                <a:ea typeface="Ubuntu" pitchFamily="34" charset="-122"/>
                <a:cs typeface="Ubuntu" pitchFamily="34" charset="-120"/>
              </a:rPr>
              <a:t>150K</a:t>
            </a:r>
            <a:endParaRPr lang="en-US" sz="1000" dirty="0"/>
          </a:p>
        </p:txBody>
      </p:sp>
      <p:sp>
        <p:nvSpPr>
          <p:cNvPr id="15" name="Text 11"/>
          <p:cNvSpPr/>
          <p:nvPr/>
        </p:nvSpPr>
        <p:spPr>
          <a:xfrm>
            <a:off x="5790754" y="1651546"/>
            <a:ext cx="1128713" cy="204787"/>
          </a:xfrm>
          <a:prstGeom prst="rect">
            <a:avLst/>
          </a:prstGeom>
          <a:ln/>
        </p:spPr>
        <p:txBody>
          <a:bodyPr wrap="square" lIns="0" tIns="0" rIns="0" bIns="0" rtlCol="0" anchor="t"/>
          <a:lstStyle/>
          <a:p>
            <a:pPr algn="r" indent="0" marL="0">
              <a:lnSpc>
                <a:spcPts val="1620"/>
              </a:lnSpc>
              <a:buNone/>
            </a:pPr>
            <a:r>
              <a:rPr lang="en-US" sz="1000" dirty="0">
                <a:solidFill>
                  <a:srgbClr val="FFFFFF"/>
                </a:solidFill>
                <a:latin typeface="Ubuntu" pitchFamily="34" charset="0"/>
                <a:ea typeface="Ubuntu" pitchFamily="34" charset="-122"/>
                <a:cs typeface="Ubuntu" pitchFamily="34" charset="-120"/>
              </a:rPr>
              <a:t>600K</a:t>
            </a:r>
            <a:endParaRPr lang="en-US" sz="1000" dirty="0"/>
          </a:p>
        </p:txBody>
      </p:sp>
      <p:sp>
        <p:nvSpPr>
          <p:cNvPr id="16" name="Text 12"/>
          <p:cNvSpPr/>
          <p:nvPr/>
        </p:nvSpPr>
        <p:spPr>
          <a:xfrm>
            <a:off x="7101371" y="1651546"/>
            <a:ext cx="1128713" cy="204787"/>
          </a:xfrm>
          <a:prstGeom prst="rect">
            <a:avLst/>
          </a:prstGeom>
          <a:ln/>
        </p:spPr>
        <p:txBody>
          <a:bodyPr wrap="square" lIns="0" tIns="0" rIns="0" bIns="0" rtlCol="0" anchor="t"/>
          <a:lstStyle/>
          <a:p>
            <a:pPr algn="r" indent="0" marL="0">
              <a:lnSpc>
                <a:spcPts val="1620"/>
              </a:lnSpc>
              <a:buNone/>
            </a:pPr>
            <a:r>
              <a:rPr lang="en-US" sz="1000" dirty="0">
                <a:solidFill>
                  <a:srgbClr val="FFFFFF"/>
                </a:solidFill>
                <a:latin typeface="Ubuntu" pitchFamily="34" charset="0"/>
                <a:ea typeface="Ubuntu" pitchFamily="34" charset="-122"/>
                <a:cs typeface="Ubuntu" pitchFamily="34" charset="-120"/>
              </a:rPr>
              <a:t>1.8M</a:t>
            </a:r>
            <a:endParaRPr lang="en-US" sz="1000" dirty="0"/>
          </a:p>
        </p:txBody>
      </p:sp>
      <p:sp>
        <p:nvSpPr>
          <p:cNvPr id="17" name="Shape 13"/>
          <p:cNvSpPr/>
          <p:nvPr/>
        </p:nvSpPr>
        <p:spPr>
          <a:xfrm>
            <a:off x="731044" y="1937593"/>
            <a:ext cx="7681912" cy="366712"/>
          </a:xfrm>
          <a:prstGeom prst="rect">
            <a:avLst/>
          </a:prstGeom>
          <a:solidFill>
            <a:srgbClr val="FF4199">
              <a:alpha val="4000"/>
            </a:srgbClr>
          </a:solidFill>
          <a:ln/>
        </p:spPr>
      </p:sp>
      <p:sp>
        <p:nvSpPr>
          <p:cNvPr id="18" name="Text 14"/>
          <p:cNvSpPr/>
          <p:nvPr/>
        </p:nvSpPr>
        <p:spPr>
          <a:xfrm>
            <a:off x="915330" y="2016175"/>
            <a:ext cx="3381375" cy="204787"/>
          </a:xfrm>
          <a:prstGeom prst="rect">
            <a:avLst/>
          </a:prstGeom>
          <a:ln/>
        </p:spPr>
        <p:txBody>
          <a:bodyPr wrap="square" lIns="0" tIns="0" rIns="0" bIns="0" rtlCol="0" anchor="t"/>
          <a:lstStyle/>
          <a:p>
            <a:pPr algn="l" indent="0" marL="0">
              <a:lnSpc>
                <a:spcPts val="1620"/>
              </a:lnSpc>
              <a:buNone/>
            </a:pPr>
            <a:r>
              <a:rPr lang="en-US" sz="1000" b="1" dirty="0">
                <a:solidFill>
                  <a:srgbClr val="FFFFFF"/>
                </a:solidFill>
                <a:latin typeface="Ubuntu" pitchFamily="34" charset="0"/>
                <a:ea typeface="Ubuntu" pitchFamily="34" charset="-122"/>
                <a:cs typeface="Ubuntu" pitchFamily="34" charset="-120"/>
              </a:rPr>
              <a:t>Subscription revenue</a:t>
            </a:r>
            <a:endParaRPr lang="en-US" sz="1000" dirty="0"/>
          </a:p>
        </p:txBody>
      </p:sp>
      <p:sp>
        <p:nvSpPr>
          <p:cNvPr id="19" name="Text 15"/>
          <p:cNvSpPr/>
          <p:nvPr/>
        </p:nvSpPr>
        <p:spPr>
          <a:xfrm>
            <a:off x="4480099" y="2016175"/>
            <a:ext cx="1128713" cy="204787"/>
          </a:xfrm>
          <a:prstGeom prst="rect">
            <a:avLst/>
          </a:prstGeom>
          <a:ln/>
        </p:spPr>
        <p:txBody>
          <a:bodyPr wrap="square" lIns="0" tIns="0" rIns="0" bIns="0" rtlCol="0" anchor="t"/>
          <a:lstStyle/>
          <a:p>
            <a:pPr algn="r" indent="0" marL="0">
              <a:lnSpc>
                <a:spcPts val="1620"/>
              </a:lnSpc>
              <a:buNone/>
            </a:pPr>
            <a:r>
              <a:rPr lang="en-US" sz="1000" b="1" dirty="0">
                <a:solidFill>
                  <a:srgbClr val="FF4199"/>
                </a:solidFill>
                <a:latin typeface="Ubuntu" pitchFamily="34" charset="0"/>
                <a:ea typeface="Ubuntu" pitchFamily="34" charset="-122"/>
                <a:cs typeface="Ubuntu" pitchFamily="34" charset="-120"/>
              </a:rPr>
              <a:t>$820K</a:t>
            </a:r>
            <a:endParaRPr lang="en-US" sz="1000" dirty="0"/>
          </a:p>
        </p:txBody>
      </p:sp>
      <p:sp>
        <p:nvSpPr>
          <p:cNvPr id="20" name="Text 16"/>
          <p:cNvSpPr/>
          <p:nvPr/>
        </p:nvSpPr>
        <p:spPr>
          <a:xfrm>
            <a:off x="5790754" y="2016175"/>
            <a:ext cx="1128713" cy="204787"/>
          </a:xfrm>
          <a:prstGeom prst="rect">
            <a:avLst/>
          </a:prstGeom>
          <a:ln/>
        </p:spPr>
        <p:txBody>
          <a:bodyPr wrap="square" lIns="0" tIns="0" rIns="0" bIns="0" rtlCol="0" anchor="t"/>
          <a:lstStyle/>
          <a:p>
            <a:pPr algn="r" indent="0" marL="0">
              <a:lnSpc>
                <a:spcPts val="1620"/>
              </a:lnSpc>
              <a:buNone/>
            </a:pPr>
            <a:r>
              <a:rPr lang="en-US" sz="1000" b="1" dirty="0">
                <a:solidFill>
                  <a:srgbClr val="FF4199"/>
                </a:solidFill>
                <a:latin typeface="Ubuntu" pitchFamily="34" charset="0"/>
                <a:ea typeface="Ubuntu" pitchFamily="34" charset="-122"/>
                <a:cs typeface="Ubuntu" pitchFamily="34" charset="-120"/>
              </a:rPr>
              <a:t>$3.4M</a:t>
            </a:r>
            <a:endParaRPr lang="en-US" sz="1000" dirty="0"/>
          </a:p>
        </p:txBody>
      </p:sp>
      <p:sp>
        <p:nvSpPr>
          <p:cNvPr id="21" name="Text 17"/>
          <p:cNvSpPr/>
          <p:nvPr/>
        </p:nvSpPr>
        <p:spPr>
          <a:xfrm>
            <a:off x="7101371" y="2016175"/>
            <a:ext cx="1128713" cy="204787"/>
          </a:xfrm>
          <a:prstGeom prst="rect">
            <a:avLst/>
          </a:prstGeom>
          <a:ln/>
        </p:spPr>
        <p:txBody>
          <a:bodyPr wrap="square" lIns="0" tIns="0" rIns="0" bIns="0" rtlCol="0" anchor="t"/>
          <a:lstStyle/>
          <a:p>
            <a:pPr algn="r" indent="0" marL="0">
              <a:lnSpc>
                <a:spcPts val="1620"/>
              </a:lnSpc>
              <a:buNone/>
            </a:pPr>
            <a:r>
              <a:rPr lang="en-US" sz="1000" b="1" dirty="0">
                <a:solidFill>
                  <a:srgbClr val="FF4199"/>
                </a:solidFill>
                <a:latin typeface="Ubuntu" pitchFamily="34" charset="0"/>
                <a:ea typeface="Ubuntu" pitchFamily="34" charset="-122"/>
                <a:cs typeface="Ubuntu" pitchFamily="34" charset="-120"/>
              </a:rPr>
              <a:t>$8.2M</a:t>
            </a:r>
            <a:endParaRPr lang="en-US" sz="1000" dirty="0"/>
          </a:p>
        </p:txBody>
      </p:sp>
      <p:sp>
        <p:nvSpPr>
          <p:cNvPr id="22" name="Shape 18"/>
          <p:cNvSpPr/>
          <p:nvPr/>
        </p:nvSpPr>
        <p:spPr>
          <a:xfrm>
            <a:off x="731044" y="2302222"/>
            <a:ext cx="7681912" cy="366712"/>
          </a:xfrm>
          <a:prstGeom prst="rect">
            <a:avLst/>
          </a:prstGeom>
          <a:solidFill>
            <a:srgbClr val="FFFFFF">
              <a:alpha val="1000"/>
            </a:srgbClr>
          </a:solidFill>
          <a:ln/>
        </p:spPr>
      </p:sp>
      <p:sp>
        <p:nvSpPr>
          <p:cNvPr id="23" name="Text 19"/>
          <p:cNvSpPr/>
          <p:nvPr/>
        </p:nvSpPr>
        <p:spPr>
          <a:xfrm>
            <a:off x="915330" y="2380804"/>
            <a:ext cx="3381375" cy="204787"/>
          </a:xfrm>
          <a:prstGeom prst="rect">
            <a:avLst/>
          </a:prstGeom>
          <a:ln/>
        </p:spPr>
        <p:txBody>
          <a:bodyPr wrap="square" lIns="0" tIns="0" rIns="0" bIns="0" rtlCol="0" anchor="t"/>
          <a:lstStyle/>
          <a:p>
            <a:pPr algn="l" indent="0" marL="0">
              <a:lnSpc>
                <a:spcPts val="1620"/>
              </a:lnSpc>
              <a:buNone/>
            </a:pPr>
            <a:r>
              <a:rPr lang="en-US" sz="1000" dirty="0">
                <a:solidFill>
                  <a:srgbClr val="FFFFFF"/>
                </a:solidFill>
                <a:latin typeface="Ubuntu" pitchFamily="34" charset="0"/>
                <a:ea typeface="Ubuntu" pitchFamily="34" charset="-122"/>
                <a:cs typeface="Ubuntu" pitchFamily="34" charset="-120"/>
              </a:rPr>
              <a:t>Advertising revenue</a:t>
            </a:r>
            <a:endParaRPr lang="en-US" sz="1000" dirty="0"/>
          </a:p>
        </p:txBody>
      </p:sp>
      <p:sp>
        <p:nvSpPr>
          <p:cNvPr id="24" name="Text 20"/>
          <p:cNvSpPr/>
          <p:nvPr/>
        </p:nvSpPr>
        <p:spPr>
          <a:xfrm>
            <a:off x="4480099" y="2380804"/>
            <a:ext cx="1128713" cy="204787"/>
          </a:xfrm>
          <a:prstGeom prst="rect">
            <a:avLst/>
          </a:prstGeom>
          <a:ln/>
        </p:spPr>
        <p:txBody>
          <a:bodyPr wrap="square" lIns="0" tIns="0" rIns="0" bIns="0" rtlCol="0" anchor="t"/>
          <a:lstStyle/>
          <a:p>
            <a:pPr algn="r" indent="0" marL="0">
              <a:lnSpc>
                <a:spcPts val="1620"/>
              </a:lnSpc>
              <a:buNone/>
            </a:pPr>
            <a:r>
              <a:rPr lang="en-US" sz="1000" dirty="0">
                <a:solidFill>
                  <a:srgbClr val="FFFFFF"/>
                </a:solidFill>
                <a:latin typeface="Ubuntu" pitchFamily="34" charset="0"/>
                <a:ea typeface="Ubuntu" pitchFamily="34" charset="-122"/>
                <a:cs typeface="Ubuntu" pitchFamily="34" charset="-120"/>
              </a:rPr>
              <a:t>$0</a:t>
            </a:r>
            <a:endParaRPr lang="en-US" sz="1000" dirty="0"/>
          </a:p>
        </p:txBody>
      </p:sp>
      <p:sp>
        <p:nvSpPr>
          <p:cNvPr id="25" name="Text 21"/>
          <p:cNvSpPr/>
          <p:nvPr/>
        </p:nvSpPr>
        <p:spPr>
          <a:xfrm>
            <a:off x="5790754" y="2380804"/>
            <a:ext cx="1128713" cy="204787"/>
          </a:xfrm>
          <a:prstGeom prst="rect">
            <a:avLst/>
          </a:prstGeom>
          <a:ln/>
        </p:spPr>
        <p:txBody>
          <a:bodyPr wrap="square" lIns="0" tIns="0" rIns="0" bIns="0" rtlCol="0" anchor="t"/>
          <a:lstStyle/>
          <a:p>
            <a:pPr algn="r" indent="0" marL="0">
              <a:lnSpc>
                <a:spcPts val="1620"/>
              </a:lnSpc>
              <a:buNone/>
            </a:pPr>
            <a:r>
              <a:rPr lang="en-US" sz="1000" dirty="0">
                <a:solidFill>
                  <a:srgbClr val="FFFFFF"/>
                </a:solidFill>
                <a:latin typeface="Ubuntu" pitchFamily="34" charset="0"/>
                <a:ea typeface="Ubuntu" pitchFamily="34" charset="-122"/>
                <a:cs typeface="Ubuntu" pitchFamily="34" charset="-120"/>
              </a:rPr>
              <a:t>$620K</a:t>
            </a:r>
            <a:endParaRPr lang="en-US" sz="1000" dirty="0"/>
          </a:p>
        </p:txBody>
      </p:sp>
      <p:sp>
        <p:nvSpPr>
          <p:cNvPr id="26" name="Text 22"/>
          <p:cNvSpPr/>
          <p:nvPr/>
        </p:nvSpPr>
        <p:spPr>
          <a:xfrm>
            <a:off x="7101371" y="2380804"/>
            <a:ext cx="1128713" cy="204787"/>
          </a:xfrm>
          <a:prstGeom prst="rect">
            <a:avLst/>
          </a:prstGeom>
          <a:ln/>
        </p:spPr>
        <p:txBody>
          <a:bodyPr wrap="square" lIns="0" tIns="0" rIns="0" bIns="0" rtlCol="0" anchor="t"/>
          <a:lstStyle/>
          <a:p>
            <a:pPr algn="r" indent="0" marL="0">
              <a:lnSpc>
                <a:spcPts val="1620"/>
              </a:lnSpc>
              <a:buNone/>
            </a:pPr>
            <a:r>
              <a:rPr lang="en-US" sz="1000" dirty="0">
                <a:solidFill>
                  <a:srgbClr val="FFFFFF"/>
                </a:solidFill>
                <a:latin typeface="Ubuntu" pitchFamily="34" charset="0"/>
                <a:ea typeface="Ubuntu" pitchFamily="34" charset="-122"/>
                <a:cs typeface="Ubuntu" pitchFamily="34" charset="-120"/>
              </a:rPr>
              <a:t>$1.9M</a:t>
            </a:r>
            <a:endParaRPr lang="en-US" sz="1000" dirty="0"/>
          </a:p>
        </p:txBody>
      </p:sp>
      <p:sp>
        <p:nvSpPr>
          <p:cNvPr id="27" name="Shape 23"/>
          <p:cNvSpPr/>
          <p:nvPr/>
        </p:nvSpPr>
        <p:spPr>
          <a:xfrm>
            <a:off x="731044" y="2666851"/>
            <a:ext cx="7681912" cy="366712"/>
          </a:xfrm>
          <a:prstGeom prst="rect">
            <a:avLst/>
          </a:prstGeom>
          <a:ln/>
        </p:spPr>
      </p:sp>
      <p:sp>
        <p:nvSpPr>
          <p:cNvPr id="28" name="Text 24"/>
          <p:cNvSpPr/>
          <p:nvPr/>
        </p:nvSpPr>
        <p:spPr>
          <a:xfrm>
            <a:off x="915330" y="2745432"/>
            <a:ext cx="3381375" cy="204787"/>
          </a:xfrm>
          <a:prstGeom prst="rect">
            <a:avLst/>
          </a:prstGeom>
          <a:ln/>
        </p:spPr>
        <p:txBody>
          <a:bodyPr wrap="square" lIns="0" tIns="0" rIns="0" bIns="0" rtlCol="0" anchor="t"/>
          <a:lstStyle/>
          <a:p>
            <a:pPr algn="l" indent="0" marL="0">
              <a:lnSpc>
                <a:spcPts val="1620"/>
              </a:lnSpc>
              <a:buNone/>
            </a:pPr>
            <a:r>
              <a:rPr lang="en-US" sz="1000" dirty="0">
                <a:solidFill>
                  <a:srgbClr val="FFFFFF"/>
                </a:solidFill>
                <a:latin typeface="Ubuntu" pitchFamily="34" charset="0"/>
                <a:ea typeface="Ubuntu" pitchFamily="34" charset="-122"/>
                <a:cs typeface="Ubuntu" pitchFamily="34" charset="-120"/>
              </a:rPr>
              <a:t>B2B / licensing revenue</a:t>
            </a:r>
            <a:endParaRPr lang="en-US" sz="1000" dirty="0"/>
          </a:p>
        </p:txBody>
      </p:sp>
      <p:sp>
        <p:nvSpPr>
          <p:cNvPr id="29" name="Text 25"/>
          <p:cNvSpPr/>
          <p:nvPr/>
        </p:nvSpPr>
        <p:spPr>
          <a:xfrm>
            <a:off x="4480099" y="2745432"/>
            <a:ext cx="1128713" cy="204787"/>
          </a:xfrm>
          <a:prstGeom prst="rect">
            <a:avLst/>
          </a:prstGeom>
          <a:ln/>
        </p:spPr>
        <p:txBody>
          <a:bodyPr wrap="square" lIns="0" tIns="0" rIns="0" bIns="0" rtlCol="0" anchor="t"/>
          <a:lstStyle/>
          <a:p>
            <a:pPr algn="r" indent="0" marL="0">
              <a:lnSpc>
                <a:spcPts val="1620"/>
              </a:lnSpc>
              <a:buNone/>
            </a:pPr>
            <a:r>
              <a:rPr lang="en-US" sz="1000" dirty="0">
                <a:solidFill>
                  <a:srgbClr val="FFFFFF"/>
                </a:solidFill>
                <a:latin typeface="Ubuntu" pitchFamily="34" charset="0"/>
                <a:ea typeface="Ubuntu" pitchFamily="34" charset="-122"/>
                <a:cs typeface="Ubuntu" pitchFamily="34" charset="-120"/>
              </a:rPr>
              <a:t>$0</a:t>
            </a:r>
            <a:endParaRPr lang="en-US" sz="1000" dirty="0"/>
          </a:p>
        </p:txBody>
      </p:sp>
      <p:sp>
        <p:nvSpPr>
          <p:cNvPr id="30" name="Text 26"/>
          <p:cNvSpPr/>
          <p:nvPr/>
        </p:nvSpPr>
        <p:spPr>
          <a:xfrm>
            <a:off x="5790754" y="2745432"/>
            <a:ext cx="1128713" cy="204787"/>
          </a:xfrm>
          <a:prstGeom prst="rect">
            <a:avLst/>
          </a:prstGeom>
          <a:ln/>
        </p:spPr>
        <p:txBody>
          <a:bodyPr wrap="square" lIns="0" tIns="0" rIns="0" bIns="0" rtlCol="0" anchor="t"/>
          <a:lstStyle/>
          <a:p>
            <a:pPr algn="r" indent="0" marL="0">
              <a:lnSpc>
                <a:spcPts val="1620"/>
              </a:lnSpc>
              <a:buNone/>
            </a:pPr>
            <a:r>
              <a:rPr lang="en-US" sz="1000" dirty="0">
                <a:solidFill>
                  <a:srgbClr val="FFFFFF"/>
                </a:solidFill>
                <a:latin typeface="Ubuntu" pitchFamily="34" charset="0"/>
                <a:ea typeface="Ubuntu" pitchFamily="34" charset="-122"/>
                <a:cs typeface="Ubuntu" pitchFamily="34" charset="-120"/>
              </a:rPr>
              <a:t>$280K</a:t>
            </a:r>
            <a:endParaRPr lang="en-US" sz="1000" dirty="0"/>
          </a:p>
        </p:txBody>
      </p:sp>
      <p:sp>
        <p:nvSpPr>
          <p:cNvPr id="31" name="Text 27"/>
          <p:cNvSpPr/>
          <p:nvPr/>
        </p:nvSpPr>
        <p:spPr>
          <a:xfrm>
            <a:off x="7101371" y="2745432"/>
            <a:ext cx="1128713" cy="204787"/>
          </a:xfrm>
          <a:prstGeom prst="rect">
            <a:avLst/>
          </a:prstGeom>
          <a:ln/>
        </p:spPr>
        <p:txBody>
          <a:bodyPr wrap="square" lIns="0" tIns="0" rIns="0" bIns="0" rtlCol="0" anchor="t"/>
          <a:lstStyle/>
          <a:p>
            <a:pPr algn="r" indent="0" marL="0">
              <a:lnSpc>
                <a:spcPts val="1620"/>
              </a:lnSpc>
              <a:buNone/>
            </a:pPr>
            <a:r>
              <a:rPr lang="en-US" sz="1000" dirty="0">
                <a:solidFill>
                  <a:srgbClr val="FFFFFF"/>
                </a:solidFill>
                <a:latin typeface="Ubuntu" pitchFamily="34" charset="0"/>
                <a:ea typeface="Ubuntu" pitchFamily="34" charset="-122"/>
                <a:cs typeface="Ubuntu" pitchFamily="34" charset="-120"/>
              </a:rPr>
              <a:t>$1.1M</a:t>
            </a:r>
            <a:endParaRPr lang="en-US" sz="1000" dirty="0"/>
          </a:p>
        </p:txBody>
      </p:sp>
      <p:sp>
        <p:nvSpPr>
          <p:cNvPr id="32" name="Shape 28"/>
          <p:cNvSpPr/>
          <p:nvPr/>
        </p:nvSpPr>
        <p:spPr>
          <a:xfrm>
            <a:off x="731044" y="3031480"/>
            <a:ext cx="7681912" cy="366712"/>
          </a:xfrm>
          <a:prstGeom prst="rect">
            <a:avLst/>
          </a:prstGeom>
          <a:solidFill>
            <a:srgbClr val="FF4199">
              <a:alpha val="4000"/>
            </a:srgbClr>
          </a:solidFill>
          <a:ln/>
        </p:spPr>
      </p:sp>
      <p:sp>
        <p:nvSpPr>
          <p:cNvPr id="33" name="Text 29"/>
          <p:cNvSpPr/>
          <p:nvPr/>
        </p:nvSpPr>
        <p:spPr>
          <a:xfrm>
            <a:off x="915330" y="3110061"/>
            <a:ext cx="3381375" cy="204787"/>
          </a:xfrm>
          <a:prstGeom prst="rect">
            <a:avLst/>
          </a:prstGeom>
          <a:ln/>
        </p:spPr>
        <p:txBody>
          <a:bodyPr wrap="square" lIns="0" tIns="0" rIns="0" bIns="0" rtlCol="0" anchor="t"/>
          <a:lstStyle/>
          <a:p>
            <a:pPr algn="l" indent="0" marL="0">
              <a:lnSpc>
                <a:spcPts val="1620"/>
              </a:lnSpc>
              <a:buNone/>
            </a:pPr>
            <a:r>
              <a:rPr lang="en-US" sz="1000" b="1" dirty="0">
                <a:solidFill>
                  <a:srgbClr val="FFFFFF"/>
                </a:solidFill>
                <a:latin typeface="Ubuntu" pitchFamily="34" charset="0"/>
                <a:ea typeface="Ubuntu" pitchFamily="34" charset="-122"/>
                <a:cs typeface="Ubuntu" pitchFamily="34" charset="-120"/>
              </a:rPr>
              <a:t>Total revenue</a:t>
            </a:r>
            <a:endParaRPr lang="en-US" sz="1000" dirty="0"/>
          </a:p>
        </p:txBody>
      </p:sp>
      <p:sp>
        <p:nvSpPr>
          <p:cNvPr id="34" name="Text 30"/>
          <p:cNvSpPr/>
          <p:nvPr/>
        </p:nvSpPr>
        <p:spPr>
          <a:xfrm>
            <a:off x="4480099" y="3110061"/>
            <a:ext cx="1128713" cy="204787"/>
          </a:xfrm>
          <a:prstGeom prst="rect">
            <a:avLst/>
          </a:prstGeom>
          <a:ln/>
        </p:spPr>
        <p:txBody>
          <a:bodyPr wrap="square" lIns="0" tIns="0" rIns="0" bIns="0" rtlCol="0" anchor="t"/>
          <a:lstStyle/>
          <a:p>
            <a:pPr algn="r" indent="0" marL="0">
              <a:lnSpc>
                <a:spcPts val="1620"/>
              </a:lnSpc>
              <a:buNone/>
            </a:pPr>
            <a:r>
              <a:rPr lang="en-US" sz="1000" b="1" dirty="0">
                <a:solidFill>
                  <a:srgbClr val="FF4199"/>
                </a:solidFill>
                <a:latin typeface="Ubuntu" pitchFamily="34" charset="0"/>
                <a:ea typeface="Ubuntu" pitchFamily="34" charset="-122"/>
                <a:cs typeface="Ubuntu" pitchFamily="34" charset="-120"/>
              </a:rPr>
              <a:t>$820K</a:t>
            </a:r>
            <a:endParaRPr lang="en-US" sz="1000" dirty="0"/>
          </a:p>
        </p:txBody>
      </p:sp>
      <p:sp>
        <p:nvSpPr>
          <p:cNvPr id="35" name="Text 31"/>
          <p:cNvSpPr/>
          <p:nvPr/>
        </p:nvSpPr>
        <p:spPr>
          <a:xfrm>
            <a:off x="5790754" y="3110061"/>
            <a:ext cx="1128713" cy="204787"/>
          </a:xfrm>
          <a:prstGeom prst="rect">
            <a:avLst/>
          </a:prstGeom>
          <a:ln/>
        </p:spPr>
        <p:txBody>
          <a:bodyPr wrap="square" lIns="0" tIns="0" rIns="0" bIns="0" rtlCol="0" anchor="t"/>
          <a:lstStyle/>
          <a:p>
            <a:pPr algn="r" indent="0" marL="0">
              <a:lnSpc>
                <a:spcPts val="1620"/>
              </a:lnSpc>
              <a:buNone/>
            </a:pPr>
            <a:r>
              <a:rPr lang="en-US" sz="1000" b="1" dirty="0">
                <a:solidFill>
                  <a:srgbClr val="FF4199"/>
                </a:solidFill>
                <a:latin typeface="Ubuntu" pitchFamily="34" charset="0"/>
                <a:ea typeface="Ubuntu" pitchFamily="34" charset="-122"/>
                <a:cs typeface="Ubuntu" pitchFamily="34" charset="-120"/>
              </a:rPr>
              <a:t>$4.3M</a:t>
            </a:r>
            <a:endParaRPr lang="en-US" sz="1000" dirty="0"/>
          </a:p>
        </p:txBody>
      </p:sp>
      <p:sp>
        <p:nvSpPr>
          <p:cNvPr id="36" name="Text 32"/>
          <p:cNvSpPr/>
          <p:nvPr/>
        </p:nvSpPr>
        <p:spPr>
          <a:xfrm>
            <a:off x="7101371" y="3110061"/>
            <a:ext cx="1128713" cy="204787"/>
          </a:xfrm>
          <a:prstGeom prst="rect">
            <a:avLst/>
          </a:prstGeom>
          <a:ln/>
        </p:spPr>
        <p:txBody>
          <a:bodyPr wrap="square" lIns="0" tIns="0" rIns="0" bIns="0" rtlCol="0" anchor="t"/>
          <a:lstStyle/>
          <a:p>
            <a:pPr algn="r" indent="0" marL="0">
              <a:lnSpc>
                <a:spcPts val="1620"/>
              </a:lnSpc>
              <a:buNone/>
            </a:pPr>
            <a:r>
              <a:rPr lang="en-US" sz="1000" b="1" dirty="0">
                <a:solidFill>
                  <a:srgbClr val="FF4199"/>
                </a:solidFill>
                <a:latin typeface="Ubuntu" pitchFamily="34" charset="0"/>
                <a:ea typeface="Ubuntu" pitchFamily="34" charset="-122"/>
                <a:cs typeface="Ubuntu" pitchFamily="34" charset="-120"/>
              </a:rPr>
              <a:t>$11.2M</a:t>
            </a:r>
            <a:endParaRPr lang="en-US" sz="1000" dirty="0"/>
          </a:p>
        </p:txBody>
      </p:sp>
      <p:sp>
        <p:nvSpPr>
          <p:cNvPr id="37" name="Shape 33"/>
          <p:cNvSpPr/>
          <p:nvPr/>
        </p:nvSpPr>
        <p:spPr>
          <a:xfrm>
            <a:off x="731044" y="3396109"/>
            <a:ext cx="7681912" cy="366712"/>
          </a:xfrm>
          <a:prstGeom prst="rect">
            <a:avLst/>
          </a:prstGeom>
          <a:ln/>
        </p:spPr>
      </p:sp>
      <p:sp>
        <p:nvSpPr>
          <p:cNvPr id="38" name="Text 34"/>
          <p:cNvSpPr/>
          <p:nvPr/>
        </p:nvSpPr>
        <p:spPr>
          <a:xfrm>
            <a:off x="915330" y="3474690"/>
            <a:ext cx="3381375" cy="204787"/>
          </a:xfrm>
          <a:prstGeom prst="rect">
            <a:avLst/>
          </a:prstGeom>
          <a:ln/>
        </p:spPr>
        <p:txBody>
          <a:bodyPr wrap="square" lIns="0" tIns="0" rIns="0" bIns="0" rtlCol="0" anchor="t"/>
          <a:lstStyle/>
          <a:p>
            <a:pPr algn="l" indent="0" marL="0">
              <a:lnSpc>
                <a:spcPts val="1620"/>
              </a:lnSpc>
              <a:buNone/>
            </a:pPr>
            <a:r>
              <a:rPr lang="en-US" sz="1000" dirty="0">
                <a:solidFill>
                  <a:srgbClr val="FFFFFF"/>
                </a:solidFill>
                <a:latin typeface="Ubuntu" pitchFamily="34" charset="0"/>
                <a:ea typeface="Ubuntu" pitchFamily="34" charset="-122"/>
                <a:cs typeface="Ubuntu" pitchFamily="34" charset="-120"/>
              </a:rPr>
              <a:t>Gross margin</a:t>
            </a:r>
            <a:endParaRPr lang="en-US" sz="1000" dirty="0"/>
          </a:p>
        </p:txBody>
      </p:sp>
      <p:sp>
        <p:nvSpPr>
          <p:cNvPr id="39" name="Text 35"/>
          <p:cNvSpPr/>
          <p:nvPr/>
        </p:nvSpPr>
        <p:spPr>
          <a:xfrm>
            <a:off x="4480099" y="3474690"/>
            <a:ext cx="1128713" cy="204787"/>
          </a:xfrm>
          <a:prstGeom prst="rect">
            <a:avLst/>
          </a:prstGeom>
          <a:ln/>
        </p:spPr>
        <p:txBody>
          <a:bodyPr wrap="square" lIns="0" tIns="0" rIns="0" bIns="0" rtlCol="0" anchor="t"/>
          <a:lstStyle/>
          <a:p>
            <a:pPr algn="r" indent="0" marL="0">
              <a:lnSpc>
                <a:spcPts val="1620"/>
              </a:lnSpc>
              <a:buNone/>
            </a:pPr>
            <a:r>
              <a:rPr lang="en-US" sz="1000" dirty="0">
                <a:solidFill>
                  <a:srgbClr val="FFFFFF"/>
                </a:solidFill>
                <a:latin typeface="Ubuntu" pitchFamily="34" charset="0"/>
                <a:ea typeface="Ubuntu" pitchFamily="34" charset="-122"/>
                <a:cs typeface="Ubuntu" pitchFamily="34" charset="-120"/>
              </a:rPr>
              <a:t>64%</a:t>
            </a:r>
            <a:endParaRPr lang="en-US" sz="1000" dirty="0"/>
          </a:p>
        </p:txBody>
      </p:sp>
      <p:sp>
        <p:nvSpPr>
          <p:cNvPr id="40" name="Text 36"/>
          <p:cNvSpPr/>
          <p:nvPr/>
        </p:nvSpPr>
        <p:spPr>
          <a:xfrm>
            <a:off x="5790754" y="3474690"/>
            <a:ext cx="1128713" cy="204787"/>
          </a:xfrm>
          <a:prstGeom prst="rect">
            <a:avLst/>
          </a:prstGeom>
          <a:ln/>
        </p:spPr>
        <p:txBody>
          <a:bodyPr wrap="square" lIns="0" tIns="0" rIns="0" bIns="0" rtlCol="0" anchor="t"/>
          <a:lstStyle/>
          <a:p>
            <a:pPr algn="r" indent="0" marL="0">
              <a:lnSpc>
                <a:spcPts val="1620"/>
              </a:lnSpc>
              <a:buNone/>
            </a:pPr>
            <a:r>
              <a:rPr lang="en-US" sz="1000" dirty="0">
                <a:solidFill>
                  <a:srgbClr val="FFFFFF"/>
                </a:solidFill>
                <a:latin typeface="Ubuntu" pitchFamily="34" charset="0"/>
                <a:ea typeface="Ubuntu" pitchFamily="34" charset="-122"/>
                <a:cs typeface="Ubuntu" pitchFamily="34" charset="-120"/>
              </a:rPr>
              <a:t>70%</a:t>
            </a:r>
            <a:endParaRPr lang="en-US" sz="1000" dirty="0"/>
          </a:p>
        </p:txBody>
      </p:sp>
      <p:sp>
        <p:nvSpPr>
          <p:cNvPr id="41" name="Text 37"/>
          <p:cNvSpPr/>
          <p:nvPr/>
        </p:nvSpPr>
        <p:spPr>
          <a:xfrm>
            <a:off x="7101371" y="3474690"/>
            <a:ext cx="1128713" cy="204787"/>
          </a:xfrm>
          <a:prstGeom prst="rect">
            <a:avLst/>
          </a:prstGeom>
          <a:ln/>
        </p:spPr>
        <p:txBody>
          <a:bodyPr wrap="square" lIns="0" tIns="0" rIns="0" bIns="0" rtlCol="0" anchor="t"/>
          <a:lstStyle/>
          <a:p>
            <a:pPr algn="r" indent="0" marL="0">
              <a:lnSpc>
                <a:spcPts val="1620"/>
              </a:lnSpc>
              <a:buNone/>
            </a:pPr>
            <a:r>
              <a:rPr lang="en-US" sz="1000" dirty="0">
                <a:solidFill>
                  <a:srgbClr val="FFFFFF"/>
                </a:solidFill>
                <a:latin typeface="Ubuntu" pitchFamily="34" charset="0"/>
                <a:ea typeface="Ubuntu" pitchFamily="34" charset="-122"/>
                <a:cs typeface="Ubuntu" pitchFamily="34" charset="-120"/>
              </a:rPr>
              <a:t>74%</a:t>
            </a:r>
            <a:endParaRPr lang="en-US" sz="1000" dirty="0"/>
          </a:p>
        </p:txBody>
      </p:sp>
      <p:sp>
        <p:nvSpPr>
          <p:cNvPr id="42" name="Shape 38"/>
          <p:cNvSpPr/>
          <p:nvPr/>
        </p:nvSpPr>
        <p:spPr>
          <a:xfrm>
            <a:off x="731044" y="3760738"/>
            <a:ext cx="7681912" cy="366712"/>
          </a:xfrm>
          <a:prstGeom prst="rect">
            <a:avLst/>
          </a:prstGeom>
          <a:solidFill>
            <a:srgbClr val="FFFFFF">
              <a:alpha val="1000"/>
            </a:srgbClr>
          </a:solidFill>
          <a:ln/>
        </p:spPr>
      </p:sp>
      <p:sp>
        <p:nvSpPr>
          <p:cNvPr id="43" name="Text 39"/>
          <p:cNvSpPr/>
          <p:nvPr/>
        </p:nvSpPr>
        <p:spPr>
          <a:xfrm>
            <a:off x="915330" y="3839319"/>
            <a:ext cx="3381375" cy="204787"/>
          </a:xfrm>
          <a:prstGeom prst="rect">
            <a:avLst/>
          </a:prstGeom>
          <a:ln/>
        </p:spPr>
        <p:txBody>
          <a:bodyPr wrap="square" lIns="0" tIns="0" rIns="0" bIns="0" rtlCol="0" anchor="t"/>
          <a:lstStyle/>
          <a:p>
            <a:pPr algn="l" indent="0" marL="0">
              <a:lnSpc>
                <a:spcPts val="1620"/>
              </a:lnSpc>
              <a:buNone/>
            </a:pPr>
            <a:r>
              <a:rPr lang="en-US" sz="1000" dirty="0">
                <a:solidFill>
                  <a:srgbClr val="FFFFFF"/>
                </a:solidFill>
                <a:latin typeface="Ubuntu" pitchFamily="34" charset="0"/>
                <a:ea typeface="Ubuntu" pitchFamily="34" charset="-122"/>
                <a:cs typeface="Ubuntu" pitchFamily="34" charset="-120"/>
              </a:rPr>
              <a:t>EBITDA</a:t>
            </a:r>
            <a:endParaRPr lang="en-US" sz="1000" dirty="0"/>
          </a:p>
        </p:txBody>
      </p:sp>
      <p:sp>
        <p:nvSpPr>
          <p:cNvPr id="44" name="Text 40"/>
          <p:cNvSpPr/>
          <p:nvPr/>
        </p:nvSpPr>
        <p:spPr>
          <a:xfrm>
            <a:off x="4480099" y="3839319"/>
            <a:ext cx="1128713" cy="204787"/>
          </a:xfrm>
          <a:prstGeom prst="rect">
            <a:avLst/>
          </a:prstGeom>
          <a:ln/>
        </p:spPr>
        <p:txBody>
          <a:bodyPr wrap="square" lIns="0" tIns="0" rIns="0" bIns="0" rtlCol="0" anchor="t"/>
          <a:lstStyle/>
          <a:p>
            <a:pPr algn="r" indent="0" marL="0">
              <a:lnSpc>
                <a:spcPts val="1620"/>
              </a:lnSpc>
              <a:buNone/>
            </a:pPr>
            <a:r>
              <a:rPr lang="en-US" sz="1000" dirty="0">
                <a:solidFill>
                  <a:srgbClr val="FFFFFF"/>
                </a:solidFill>
                <a:latin typeface="Ubuntu" pitchFamily="34" charset="0"/>
                <a:ea typeface="Ubuntu" pitchFamily="34" charset="-122"/>
                <a:cs typeface="Ubuntu" pitchFamily="34" charset="-120"/>
              </a:rPr>
              <a:t>($1.8M)</a:t>
            </a:r>
            <a:endParaRPr lang="en-US" sz="1000" dirty="0"/>
          </a:p>
        </p:txBody>
      </p:sp>
      <p:sp>
        <p:nvSpPr>
          <p:cNvPr id="45" name="Text 41"/>
          <p:cNvSpPr/>
          <p:nvPr/>
        </p:nvSpPr>
        <p:spPr>
          <a:xfrm>
            <a:off x="5790754" y="3839319"/>
            <a:ext cx="1128713" cy="204787"/>
          </a:xfrm>
          <a:prstGeom prst="rect">
            <a:avLst/>
          </a:prstGeom>
          <a:ln/>
        </p:spPr>
        <p:txBody>
          <a:bodyPr wrap="square" lIns="0" tIns="0" rIns="0" bIns="0" rtlCol="0" anchor="t"/>
          <a:lstStyle/>
          <a:p>
            <a:pPr algn="r" indent="0" marL="0">
              <a:lnSpc>
                <a:spcPts val="1620"/>
              </a:lnSpc>
              <a:buNone/>
            </a:pPr>
            <a:r>
              <a:rPr lang="en-US" sz="1000" dirty="0">
                <a:solidFill>
                  <a:srgbClr val="FFFFFF"/>
                </a:solidFill>
                <a:latin typeface="Ubuntu" pitchFamily="34" charset="0"/>
                <a:ea typeface="Ubuntu" pitchFamily="34" charset="-122"/>
                <a:cs typeface="Ubuntu" pitchFamily="34" charset="-120"/>
              </a:rPr>
              <a:t>($0.4M)</a:t>
            </a:r>
            <a:endParaRPr lang="en-US" sz="1000" dirty="0"/>
          </a:p>
        </p:txBody>
      </p:sp>
      <p:sp>
        <p:nvSpPr>
          <p:cNvPr id="46" name="Text 42"/>
          <p:cNvSpPr/>
          <p:nvPr/>
        </p:nvSpPr>
        <p:spPr>
          <a:xfrm>
            <a:off x="7101371" y="3839319"/>
            <a:ext cx="1128713" cy="204787"/>
          </a:xfrm>
          <a:prstGeom prst="rect">
            <a:avLst/>
          </a:prstGeom>
          <a:ln/>
        </p:spPr>
        <p:txBody>
          <a:bodyPr wrap="square" lIns="0" tIns="0" rIns="0" bIns="0" rtlCol="0" anchor="t"/>
          <a:lstStyle/>
          <a:p>
            <a:pPr algn="r" indent="0" marL="0">
              <a:lnSpc>
                <a:spcPts val="1620"/>
              </a:lnSpc>
              <a:buNone/>
            </a:pPr>
            <a:r>
              <a:rPr lang="en-US" sz="1000" dirty="0">
                <a:solidFill>
                  <a:srgbClr val="FFFFFF"/>
                </a:solidFill>
                <a:latin typeface="Ubuntu" pitchFamily="34" charset="0"/>
                <a:ea typeface="Ubuntu" pitchFamily="34" charset="-122"/>
                <a:cs typeface="Ubuntu" pitchFamily="34" charset="-120"/>
              </a:rPr>
              <a:t>$2.1M</a:t>
            </a:r>
            <a:endParaRPr lang="en-US" sz="1000" dirty="0"/>
          </a:p>
        </p:txBody>
      </p:sp>
      <p:sp>
        <p:nvSpPr>
          <p:cNvPr id="47" name="Shape 43"/>
          <p:cNvSpPr/>
          <p:nvPr/>
        </p:nvSpPr>
        <p:spPr>
          <a:xfrm>
            <a:off x="731044" y="4125367"/>
            <a:ext cx="7681912" cy="366712"/>
          </a:xfrm>
          <a:prstGeom prst="rect">
            <a:avLst/>
          </a:prstGeom>
          <a:ln/>
        </p:spPr>
      </p:sp>
      <p:sp>
        <p:nvSpPr>
          <p:cNvPr id="48" name="Text 44"/>
          <p:cNvSpPr/>
          <p:nvPr/>
        </p:nvSpPr>
        <p:spPr>
          <a:xfrm>
            <a:off x="915330" y="4203948"/>
            <a:ext cx="3381375" cy="204787"/>
          </a:xfrm>
          <a:prstGeom prst="rect">
            <a:avLst/>
          </a:prstGeom>
          <a:ln/>
        </p:spPr>
        <p:txBody>
          <a:bodyPr wrap="square" lIns="0" tIns="0" rIns="0" bIns="0" rtlCol="0" anchor="t"/>
          <a:lstStyle/>
          <a:p>
            <a:pPr algn="l" indent="0" marL="0">
              <a:lnSpc>
                <a:spcPts val="1620"/>
              </a:lnSpc>
              <a:buNone/>
            </a:pPr>
            <a:r>
              <a:rPr lang="en-US" sz="1000" dirty="0">
                <a:solidFill>
                  <a:srgbClr val="FFFFFF"/>
                </a:solidFill>
                <a:latin typeface="Ubuntu" pitchFamily="34" charset="0"/>
                <a:ea typeface="Ubuntu" pitchFamily="34" charset="-122"/>
                <a:cs typeface="Ubuntu" pitchFamily="34" charset="-120"/>
              </a:rPr>
              <a:t>Free cash flow break-even</a:t>
            </a:r>
            <a:endParaRPr lang="en-US" sz="1000" dirty="0"/>
          </a:p>
        </p:txBody>
      </p:sp>
      <p:sp>
        <p:nvSpPr>
          <p:cNvPr id="49" name="Text 45"/>
          <p:cNvSpPr/>
          <p:nvPr/>
        </p:nvSpPr>
        <p:spPr>
          <a:xfrm>
            <a:off x="4480099" y="4203948"/>
            <a:ext cx="1128713" cy="204787"/>
          </a:xfrm>
          <a:prstGeom prst="rect">
            <a:avLst/>
          </a:prstGeom>
          <a:ln/>
        </p:spPr>
        <p:txBody>
          <a:bodyPr wrap="square" lIns="0" tIns="0" rIns="0" bIns="0" rtlCol="0" anchor="t"/>
          <a:lstStyle/>
          <a:p>
            <a:pPr algn="r" indent="0" marL="0">
              <a:lnSpc>
                <a:spcPts val="1620"/>
              </a:lnSpc>
              <a:buNone/>
            </a:pPr>
            <a:r>
              <a:rPr lang="en-US" sz="1000" dirty="0">
                <a:solidFill>
                  <a:srgbClr val="FFFFFF"/>
                </a:solidFill>
                <a:latin typeface="Ubuntu" pitchFamily="34" charset="0"/>
                <a:ea typeface="Ubuntu" pitchFamily="34" charset="-122"/>
                <a:cs typeface="Ubuntu" pitchFamily="34" charset="-120"/>
              </a:rPr>
              <a:t>—</a:t>
            </a:r>
            <a:endParaRPr lang="en-US" sz="1000" dirty="0"/>
          </a:p>
        </p:txBody>
      </p:sp>
      <p:sp>
        <p:nvSpPr>
          <p:cNvPr id="50" name="Text 46"/>
          <p:cNvSpPr/>
          <p:nvPr/>
        </p:nvSpPr>
        <p:spPr>
          <a:xfrm>
            <a:off x="5790754" y="4203948"/>
            <a:ext cx="1128713" cy="204787"/>
          </a:xfrm>
          <a:prstGeom prst="rect">
            <a:avLst/>
          </a:prstGeom>
          <a:ln/>
        </p:spPr>
        <p:txBody>
          <a:bodyPr wrap="square" lIns="0" tIns="0" rIns="0" bIns="0" rtlCol="0" anchor="t"/>
          <a:lstStyle/>
          <a:p>
            <a:pPr algn="r" indent="0" marL="0">
              <a:lnSpc>
                <a:spcPts val="1620"/>
              </a:lnSpc>
              <a:buNone/>
            </a:pPr>
            <a:r>
              <a:rPr lang="en-US" sz="1000" dirty="0">
                <a:solidFill>
                  <a:srgbClr val="FFFFFF"/>
                </a:solidFill>
                <a:latin typeface="Ubuntu" pitchFamily="34" charset="0"/>
                <a:ea typeface="Ubuntu" pitchFamily="34" charset="-122"/>
                <a:cs typeface="Ubuntu" pitchFamily="34" charset="-120"/>
              </a:rPr>
              <a:t>—</a:t>
            </a:r>
            <a:endParaRPr lang="en-US" sz="1000" dirty="0"/>
          </a:p>
        </p:txBody>
      </p:sp>
      <p:sp>
        <p:nvSpPr>
          <p:cNvPr id="51" name="Text 47"/>
          <p:cNvSpPr/>
          <p:nvPr/>
        </p:nvSpPr>
        <p:spPr>
          <a:xfrm>
            <a:off x="7101371" y="4203948"/>
            <a:ext cx="1128713" cy="204787"/>
          </a:xfrm>
          <a:prstGeom prst="rect">
            <a:avLst/>
          </a:prstGeom>
          <a:ln/>
        </p:spPr>
        <p:txBody>
          <a:bodyPr wrap="square" lIns="0" tIns="0" rIns="0" bIns="0" rtlCol="0" anchor="t"/>
          <a:lstStyle/>
          <a:p>
            <a:pPr algn="r" indent="0" marL="0">
              <a:lnSpc>
                <a:spcPts val="1620"/>
              </a:lnSpc>
              <a:buNone/>
            </a:pPr>
            <a:r>
              <a:rPr lang="en-US" sz="1000" dirty="0">
                <a:solidFill>
                  <a:srgbClr val="FFFFFF"/>
                </a:solidFill>
                <a:latin typeface="Ubuntu" pitchFamily="34" charset="0"/>
                <a:ea typeface="Ubuntu" pitchFamily="34" charset="-122"/>
                <a:cs typeface="Ubuntu" pitchFamily="34" charset="-120"/>
              </a:rPr>
              <a:t>Q2 2028</a:t>
            </a:r>
            <a:endParaRPr lang="en-US" sz="1000" dirty="0"/>
          </a:p>
        </p:txBody>
      </p:sp>
      <p:sp>
        <p:nvSpPr>
          <p:cNvPr id="52" name="Text 48"/>
          <p:cNvSpPr/>
          <p:nvPr/>
        </p:nvSpPr>
        <p:spPr>
          <a:xfrm>
            <a:off x="731044" y="4644256"/>
            <a:ext cx="7681912" cy="166688"/>
          </a:xfrm>
          <a:prstGeom prst="rect">
            <a:avLst/>
          </a:prstGeom>
          <a:ln/>
        </p:spPr>
        <p:txBody>
          <a:bodyPr wrap="square" lIns="0" tIns="0" rIns="0" bIns="0" rtlCol="0" anchor="t"/>
          <a:lstStyle/>
          <a:p>
            <a:pPr algn="r" indent="0" marL="0">
              <a:lnSpc>
                <a:spcPts val="1296"/>
              </a:lnSpc>
              <a:spcBef>
                <a:spcPts val="1215"/>
              </a:spcBef>
              <a:buNone/>
            </a:pPr>
            <a:r>
              <a:rPr lang="en-US" sz="800" dirty="0">
                <a:solidFill>
                  <a:srgbClr val="FFFFFF"/>
                </a:solidFill>
                <a:latin typeface="Ubuntu" pitchFamily="34" charset="0"/>
                <a:ea typeface="Ubuntu" pitchFamily="34" charset="-122"/>
                <a:cs typeface="Ubuntu" pitchFamily="34" charset="-120"/>
              </a:rPr>
              <a:t>Projections are forward-looking estimates. Not financial advice. See full model in data room.</a:t>
            </a:r>
            <a:endParaRPr lang="en-US" sz="800" dirty="0"/>
          </a:p>
        </p:txBody>
      </p:sp>
      <p:sp>
        <p:nvSpPr>
          <p:cNvPr id="53" name="Text 49"/>
          <p:cNvSpPr/>
          <p:nvPr/>
        </p:nvSpPr>
        <p:spPr>
          <a:xfrm>
            <a:off x="0" y="4781848"/>
            <a:ext cx="9144000" cy="361950"/>
          </a:xfrm>
          <a:prstGeom prst="rect">
            <a:avLst/>
          </a:prstGeom>
          <a:ln/>
        </p:spPr>
        <p:txBody>
          <a:bodyPr wrap="square" lIns="0" tIns="0" rIns="0" bIns="0" rtlCol="0" anchor="t"/>
          <a:lstStyle/>
          <a:p>
            <a:pPr algn="l" indent="0" marL="0">
              <a:lnSpc>
                <a:spcPts val="1188"/>
              </a:lnSpc>
              <a:buNone/>
            </a:pPr>
            <a:r>
              <a:rPr lang="en-US" sz="700" dirty="0">
                <a:solidFill>
                  <a:srgbClr val="FFFFFF"/>
                </a:solidFill>
                <a:latin typeface="Ubuntu" pitchFamily="34" charset="0"/>
                <a:ea typeface="Ubuntu" pitchFamily="34" charset="-122"/>
                <a:cs typeface="Ubuntu" pitchFamily="34" charset="-120"/>
              </a:rPr>
              <a:t>RADIO MEGA</a:t>
            </a:r>
            <a:pPr algn="l" indent="0" marL="0">
              <a:lnSpc>
                <a:spcPts val="1188"/>
              </a:lnSpc>
              <a:buNone/>
            </a:pPr>
            <a:r>
              <a:rPr lang="en-US" sz="700" dirty="0">
                <a:solidFill>
                  <a:srgbClr val="FFFFFF"/>
                </a:solidFill>
                <a:latin typeface="Ubuntu" pitchFamily="34" charset="0"/>
                <a:ea typeface="Ubuntu" pitchFamily="34" charset="-122"/>
                <a:cs typeface="Ubuntu" pitchFamily="34" charset="-120"/>
              </a:rPr>
              <a:t>17 / 18</a:t>
            </a:r>
            <a:endParaRPr lang="en-US" sz="700" dirty="0"/>
          </a:p>
        </p:txBody>
      </p:sp>
      <p:pic>
        <p:nvPicPr>
          <p:cNvPr id="54"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31044" y="1208112"/>
            <a:ext cx="7681912" cy="314325"/>
          </a:xfrm>
          <a:prstGeom prst="rect">
            <a:avLst/>
          </a:prstGeom>
        </p:spPr>
      </p:pic>
      <p:pic>
        <p:nvPicPr>
          <p:cNvPr id="55"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731044" y="1572964"/>
            <a:ext cx="7681912" cy="366712"/>
          </a:xfrm>
          <a:prstGeom prst="rect">
            <a:avLst/>
          </a:prstGeom>
        </p:spPr>
      </p:pic>
      <p:pic>
        <p:nvPicPr>
          <p:cNvPr id="56" name="Image 4" descr="preencoded.png">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731044" y="1937593"/>
            <a:ext cx="7681912" cy="366712"/>
          </a:xfrm>
          <a:prstGeom prst="rect">
            <a:avLst/>
          </a:prstGeom>
        </p:spPr>
      </p:pic>
      <p:pic>
        <p:nvPicPr>
          <p:cNvPr id="57" name="Image 5" descr="preencoded.png">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731044" y="2302222"/>
            <a:ext cx="7681912" cy="366712"/>
          </a:xfrm>
          <a:prstGeom prst="rect">
            <a:avLst/>
          </a:prstGeom>
        </p:spPr>
      </p:pic>
      <p:pic>
        <p:nvPicPr>
          <p:cNvPr id="58" name="Image 6" descr="preencoded.png">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731044" y="2666851"/>
            <a:ext cx="7681912" cy="366712"/>
          </a:xfrm>
          <a:prstGeom prst="rect">
            <a:avLst/>
          </a:prstGeom>
        </p:spPr>
      </p:pic>
      <p:pic>
        <p:nvPicPr>
          <p:cNvPr id="59" name="Image 7" descr="preencoded.png">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731044" y="3031480"/>
            <a:ext cx="7681912" cy="366712"/>
          </a:xfrm>
          <a:prstGeom prst="rect">
            <a:avLst/>
          </a:prstGeom>
        </p:spPr>
      </p:pic>
      <p:pic>
        <p:nvPicPr>
          <p:cNvPr id="60" name="Image 8" descr="preencoded.png">    </p:cNvPr>
          <p:cNvPicPr>
            <a:picLocks noChangeAspect="1"/>
          </p:cNvPicPr>
          <p:nvPr/>
        </p:nvPicPr>
        <p:blipFill>
          <a:blip r:embed="rId17">
            <a:extLst>
              <a:ext uri="{96DAC541-7B7A-43D3-8B79-37D633B846F1}">
                <asvg:svgBlip xmlns:asvg="http://schemas.microsoft.com/office/drawing/2016/SVG/main" r:embed="rId18"/>
              </a:ext>
            </a:extLst>
          </a:blip>
          <a:stretch>
            <a:fillRect/>
          </a:stretch>
        </p:blipFill>
        <p:spPr>
          <a:xfrm>
            <a:off x="731044" y="3396109"/>
            <a:ext cx="7681912" cy="366712"/>
          </a:xfrm>
          <a:prstGeom prst="rect">
            <a:avLst/>
          </a:prstGeom>
        </p:spPr>
      </p:pic>
      <p:pic>
        <p:nvPicPr>
          <p:cNvPr id="61" name="Image 9" descr="preencoded.png">    </p:cNvPr>
          <p:cNvPicPr>
            <a:picLocks noChangeAspect="1"/>
          </p:cNvPicPr>
          <p:nvPr/>
        </p:nvPicPr>
        <p:blipFill>
          <a:blip r:embed="rId19">
            <a:extLst>
              <a:ext uri="{96DAC541-7B7A-43D3-8B79-37D633B846F1}">
                <asvg:svgBlip xmlns:asvg="http://schemas.microsoft.com/office/drawing/2016/SVG/main" r:embed="rId20"/>
              </a:ext>
            </a:extLst>
          </a:blip>
          <a:stretch>
            <a:fillRect/>
          </a:stretch>
        </p:blipFill>
        <p:spPr>
          <a:xfrm>
            <a:off x="731044" y="3760738"/>
            <a:ext cx="7681912" cy="366712"/>
          </a:xfrm>
          <a:prstGeom prst="rect">
            <a:avLst/>
          </a:prstGeom>
        </p:spPr>
      </p:pic>
      <p:pic>
        <p:nvPicPr>
          <p:cNvPr id="62" name="Image 10" descr="preencoded.png">    </p:cNvPr>
          <p:cNvPicPr>
            <a:picLocks noChangeAspect="1"/>
          </p:cNvPicPr>
          <p:nvPr/>
        </p:nvPicPr>
        <p:blipFill>
          <a:blip r:embed="rId21">
            <a:extLst>
              <a:ext uri="{96DAC541-7B7A-43D3-8B79-37D633B846F1}">
                <asvg:svgBlip xmlns:asvg="http://schemas.microsoft.com/office/drawing/2016/SVG/main" r:embed="rId22"/>
              </a:ext>
            </a:extLst>
          </a:blip>
          <a:stretch>
            <a:fillRect/>
          </a:stretch>
        </p:blipFill>
        <p:spPr>
          <a:xfrm>
            <a:off x="731044" y="4125367"/>
            <a:ext cx="7681912" cy="366712"/>
          </a:xfrm>
          <a:prstGeom prst="rect">
            <a:avLst/>
          </a:prstGeom>
        </p:spPr>
      </p:pic>
      <p:pic>
        <p:nvPicPr>
          <p:cNvPr id="63" name="Image 11" descr="preencoded.png">    </p:cNvPr>
          <p:cNvPicPr>
            <a:picLocks noChangeAspect="1"/>
          </p:cNvPicPr>
          <p:nvPr/>
        </p:nvPicPr>
        <p:blipFill>
          <a:blip r:embed="rId23">
            <a:extLst>
              <a:ext uri="{96DAC541-7B7A-43D3-8B79-37D633B846F1}">
                <asvg:svgBlip xmlns:asvg="http://schemas.microsoft.com/office/drawing/2016/SVG/main" r:embed="rId24"/>
              </a:ext>
            </a:extLst>
          </a:blip>
          <a:stretch>
            <a:fillRect/>
          </a:stretch>
        </p:blipFill>
        <p:spPr>
          <a:xfrm>
            <a:off x="0" y="4781848"/>
            <a:ext cx="9144000" cy="36195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E0E0E"/>
          </a:solidFill>
          <a:ln/>
        </p:spPr>
      </p:sp>
      <p:pic>
        <p:nvPicPr>
          <p:cNvPr id="3"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0" y="0"/>
            <a:ext cx="9144000" cy="5143500"/>
          </a:xfrm>
          <a:prstGeom prst="rect">
            <a:avLst/>
          </a:prstGeom>
        </p:spPr>
      </p:pic>
      <p:pic>
        <p:nvPicPr>
          <p:cNvPr id="4"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60020" y="-102870"/>
            <a:ext cx="3063240" cy="3063240"/>
          </a:xfrm>
          <a:prstGeom prst="rect">
            <a:avLst/>
          </a:prstGeom>
        </p:spPr>
      </p:pic>
      <p:pic>
        <p:nvPicPr>
          <p:cNvPr id="5"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5680710" y="1880235"/>
            <a:ext cx="3726180" cy="3726180"/>
          </a:xfrm>
          <a:prstGeom prst="rect">
            <a:avLst/>
          </a:prstGeom>
        </p:spPr>
      </p:pic>
      <p:pic>
        <p:nvPicPr>
          <p:cNvPr id="6" name="Image 3" descr="preencoded.png">    </p:cNvPr>
          <p:cNvPicPr>
            <a:picLocks noChangeAspect="1"/>
          </p:cNvPicPr>
          <p:nvPr/>
        </p:nvPicPr>
        <p:blipFill>
          <a:blip r:embed="rId7"/>
          <a:stretch>
            <a:fillRect/>
          </a:stretch>
        </p:blipFill>
        <p:spPr>
          <a:xfrm>
            <a:off x="4343400" y="-659085"/>
            <a:ext cx="457200" cy="457200"/>
          </a:xfrm>
          <a:prstGeom prst="rect">
            <a:avLst/>
          </a:prstGeom>
        </p:spPr>
      </p:pic>
      <p:sp>
        <p:nvSpPr>
          <p:cNvPr id="7" name="Text 1"/>
          <p:cNvSpPr/>
          <p:nvPr/>
        </p:nvSpPr>
        <p:spPr>
          <a:xfrm>
            <a:off x="4312407" y="3311"/>
            <a:ext cx="519112" cy="138113"/>
          </a:xfrm>
          <a:prstGeom prst="rect">
            <a:avLst/>
          </a:prstGeom>
          <a:ln/>
        </p:spPr>
        <p:txBody>
          <a:bodyPr wrap="square" lIns="0" tIns="0" rIns="0" bIns="0" rtlCol="0" anchor="t"/>
          <a:lstStyle/>
          <a:p>
            <a:pPr algn="ctr" indent="0" marL="0">
              <a:lnSpc>
                <a:spcPts val="1080"/>
              </a:lnSpc>
              <a:spcAft>
                <a:spcPts val="1215"/>
              </a:spcAft>
              <a:buNone/>
            </a:pPr>
            <a:r>
              <a:rPr lang="en-US" sz="700" b="1" dirty="0">
                <a:solidFill>
                  <a:srgbClr val="FF4199"/>
                </a:solidFill>
                <a:latin typeface="Ubuntu" pitchFamily="34" charset="0"/>
                <a:ea typeface="Ubuntu" pitchFamily="34" charset="-122"/>
                <a:cs typeface="Ubuntu" pitchFamily="34" charset="-120"/>
              </a:rPr>
              <a:t>JOIN US</a:t>
            </a:r>
            <a:endParaRPr lang="en-US" sz="700" dirty="0"/>
          </a:p>
        </p:txBody>
      </p:sp>
      <p:sp>
        <p:nvSpPr>
          <p:cNvPr id="8" name="Text 2"/>
          <p:cNvSpPr/>
          <p:nvPr/>
        </p:nvSpPr>
        <p:spPr>
          <a:xfrm>
            <a:off x="3040819" y="295870"/>
            <a:ext cx="3062287" cy="1104900"/>
          </a:xfrm>
          <a:prstGeom prst="rect">
            <a:avLst/>
          </a:prstGeom>
          <a:ln/>
        </p:spPr>
        <p:txBody>
          <a:bodyPr wrap="square" lIns="0" tIns="0" rIns="0" bIns="0" rtlCol="0" anchor="t"/>
          <a:lstStyle/>
          <a:p>
            <a:pPr algn="ctr" indent="0" marL="0">
              <a:lnSpc>
                <a:spcPts val="4356"/>
              </a:lnSpc>
              <a:spcAft>
                <a:spcPts val="1215"/>
              </a:spcAft>
              <a:buNone/>
            </a:pPr>
            <a:r>
              <a:rPr lang="en-US" sz="3900" b="1" dirty="0">
                <a:solidFill>
                  <a:srgbClr val="FFFFFF"/>
                </a:solidFill>
                <a:latin typeface="Ubuntu" pitchFamily="34" charset="0"/>
                <a:ea typeface="Ubuntu" pitchFamily="34" charset="-122"/>
                <a:cs typeface="Ubuntu" pitchFamily="34" charset="-120"/>
              </a:rPr>
              <a:t>Radio for the</a:t>
            </a:r>
            <a:pPr algn="ctr" indent="0" marL="0">
              <a:buNone/>
            </a:pPr>
            <a:endParaRPr lang="en-US" sz="3900" dirty="0"/>
          </a:p>
          <a:p>
            <a:pPr algn="ctr" indent="0" marL="0">
              <a:lnSpc>
                <a:spcPts val="4356"/>
              </a:lnSpc>
              <a:buNone/>
            </a:pPr>
            <a:r>
              <a:rPr lang="en-US" sz="3900" b="1" dirty="0">
                <a:solidFill>
                  <a:srgbClr val="FFFFFF"/>
                </a:solidFill>
                <a:latin typeface="Ubuntu" pitchFamily="34" charset="0"/>
                <a:ea typeface="Ubuntu" pitchFamily="34" charset="-122"/>
                <a:cs typeface="Ubuntu" pitchFamily="34" charset="-120"/>
              </a:rPr>
              <a:t>television era</a:t>
            </a:r>
            <a:endParaRPr lang="en-US" sz="3900" dirty="0"/>
          </a:p>
        </p:txBody>
      </p:sp>
      <p:sp>
        <p:nvSpPr>
          <p:cNvPr id="9" name="Text 3"/>
          <p:cNvSpPr/>
          <p:nvPr/>
        </p:nvSpPr>
        <p:spPr>
          <a:xfrm>
            <a:off x="2559807" y="1555403"/>
            <a:ext cx="4024312" cy="1390650"/>
          </a:xfrm>
          <a:prstGeom prst="rect">
            <a:avLst/>
          </a:prstGeom>
          <a:ln/>
        </p:spPr>
        <p:txBody>
          <a:bodyPr wrap="square" lIns="0" tIns="0" rIns="0" bIns="0" rtlCol="0" anchor="t"/>
          <a:lstStyle/>
          <a:p>
            <a:pPr algn="ctr" indent="0" marL="0">
              <a:lnSpc>
                <a:spcPts val="2189"/>
              </a:lnSpc>
              <a:spcAft>
                <a:spcPts val="2430"/>
              </a:spcAft>
              <a:buNone/>
            </a:pPr>
            <a:r>
              <a:rPr lang="en-US" sz="1300" dirty="0">
                <a:solidFill>
                  <a:srgbClr val="FFFFFF"/>
                </a:solidFill>
                <a:latin typeface="Ubuntu" pitchFamily="34" charset="0"/>
                <a:ea typeface="Ubuntu" pitchFamily="34" charset="-122"/>
                <a:cs typeface="Ubuntu" pitchFamily="34" charset="-120"/>
              </a:rPr>
              <a:t>We have built the product, shipped to two platforms, and proven the model. We are looking for partners who believe radio deserves the same premium experience as every other great streaming service.</a:t>
            </a:r>
            <a:endParaRPr lang="en-US" sz="1300" dirty="0"/>
          </a:p>
        </p:txBody>
      </p:sp>
      <p:sp>
        <p:nvSpPr>
          <p:cNvPr id="10" name="Text 4"/>
          <p:cNvSpPr/>
          <p:nvPr/>
        </p:nvSpPr>
        <p:spPr>
          <a:xfrm>
            <a:off x="1370409" y="3253308"/>
            <a:ext cx="1104900" cy="166688"/>
          </a:xfrm>
          <a:prstGeom prst="rect">
            <a:avLst/>
          </a:prstGeom>
          <a:ln/>
        </p:spPr>
        <p:txBody>
          <a:bodyPr wrap="square" lIns="0" tIns="0" rIns="0" bIns="0" rtlCol="0" anchor="t"/>
          <a:lstStyle/>
          <a:p>
            <a:pPr algn="ctr" indent="0" marL="0">
              <a:lnSpc>
                <a:spcPts val="1296"/>
              </a:lnSpc>
              <a:spcAft>
                <a:spcPts val="203"/>
              </a:spcAft>
              <a:buNone/>
            </a:pPr>
            <a:r>
              <a:rPr lang="en-US" sz="800" dirty="0">
                <a:solidFill>
                  <a:srgbClr val="FFFFFF"/>
                </a:solidFill>
                <a:latin typeface="Ubuntu" pitchFamily="34" charset="0"/>
                <a:ea typeface="Ubuntu" pitchFamily="34" charset="-122"/>
                <a:cs typeface="Ubuntu" pitchFamily="34" charset="-120"/>
              </a:rPr>
              <a:t>Raising</a:t>
            </a:r>
            <a:endParaRPr lang="en-US" sz="800" dirty="0"/>
          </a:p>
        </p:txBody>
      </p:sp>
      <p:sp>
        <p:nvSpPr>
          <p:cNvPr id="11" name="Text 5"/>
          <p:cNvSpPr/>
          <p:nvPr/>
        </p:nvSpPr>
        <p:spPr>
          <a:xfrm>
            <a:off x="1370409" y="3445297"/>
            <a:ext cx="1104900" cy="766763"/>
          </a:xfrm>
          <a:prstGeom prst="rect">
            <a:avLst/>
          </a:prstGeom>
          <a:ln/>
        </p:spPr>
        <p:txBody>
          <a:bodyPr wrap="square" lIns="0" tIns="0" rIns="0" bIns="0" rtlCol="0" anchor="t"/>
          <a:lstStyle/>
          <a:p>
            <a:pPr algn="ctr" indent="0" marL="0">
              <a:lnSpc>
                <a:spcPts val="3024"/>
              </a:lnSpc>
              <a:buNone/>
            </a:pPr>
            <a:r>
              <a:rPr lang="en-US" sz="2000" b="1" dirty="0">
                <a:solidFill>
                  <a:srgbClr val="FF4199"/>
                </a:solidFill>
                <a:latin typeface="Ubuntu" pitchFamily="34" charset="0"/>
                <a:ea typeface="Ubuntu" pitchFamily="34" charset="-122"/>
                <a:cs typeface="Ubuntu" pitchFamily="34" charset="-120"/>
              </a:rPr>
              <a:t>$2.5M Seed</a:t>
            </a:r>
            <a:endParaRPr lang="en-US" sz="2000" dirty="0"/>
          </a:p>
        </p:txBody>
      </p:sp>
      <p:sp>
        <p:nvSpPr>
          <p:cNvPr id="12" name="Shape 6"/>
          <p:cNvSpPr/>
          <p:nvPr/>
        </p:nvSpPr>
        <p:spPr>
          <a:xfrm>
            <a:off x="2747925" y="3578758"/>
            <a:ext cx="4763" cy="309562"/>
          </a:xfrm>
          <a:prstGeom prst="rect">
            <a:avLst/>
          </a:prstGeom>
          <a:solidFill>
            <a:srgbClr val="FFFFFF">
              <a:alpha val="10000"/>
            </a:srgbClr>
          </a:solidFill>
          <a:ln/>
        </p:spPr>
      </p:sp>
      <p:sp>
        <p:nvSpPr>
          <p:cNvPr id="13" name="Text 7"/>
          <p:cNvSpPr/>
          <p:nvPr/>
        </p:nvSpPr>
        <p:spPr>
          <a:xfrm>
            <a:off x="3026941" y="3500140"/>
            <a:ext cx="2319337" cy="166688"/>
          </a:xfrm>
          <a:prstGeom prst="rect">
            <a:avLst/>
          </a:prstGeom>
          <a:ln/>
        </p:spPr>
        <p:txBody>
          <a:bodyPr wrap="square" lIns="0" tIns="0" rIns="0" bIns="0" rtlCol="0" anchor="t"/>
          <a:lstStyle/>
          <a:p>
            <a:pPr algn="ctr" indent="0" marL="0">
              <a:lnSpc>
                <a:spcPts val="1296"/>
              </a:lnSpc>
              <a:spcAft>
                <a:spcPts val="203"/>
              </a:spcAft>
              <a:buNone/>
            </a:pPr>
            <a:r>
              <a:rPr lang="en-US" sz="800" dirty="0">
                <a:solidFill>
                  <a:srgbClr val="FFFFFF"/>
                </a:solidFill>
                <a:latin typeface="Ubuntu" pitchFamily="34" charset="0"/>
                <a:ea typeface="Ubuntu" pitchFamily="34" charset="-122"/>
                <a:cs typeface="Ubuntu" pitchFamily="34" charset="-120"/>
              </a:rPr>
              <a:t>Contact</a:t>
            </a:r>
            <a:endParaRPr lang="en-US" sz="800" dirty="0"/>
          </a:p>
        </p:txBody>
      </p:sp>
      <p:sp>
        <p:nvSpPr>
          <p:cNvPr id="14" name="Text 8"/>
          <p:cNvSpPr/>
          <p:nvPr/>
        </p:nvSpPr>
        <p:spPr>
          <a:xfrm>
            <a:off x="3026941" y="3690528"/>
            <a:ext cx="2319337" cy="276225"/>
          </a:xfrm>
          <a:prstGeom prst="rect">
            <a:avLst/>
          </a:prstGeom>
          <a:ln/>
        </p:spPr>
        <p:txBody>
          <a:bodyPr wrap="square" lIns="0" tIns="0" rIns="0" bIns="0" rtlCol="0" anchor="t"/>
          <a:lstStyle/>
          <a:p>
            <a:pPr algn="ctr" indent="0" marL="0">
              <a:lnSpc>
                <a:spcPts val="2160"/>
              </a:lnSpc>
              <a:buNone/>
            </a:pPr>
            <a:r>
              <a:rPr lang="en-US" sz="1400" b="1" dirty="0">
                <a:solidFill>
                  <a:srgbClr val="FFFFFF"/>
                </a:solidFill>
                <a:latin typeface="Ubuntu" pitchFamily="34" charset="0"/>
                <a:ea typeface="Ubuntu" pitchFamily="34" charset="-122"/>
                <a:cs typeface="Ubuntu" pitchFamily="34" charset="-120"/>
              </a:rPr>
              <a:t>invest@themegaradio.com</a:t>
            </a:r>
            <a:endParaRPr lang="en-US" sz="1400" dirty="0"/>
          </a:p>
        </p:txBody>
      </p:sp>
      <p:sp>
        <p:nvSpPr>
          <p:cNvPr id="15" name="Shape 9"/>
          <p:cNvSpPr/>
          <p:nvPr/>
        </p:nvSpPr>
        <p:spPr>
          <a:xfrm>
            <a:off x="5620531" y="3578758"/>
            <a:ext cx="4763" cy="309562"/>
          </a:xfrm>
          <a:prstGeom prst="rect">
            <a:avLst/>
          </a:prstGeom>
          <a:solidFill>
            <a:srgbClr val="FFFFFF">
              <a:alpha val="10000"/>
            </a:srgbClr>
          </a:solidFill>
          <a:ln/>
        </p:spPr>
      </p:sp>
      <p:sp>
        <p:nvSpPr>
          <p:cNvPr id="16" name="Text 10"/>
          <p:cNvSpPr/>
          <p:nvPr/>
        </p:nvSpPr>
        <p:spPr>
          <a:xfrm>
            <a:off x="5899956" y="3500140"/>
            <a:ext cx="1871663" cy="166688"/>
          </a:xfrm>
          <a:prstGeom prst="rect">
            <a:avLst/>
          </a:prstGeom>
          <a:ln/>
        </p:spPr>
        <p:txBody>
          <a:bodyPr wrap="square" lIns="0" tIns="0" rIns="0" bIns="0" rtlCol="0" anchor="t"/>
          <a:lstStyle/>
          <a:p>
            <a:pPr algn="ctr" indent="0" marL="0">
              <a:lnSpc>
                <a:spcPts val="1296"/>
              </a:lnSpc>
              <a:spcAft>
                <a:spcPts val="203"/>
              </a:spcAft>
              <a:buNone/>
            </a:pPr>
            <a:r>
              <a:rPr lang="en-US" sz="800" dirty="0">
                <a:solidFill>
                  <a:srgbClr val="FFFFFF"/>
                </a:solidFill>
                <a:latin typeface="Ubuntu" pitchFamily="34" charset="0"/>
                <a:ea typeface="Ubuntu" pitchFamily="34" charset="-122"/>
                <a:cs typeface="Ubuntu" pitchFamily="34" charset="-120"/>
              </a:rPr>
              <a:t>Live demo</a:t>
            </a:r>
            <a:endParaRPr lang="en-US" sz="800" dirty="0"/>
          </a:p>
        </p:txBody>
      </p:sp>
      <p:sp>
        <p:nvSpPr>
          <p:cNvPr id="17" name="Text 11"/>
          <p:cNvSpPr/>
          <p:nvPr/>
        </p:nvSpPr>
        <p:spPr>
          <a:xfrm>
            <a:off x="5899956" y="3690528"/>
            <a:ext cx="1871663" cy="276225"/>
          </a:xfrm>
          <a:prstGeom prst="rect">
            <a:avLst/>
          </a:prstGeom>
          <a:ln/>
        </p:spPr>
        <p:txBody>
          <a:bodyPr wrap="square" lIns="0" tIns="0" rIns="0" bIns="0" rtlCol="0" anchor="t"/>
          <a:lstStyle/>
          <a:p>
            <a:pPr algn="ctr" indent="0" marL="0">
              <a:lnSpc>
                <a:spcPts val="2160"/>
              </a:lnSpc>
              <a:buNone/>
            </a:pPr>
            <a:r>
              <a:rPr lang="en-US" sz="1400" b="1" dirty="0">
                <a:solidFill>
                  <a:srgbClr val="01D7FB"/>
                </a:solidFill>
                <a:latin typeface="Ubuntu" pitchFamily="34" charset="0"/>
                <a:ea typeface="Ubuntu" pitchFamily="34" charset="-122"/>
                <a:cs typeface="Ubuntu" pitchFamily="34" charset="-120"/>
              </a:rPr>
              <a:t>themegaradio.com/tv</a:t>
            </a:r>
            <a:endParaRPr lang="en-US" sz="1400" dirty="0"/>
          </a:p>
        </p:txBody>
      </p:sp>
      <p:sp>
        <p:nvSpPr>
          <p:cNvPr id="18" name="Shape 12"/>
          <p:cNvSpPr/>
          <p:nvPr/>
        </p:nvSpPr>
        <p:spPr>
          <a:xfrm>
            <a:off x="2926556" y="4419377"/>
            <a:ext cx="3290887" cy="871538"/>
          </a:xfrm>
          <a:prstGeom prst="roundRect">
            <a:avLst>
              <a:gd name="adj" fmla="val 11008"/>
            </a:avLst>
          </a:prstGeom>
          <a:solidFill>
            <a:srgbClr val="FFFFFF">
              <a:alpha val="3000"/>
            </a:srgbClr>
          </a:solidFill>
          <a:ln w="4763">
            <a:solidFill>
              <a:srgbClr val="FFFFFF">
                <a:alpha val="8000"/>
              </a:srgbClr>
            </a:solidFill>
            <a:prstDash val="solid"/>
          </a:ln>
        </p:spPr>
      </p:sp>
      <p:sp>
        <p:nvSpPr>
          <p:cNvPr id="19" name="Shape 13"/>
          <p:cNvSpPr/>
          <p:nvPr/>
        </p:nvSpPr>
        <p:spPr>
          <a:xfrm>
            <a:off x="3159398" y="4526533"/>
            <a:ext cx="657225" cy="657225"/>
          </a:xfrm>
          <a:prstGeom prst="roundRect">
            <a:avLst>
              <a:gd name="adj" fmla="val 7743"/>
            </a:avLst>
          </a:prstGeom>
          <a:solidFill>
            <a:srgbClr val="FFFFFF"/>
          </a:solidFill>
          <a:ln/>
        </p:spPr>
      </p:sp>
      <p:pic>
        <p:nvPicPr>
          <p:cNvPr id="20" name="Image 4" descr="preencoded.png">    </p:cNvPr>
          <p:cNvPicPr>
            <a:picLocks noChangeAspect="1"/>
          </p:cNvPicPr>
          <p:nvPr/>
        </p:nvPicPr>
        <p:blipFill>
          <a:blip r:embed="rId8"/>
          <a:stretch>
            <a:fillRect/>
          </a:stretch>
        </p:blipFill>
        <p:spPr>
          <a:xfrm>
            <a:off x="3213720" y="4580855"/>
            <a:ext cx="548580" cy="548580"/>
          </a:xfrm>
          <a:prstGeom prst="rect">
            <a:avLst/>
          </a:prstGeom>
        </p:spPr>
      </p:pic>
      <p:sp>
        <p:nvSpPr>
          <p:cNvPr id="21" name="Text 14"/>
          <p:cNvSpPr/>
          <p:nvPr/>
        </p:nvSpPr>
        <p:spPr>
          <a:xfrm>
            <a:off x="3999570" y="4588706"/>
            <a:ext cx="1985963" cy="176212"/>
          </a:xfrm>
          <a:prstGeom prst="rect">
            <a:avLst/>
          </a:prstGeom>
          <a:ln/>
        </p:spPr>
        <p:txBody>
          <a:bodyPr wrap="square" lIns="0" tIns="0" rIns="0" bIns="0" rtlCol="0" anchor="t"/>
          <a:lstStyle/>
          <a:p>
            <a:pPr algn="l" indent="0" marL="0">
              <a:lnSpc>
                <a:spcPts val="1404"/>
              </a:lnSpc>
              <a:spcAft>
                <a:spcPts val="122"/>
              </a:spcAft>
              <a:buNone/>
            </a:pPr>
            <a:r>
              <a:rPr lang="en-US" sz="900" b="1" dirty="0">
                <a:solidFill>
                  <a:srgbClr val="FFFFFF"/>
                </a:solidFill>
                <a:latin typeface="Ubuntu" pitchFamily="34" charset="0"/>
                <a:ea typeface="Ubuntu" pitchFamily="34" charset="-122"/>
                <a:cs typeface="Ubuntu" pitchFamily="34" charset="-120"/>
              </a:rPr>
              <a:t>Scan to see the live app</a:t>
            </a:r>
            <a:endParaRPr lang="en-US" sz="900" dirty="0"/>
          </a:p>
        </p:txBody>
      </p:sp>
      <p:sp>
        <p:nvSpPr>
          <p:cNvPr id="22" name="Text 15"/>
          <p:cNvSpPr/>
          <p:nvPr/>
        </p:nvSpPr>
        <p:spPr>
          <a:xfrm>
            <a:off x="3999570" y="4780285"/>
            <a:ext cx="1985963" cy="166688"/>
          </a:xfrm>
          <a:prstGeom prst="rect">
            <a:avLst/>
          </a:prstGeom>
          <a:ln/>
        </p:spPr>
        <p:txBody>
          <a:bodyPr wrap="square" lIns="0" tIns="0" rIns="0" bIns="0" rtlCol="0" anchor="t"/>
          <a:lstStyle/>
          <a:p>
            <a:pPr algn="l" indent="0" marL="0">
              <a:lnSpc>
                <a:spcPts val="1296"/>
              </a:lnSpc>
              <a:buNone/>
            </a:pPr>
            <a:r>
              <a:rPr lang="en-US" sz="800" dirty="0">
                <a:solidFill>
                  <a:srgbClr val="FFFFFF"/>
                </a:solidFill>
                <a:latin typeface="Ubuntu" pitchFamily="34" charset="0"/>
                <a:ea typeface="Ubuntu" pitchFamily="34" charset="-122"/>
                <a:cs typeface="Ubuntu" pitchFamily="34" charset="-120"/>
              </a:rPr>
              <a:t>themegaradio.com/tv</a:t>
            </a:r>
            <a:endParaRPr lang="en-US" sz="800" dirty="0"/>
          </a:p>
        </p:txBody>
      </p:sp>
      <p:sp>
        <p:nvSpPr>
          <p:cNvPr id="23" name="Text 16"/>
          <p:cNvSpPr/>
          <p:nvPr/>
        </p:nvSpPr>
        <p:spPr>
          <a:xfrm>
            <a:off x="3999570" y="4970859"/>
            <a:ext cx="1985963" cy="152400"/>
          </a:xfrm>
          <a:prstGeom prst="rect">
            <a:avLst/>
          </a:prstGeom>
          <a:ln/>
        </p:spPr>
        <p:txBody>
          <a:bodyPr wrap="square" lIns="0" tIns="0" rIns="0" bIns="0" rtlCol="0" anchor="t"/>
          <a:lstStyle/>
          <a:p>
            <a:pPr algn="l" indent="0" marL="0">
              <a:lnSpc>
                <a:spcPts val="1188"/>
              </a:lnSpc>
              <a:spcBef>
                <a:spcPts val="203"/>
              </a:spcBef>
              <a:buNone/>
            </a:pPr>
            <a:r>
              <a:rPr lang="en-US" sz="700" dirty="0">
                <a:solidFill>
                  <a:srgbClr val="FFFFFF"/>
                </a:solidFill>
                <a:latin typeface="Ubuntu" pitchFamily="34" charset="0"/>
                <a:ea typeface="Ubuntu" pitchFamily="34" charset="-122"/>
                <a:cs typeface="Ubuntu" pitchFamily="34" charset="-120"/>
              </a:rPr>
              <a:t>Samsung &amp; LG Smart TV · no install required</a:t>
            </a:r>
            <a:endParaRPr lang="en-US" sz="700" dirty="0"/>
          </a:p>
        </p:txBody>
      </p:sp>
      <p:sp>
        <p:nvSpPr>
          <p:cNvPr id="24" name="Text 17"/>
          <p:cNvSpPr/>
          <p:nvPr/>
        </p:nvSpPr>
        <p:spPr>
          <a:xfrm>
            <a:off x="1371600" y="5445770"/>
            <a:ext cx="6400800" cy="357188"/>
          </a:xfrm>
          <a:prstGeom prst="rect">
            <a:avLst/>
          </a:prstGeom>
          <a:ln/>
        </p:spPr>
        <p:txBody>
          <a:bodyPr wrap="square" lIns="0" tIns="0" rIns="0" bIns="0" rtlCol="0" anchor="t"/>
          <a:lstStyle/>
          <a:p>
            <a:pPr algn="ctr" indent="0" marL="0">
              <a:lnSpc>
                <a:spcPts val="1404"/>
              </a:lnSpc>
              <a:buNone/>
            </a:pPr>
            <a:r>
              <a:rPr lang="en-US" sz="900" dirty="0">
                <a:solidFill>
                  <a:srgbClr val="FFFFFF"/>
                </a:solidFill>
                <a:latin typeface="Ubuntu" pitchFamily="34" charset="0"/>
                <a:ea typeface="Ubuntu" pitchFamily="34" charset="-122"/>
                <a:cs typeface="Ubuntu" pitchFamily="34" charset="-120"/>
              </a:rPr>
              <a:t>Samsung Smart Hub — available now</a:t>
            </a:r>
            <a:pPr algn="ctr" indent="0" marL="0">
              <a:lnSpc>
                <a:spcPts val="1404"/>
              </a:lnSpc>
              <a:buNone/>
            </a:pPr>
            <a:r>
              <a:rPr lang="en-US" sz="900" dirty="0">
                <a:solidFill>
                  <a:srgbClr val="FFFFFF"/>
                </a:solidFill>
                <a:latin typeface="Ubuntu" pitchFamily="34" charset="0"/>
                <a:ea typeface="Ubuntu" pitchFamily="34" charset="-122"/>
                <a:cs typeface="Ubuntu" pitchFamily="34" charset="-120"/>
              </a:rPr>
              <a:t>·</a:t>
            </a:r>
            <a:pPr algn="ctr" indent="0" marL="0">
              <a:lnSpc>
                <a:spcPts val="1404"/>
              </a:lnSpc>
              <a:buNone/>
            </a:pPr>
            <a:r>
              <a:rPr lang="en-US" sz="900" dirty="0">
                <a:solidFill>
                  <a:srgbClr val="FFFFFF"/>
                </a:solidFill>
                <a:latin typeface="Ubuntu" pitchFamily="34" charset="0"/>
                <a:ea typeface="Ubuntu" pitchFamily="34" charset="-122"/>
                <a:cs typeface="Ubuntu" pitchFamily="34" charset="-120"/>
              </a:rPr>
              <a:t>LG Content Store — available now</a:t>
            </a:r>
            <a:pPr algn="ctr" indent="0" marL="0">
              <a:lnSpc>
                <a:spcPts val="1404"/>
              </a:lnSpc>
              <a:buNone/>
            </a:pPr>
            <a:r>
              <a:rPr lang="en-US" sz="900" dirty="0">
                <a:solidFill>
                  <a:srgbClr val="FFFFFF"/>
                </a:solidFill>
                <a:latin typeface="Ubuntu" pitchFamily="34" charset="0"/>
                <a:ea typeface="Ubuntu" pitchFamily="34" charset="-122"/>
                <a:cs typeface="Ubuntu" pitchFamily="34" charset="-120"/>
              </a:rPr>
              <a:t>·</a:t>
            </a:r>
            <a:pPr algn="ctr" indent="0" marL="0">
              <a:lnSpc>
                <a:spcPts val="1404"/>
              </a:lnSpc>
              <a:buNone/>
            </a:pPr>
            <a:r>
              <a:rPr lang="en-US" sz="900" dirty="0">
                <a:solidFill>
                  <a:srgbClr val="FFFFFF"/>
                </a:solidFill>
                <a:latin typeface="Ubuntu" pitchFamily="34" charset="0"/>
                <a:ea typeface="Ubuntu" pitchFamily="34" charset="-122"/>
                <a:cs typeface="Ubuntu" pitchFamily="34" charset="-120"/>
              </a:rPr>
              <a:t>50,000+ stations · 238 countries</a:t>
            </a:r>
            <a:endParaRPr lang="en-US" sz="900" dirty="0"/>
          </a:p>
        </p:txBody>
      </p:sp>
      <p:sp>
        <p:nvSpPr>
          <p:cNvPr id="25" name="Text 18"/>
          <p:cNvSpPr/>
          <p:nvPr/>
        </p:nvSpPr>
        <p:spPr>
          <a:xfrm>
            <a:off x="0" y="4781848"/>
            <a:ext cx="9144000" cy="361950"/>
          </a:xfrm>
          <a:prstGeom prst="rect">
            <a:avLst/>
          </a:prstGeom>
          <a:ln/>
        </p:spPr>
        <p:txBody>
          <a:bodyPr wrap="square" lIns="0" tIns="0" rIns="0" bIns="0" rtlCol="0" anchor="t"/>
          <a:lstStyle/>
          <a:p>
            <a:pPr algn="l" indent="0" marL="0">
              <a:lnSpc>
                <a:spcPts val="1188"/>
              </a:lnSpc>
              <a:buNone/>
            </a:pPr>
            <a:r>
              <a:rPr lang="en-US" sz="700" dirty="0">
                <a:solidFill>
                  <a:srgbClr val="FFFFFF"/>
                </a:solidFill>
                <a:latin typeface="Ubuntu" pitchFamily="34" charset="0"/>
                <a:ea typeface="Ubuntu" pitchFamily="34" charset="-122"/>
                <a:cs typeface="Ubuntu" pitchFamily="34" charset="-120"/>
              </a:rPr>
              <a:t>RADIO MEGA</a:t>
            </a:r>
            <a:pPr algn="l" indent="0" marL="0">
              <a:lnSpc>
                <a:spcPts val="1188"/>
              </a:lnSpc>
              <a:buNone/>
            </a:pPr>
            <a:r>
              <a:rPr lang="en-US" sz="700" dirty="0">
                <a:solidFill>
                  <a:srgbClr val="FFFFFF"/>
                </a:solidFill>
                <a:latin typeface="Ubuntu" pitchFamily="34" charset="0"/>
                <a:ea typeface="Ubuntu" pitchFamily="34" charset="-122"/>
                <a:cs typeface="Ubuntu" pitchFamily="34" charset="-120"/>
              </a:rPr>
              <a:t>18 / 18</a:t>
            </a:r>
            <a:endParaRPr lang="en-US" sz="700" dirty="0"/>
          </a:p>
        </p:txBody>
      </p:sp>
      <p:pic>
        <p:nvPicPr>
          <p:cNvPr id="26" name="Image 5" descr="preencoded.png">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0" y="4781848"/>
            <a:ext cx="9144000" cy="36195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2026-05-02T11:08:22Z</dcterms:created>
  <dcterms:modified xsi:type="dcterms:W3CDTF">2026-05-02T11:08:22Z</dcterms:modified>
</cp:coreProperties>
</file>